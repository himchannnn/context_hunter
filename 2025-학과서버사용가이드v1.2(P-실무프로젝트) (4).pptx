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6"/>
  </p:notesMasterIdLst>
  <p:sldIdLst>
    <p:sldId id="372" r:id="rId2"/>
    <p:sldId id="304" r:id="rId3"/>
    <p:sldId id="428" r:id="rId4"/>
    <p:sldId id="376" r:id="rId5"/>
    <p:sldId id="430" r:id="rId6"/>
    <p:sldId id="432" r:id="rId7"/>
    <p:sldId id="435" r:id="rId8"/>
    <p:sldId id="402" r:id="rId9"/>
    <p:sldId id="370" r:id="rId10"/>
    <p:sldId id="419" r:id="rId11"/>
    <p:sldId id="411" r:id="rId12"/>
    <p:sldId id="412" r:id="rId13"/>
    <p:sldId id="413" r:id="rId14"/>
    <p:sldId id="421" r:id="rId15"/>
    <p:sldId id="414" r:id="rId16"/>
    <p:sldId id="401" r:id="rId17"/>
    <p:sldId id="387" r:id="rId18"/>
    <p:sldId id="415" r:id="rId19"/>
    <p:sldId id="433" r:id="rId20"/>
    <p:sldId id="398" r:id="rId21"/>
    <p:sldId id="407" r:id="rId22"/>
    <p:sldId id="408" r:id="rId23"/>
    <p:sldId id="403" r:id="rId24"/>
    <p:sldId id="409" r:id="rId25"/>
    <p:sldId id="424" r:id="rId26"/>
    <p:sldId id="420" r:id="rId27"/>
    <p:sldId id="425" r:id="rId28"/>
    <p:sldId id="434" r:id="rId29"/>
    <p:sldId id="417" r:id="rId30"/>
    <p:sldId id="391" r:id="rId31"/>
    <p:sldId id="392" r:id="rId32"/>
    <p:sldId id="393" r:id="rId33"/>
    <p:sldId id="395" r:id="rId34"/>
    <p:sldId id="397" r:id="rId35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  <a:srgbClr val="FF00FF"/>
    <a:srgbClr val="EAEEF2"/>
    <a:srgbClr val="E6E6E6"/>
    <a:srgbClr val="00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94470" autoAdjust="0"/>
  </p:normalViewPr>
  <p:slideViewPr>
    <p:cSldViewPr>
      <p:cViewPr varScale="1">
        <p:scale>
          <a:sx n="110" d="100"/>
          <a:sy n="110" d="100"/>
        </p:scale>
        <p:origin x="13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89749-4C4F-417A-9586-CA2401403B89}" type="datetimeFigureOut">
              <a:rPr lang="ko-KR" altLang="en-US" smtClean="0"/>
              <a:pPr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CE6B3-AE9D-498A-8FB1-9098549EE0E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0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888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288D-0FD8-A738-E7AC-5E8F70AF2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25DA41-AD86-A78A-89E5-237D1BFDB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F2C4A2-4966-01EA-2C58-139743417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B939AC-2049-A8C2-B0E3-64E667598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7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3330-D43C-FD22-F628-DB03D124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1BD1CB-E5EC-DDD4-A483-204843EEB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4069A5-6AB9-6C7B-5EAF-9668ED787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E1BA1-B647-0EE3-D196-894495ADF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6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6654-BC43-3BAE-38E6-CAD64BBA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38A711-41F5-ECC0-5BCE-6B575F4E0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CBE9D5-A156-0F41-C4A4-8D2FB607D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2598E-0668-16BC-D6E6-0F096DB94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935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0C706-DC0C-0411-2703-4FFBB1E4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6B8006-7A4A-2950-D5B6-1D33A1B76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0E3B94-88AF-8188-7801-F92453FEF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5C783-9A25-CA92-D237-D90A1CE1B1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229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408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8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645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855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771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319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378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3046-7D71-AF06-8F79-C548B0F70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18ECFE-F464-01CA-1A75-5AC77DC5E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65EB57-C7FC-F83F-F65D-AC9AB40C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C8BA0-AAF8-1CBE-C99D-A0BED3103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604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652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0EA1-E8F4-5A9A-9B6A-61DC3934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74CB04-B446-7402-4C15-4430BDABF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453FA-12F8-335B-4985-74FD4140A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F8105-0996-3B2D-B68A-999F423A5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322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D54D-1DA6-682C-C808-84DED1A5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E7E63-3BD3-CDAB-C6DF-0038C41C6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1BEFC-E3A4-20A0-8FF2-5DA192858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2C2B5B-A712-006D-25E9-85329AEF6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0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934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16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8204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58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CE6B3-AE9D-498A-8FB1-9098549EE0E0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68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67E90-A106-43EF-B7DD-00FB41B4AD34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58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4338-0367-445F-AB9A-FE9EE3BBB66C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6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891D-5E46-4F72-896E-2C66CEF3050C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86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DE5DF-6FE5-4285-9D99-D9C30AF2E6F4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37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B966-0763-481F-8C8C-E38523D00F5D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83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7411A-88EE-4CD7-95F5-0CD1E853E6A3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6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E03F-3D89-462C-AC85-5571DC0A72BC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0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BDAB5-CE24-40D4-8E6C-36A9020964C0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18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919B8-1DD7-45F1-9E47-BCB212E48BDB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34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851A4-40DC-480D-A31D-41195553FC22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7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2D71F-8D56-41A6-9589-04DCDE7C6968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987906" y="5855289"/>
            <a:ext cx="2133600" cy="365125"/>
          </a:xfrm>
          <a:prstGeom prst="rect">
            <a:avLst/>
          </a:prstGeom>
        </p:spPr>
        <p:txBody>
          <a:bodyPr/>
          <a:lstStyle/>
          <a:p>
            <a:fld id="{0CDDD91B-D59A-43E0-9831-FA9EFD7B65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8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BC2FA-E896-48D8-93BA-AA3047A986BF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48000" y="636006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pic>
        <p:nvPicPr>
          <p:cNvPr id="7" name="Picture 5" descr="위이미지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6477000"/>
            <a:ext cx="9144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762000"/>
          </a:xfrm>
          <a:prstGeom prst="rect">
            <a:avLst/>
          </a:prstGeom>
          <a:gradFill rotWithShape="0">
            <a:gsLst>
              <a:gs pos="0">
                <a:srgbClr val="000066">
                  <a:gamma/>
                  <a:shade val="66275"/>
                  <a:invGamma/>
                </a:srgbClr>
              </a:gs>
              <a:gs pos="50000">
                <a:srgbClr val="000066"/>
              </a:gs>
              <a:gs pos="100000">
                <a:srgbClr val="000066">
                  <a:gamma/>
                  <a:shade val="6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9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ceprj.gachon.ac.kr:60001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64682" y="1860096"/>
            <a:ext cx="7848600" cy="1447800"/>
          </a:xfrm>
          <a:prstGeom prst="rect">
            <a:avLst/>
          </a:prstGeom>
          <a:gradFill rotWithShape="0">
            <a:gsLst>
              <a:gs pos="0">
                <a:srgbClr val="000080"/>
              </a:gs>
              <a:gs pos="50000">
                <a:schemeClr val="bg1"/>
              </a:gs>
              <a:gs pos="100000">
                <a:srgbClr val="00008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학과서버 사용가이드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(P-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실무프로젝트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itchFamily="50" charset="-127"/>
              </a:rPr>
              <a:t>)</a:t>
            </a:r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827088" y="148546"/>
            <a:ext cx="7632700" cy="412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FontTx/>
              <a:buNone/>
            </a:pPr>
            <a:r>
              <a:rPr lang="en-US" altLang="ko-KR" sz="1800" b="1" dirty="0">
                <a:latin typeface="+mn-ea"/>
              </a:rPr>
              <a:t>P-</a:t>
            </a:r>
            <a:r>
              <a:rPr lang="ko-KR" altLang="en-US" sz="1800" b="1" dirty="0">
                <a:latin typeface="+mn-ea"/>
              </a:rPr>
              <a:t>실무프로젝트</a:t>
            </a:r>
            <a:endParaRPr lang="en-US" altLang="ko-KR" sz="1800" b="1" dirty="0">
              <a:latin typeface="+mn-ea"/>
            </a:endParaRP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FEC07DFA-63F6-5F3C-62C5-D85C105D1E51}"/>
              </a:ext>
            </a:extLst>
          </p:cNvPr>
          <p:cNvGrpSpPr>
            <a:grpSpLocks/>
          </p:cNvGrpSpPr>
          <p:nvPr/>
        </p:nvGrpSpPr>
        <p:grpSpPr bwMode="auto">
          <a:xfrm>
            <a:off x="428597" y="192518"/>
            <a:ext cx="5000659" cy="388938"/>
            <a:chOff x="1417" y="3143"/>
            <a:chExt cx="2508" cy="1004"/>
          </a:xfrm>
        </p:grpSpPr>
        <p:sp>
          <p:nvSpPr>
            <p:cNvPr id="3" name="Rectangle 28">
              <a:extLst>
                <a:ext uri="{FF2B5EF4-FFF2-40B4-BE49-F238E27FC236}">
                  <a16:creationId xmlns:a16="http://schemas.microsoft.com/office/drawing/2014/main" id="{29001A2D-27CB-AFBC-62FF-17C9F0C69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51"/>
              <a:ext cx="2468" cy="987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6" name="Rectangle 29">
              <a:extLst>
                <a:ext uri="{FF2B5EF4-FFF2-40B4-BE49-F238E27FC236}">
                  <a16:creationId xmlns:a16="http://schemas.microsoft.com/office/drawing/2014/main" id="{30007171-8692-AAED-E926-A8773A1C7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43"/>
              <a:ext cx="145" cy="1000"/>
            </a:xfrm>
            <a:prstGeom prst="rect">
              <a:avLst/>
            </a:prstGeom>
            <a:gradFill rotWithShape="0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/>
            </a:p>
          </p:txBody>
        </p:sp>
        <p:sp>
          <p:nvSpPr>
            <p:cNvPr id="7" name="Rectangle 30">
              <a:extLst>
                <a:ext uri="{FF2B5EF4-FFF2-40B4-BE49-F238E27FC236}">
                  <a16:creationId xmlns:a16="http://schemas.microsoft.com/office/drawing/2014/main" id="{AB8EF7A5-E727-2590-7EA0-DADF09E3C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2" y="3143"/>
              <a:ext cx="139" cy="100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/>
            </a:p>
          </p:txBody>
        </p:sp>
        <p:sp>
          <p:nvSpPr>
            <p:cNvPr id="8" name="AutoShape 31">
              <a:extLst>
                <a:ext uri="{FF2B5EF4-FFF2-40B4-BE49-F238E27FC236}">
                  <a16:creationId xmlns:a16="http://schemas.microsoft.com/office/drawing/2014/main" id="{806771B3-0D11-6395-EAF3-2C3BFA9E2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143"/>
              <a:ext cx="2484" cy="141"/>
            </a:xfrm>
            <a:custGeom>
              <a:avLst/>
              <a:gdLst>
                <a:gd name="T0" fmla="*/ 2398 w 21600"/>
                <a:gd name="T1" fmla="*/ 71 h 21600"/>
                <a:gd name="T2" fmla="*/ 1242 w 21600"/>
                <a:gd name="T3" fmla="*/ 141 h 21600"/>
                <a:gd name="T4" fmla="*/ 86 w 21600"/>
                <a:gd name="T5" fmla="*/ 71 h 21600"/>
                <a:gd name="T6" fmla="*/ 1242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548 w 21600"/>
                <a:gd name="T13" fmla="*/ 2604 h 21600"/>
                <a:gd name="T14" fmla="*/ 19052 w 21600"/>
                <a:gd name="T15" fmla="*/ 189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496" y="21600"/>
                  </a:lnTo>
                  <a:lnTo>
                    <a:pt x="2010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9" name="AutoShape 32">
              <a:extLst>
                <a:ext uri="{FF2B5EF4-FFF2-40B4-BE49-F238E27FC236}">
                  <a16:creationId xmlns:a16="http://schemas.microsoft.com/office/drawing/2014/main" id="{6E7F462F-4697-0582-BEB4-6A6A25A721D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417" y="4036"/>
              <a:ext cx="2508" cy="111"/>
            </a:xfrm>
            <a:custGeom>
              <a:avLst/>
              <a:gdLst>
                <a:gd name="G0" fmla="+- 1489 0 0"/>
                <a:gd name="G1" fmla="+- 21600 0 1489"/>
                <a:gd name="G2" fmla="*/ 1489 1 2"/>
                <a:gd name="G3" fmla="+- 21600 0 G2"/>
                <a:gd name="G4" fmla="+/ 1489 21600 2"/>
                <a:gd name="G5" fmla="+/ G1 0 2"/>
                <a:gd name="G6" fmla="*/ 21600 21600 1489"/>
                <a:gd name="G7" fmla="*/ G6 1 2"/>
                <a:gd name="G8" fmla="+- 21600 0 G7"/>
                <a:gd name="G9" fmla="*/ 21600 1 2"/>
                <a:gd name="G10" fmla="+- 1489 0 G9"/>
                <a:gd name="G11" fmla="?: G10 G8 0"/>
                <a:gd name="G12" fmla="?: G10 G7 21600"/>
                <a:gd name="T0" fmla="*/ 20855 w 21600"/>
                <a:gd name="T1" fmla="*/ 10800 h 21600"/>
                <a:gd name="T2" fmla="*/ 10800 w 21600"/>
                <a:gd name="T3" fmla="*/ 21600 h 21600"/>
                <a:gd name="T4" fmla="*/ 745 w 21600"/>
                <a:gd name="T5" fmla="*/ 10800 h 21600"/>
                <a:gd name="T6" fmla="*/ 10800 w 21600"/>
                <a:gd name="T7" fmla="*/ 0 h 21600"/>
                <a:gd name="T8" fmla="*/ 2545 w 21600"/>
                <a:gd name="T9" fmla="*/ 2545 h 21600"/>
                <a:gd name="T10" fmla="*/ 19055 w 21600"/>
                <a:gd name="T11" fmla="*/ 1905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489" y="21600"/>
                  </a:lnTo>
                  <a:lnTo>
                    <a:pt x="20111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25882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/>
            </a:p>
          </p:txBody>
        </p:sp>
      </p:grpSp>
      <p:sp>
        <p:nvSpPr>
          <p:cNvPr id="10" name="Text Box 33">
            <a:extLst>
              <a:ext uri="{FF2B5EF4-FFF2-40B4-BE49-F238E27FC236}">
                <a16:creationId xmlns:a16="http://schemas.microsoft.com/office/drawing/2014/main" id="{DD2FAC28-66AF-EE3C-CD01-E0C8639E2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8546"/>
            <a:ext cx="3888928" cy="412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buFontTx/>
              <a:buNone/>
            </a:pPr>
            <a:r>
              <a:rPr lang="en-US" altLang="ko-KR" sz="1800" b="1" dirty="0">
                <a:latin typeface="+mn-ea"/>
              </a:rPr>
              <a:t>2025</a:t>
            </a:r>
            <a:r>
              <a:rPr lang="ko-KR" altLang="en-US" sz="1800" b="1" dirty="0">
                <a:latin typeface="+mn-ea"/>
              </a:rPr>
              <a:t>년도</a:t>
            </a:r>
            <a:r>
              <a:rPr lang="en-US" altLang="ko-KR" b="1" dirty="0">
                <a:latin typeface="+mn-ea"/>
              </a:rPr>
              <a:t> 2</a:t>
            </a:r>
            <a:r>
              <a:rPr lang="ko-KR" altLang="en-US" b="1" dirty="0">
                <a:latin typeface="+mn-ea"/>
              </a:rPr>
              <a:t>학기</a:t>
            </a:r>
            <a:endParaRPr lang="en-US" altLang="ko-KR" sz="18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84753-A759-DF57-7F55-D2DFE6C062E0}"/>
              </a:ext>
            </a:extLst>
          </p:cNvPr>
          <p:cNvSpPr txBox="1"/>
          <p:nvPr/>
        </p:nvSpPr>
        <p:spPr>
          <a:xfrm>
            <a:off x="3347294" y="4941168"/>
            <a:ext cx="2592288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>
                <a:latin typeface="+mj-ea"/>
                <a:ea typeface="+mj-ea"/>
              </a:rPr>
              <a:t>가천대학교 컴퓨터공학과</a:t>
            </a:r>
            <a:endParaRPr lang="en-US" altLang="ko-KR" sz="1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284771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22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6" name="모서리가 둥근 직사각형 26">
            <a:extLst>
              <a:ext uri="{FF2B5EF4-FFF2-40B4-BE49-F238E27FC236}">
                <a16:creationId xmlns:a16="http://schemas.microsoft.com/office/drawing/2014/main" id="{03FF783D-9651-55D7-36B5-0ABA3D62ABF0}"/>
              </a:ext>
            </a:extLst>
          </p:cNvPr>
          <p:cNvSpPr/>
          <p:nvPr/>
        </p:nvSpPr>
        <p:spPr bwMode="auto">
          <a:xfrm>
            <a:off x="1385128" y="1876541"/>
            <a:ext cx="1597037" cy="433111"/>
          </a:xfrm>
          <a:prstGeom prst="roundRect">
            <a:avLst>
              <a:gd name="adj" fmla="val 8502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6EB959A5-92E9-3780-9C59-3045662F0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118" y="1918177"/>
            <a:ext cx="1597036" cy="3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6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github </a:t>
            </a:r>
            <a:r>
              <a:rPr lang="ko-KR" altLang="en-US" sz="16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사이트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2B3D96A-A83B-C76A-16EA-794E84956E12}"/>
              </a:ext>
            </a:extLst>
          </p:cNvPr>
          <p:cNvCxnSpPr/>
          <p:nvPr/>
        </p:nvCxnSpPr>
        <p:spPr bwMode="auto">
          <a:xfrm flipH="1">
            <a:off x="2696239" y="2955253"/>
            <a:ext cx="542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1F88EC6-B682-62E4-92A0-BD73BF34DE6F}"/>
              </a:ext>
            </a:extLst>
          </p:cNvPr>
          <p:cNvCxnSpPr/>
          <p:nvPr/>
        </p:nvCxnSpPr>
        <p:spPr bwMode="auto">
          <a:xfrm flipV="1">
            <a:off x="2696239" y="2347240"/>
            <a:ext cx="0" cy="608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0DCA8E1-E440-9DC4-4BBB-0343C8383806}"/>
              </a:ext>
            </a:extLst>
          </p:cNvPr>
          <p:cNvCxnSpPr/>
          <p:nvPr/>
        </p:nvCxnSpPr>
        <p:spPr bwMode="auto">
          <a:xfrm flipV="1">
            <a:off x="2627977" y="2347240"/>
            <a:ext cx="0" cy="67627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FFC7C37-49C2-F6A4-1B77-245667931F80}"/>
              </a:ext>
            </a:extLst>
          </p:cNvPr>
          <p:cNvCxnSpPr/>
          <p:nvPr/>
        </p:nvCxnSpPr>
        <p:spPr bwMode="auto">
          <a:xfrm flipV="1">
            <a:off x="2629564" y="3023515"/>
            <a:ext cx="609600" cy="47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8">
            <a:extLst>
              <a:ext uri="{FF2B5EF4-FFF2-40B4-BE49-F238E27FC236}">
                <a16:creationId xmlns:a16="http://schemas.microsoft.com/office/drawing/2014/main" id="{A7D7017E-2ABE-66B9-C472-D5219535F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815" y="2414917"/>
            <a:ext cx="760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800"/>
              <a:t>개발과정</a:t>
            </a:r>
            <a:endParaRPr lang="en-US" altLang="ko-KR" sz="800"/>
          </a:p>
          <a:p>
            <a:pPr algn="ctr"/>
            <a:r>
              <a:rPr lang="en-US" altLang="ko-KR" sz="800"/>
              <a:t>(</a:t>
            </a:r>
            <a:r>
              <a:rPr lang="ko-KR" altLang="en-US" sz="800"/>
              <a:t>소스관리</a:t>
            </a:r>
            <a:endParaRPr lang="en-US" altLang="ko-KR" sz="800"/>
          </a:p>
          <a:p>
            <a:pPr algn="ctr"/>
            <a:r>
              <a:rPr lang="ko-KR" altLang="en-US" sz="800"/>
              <a:t>백업관리 </a:t>
            </a:r>
            <a:r>
              <a:rPr lang="en-US" altLang="ko-KR" sz="800"/>
              <a:t>…)</a:t>
            </a:r>
            <a:endParaRPr lang="ko-KR" altLang="en-US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9831D-4DCF-22F0-231C-8B27078CF6CC}"/>
              </a:ext>
            </a:extLst>
          </p:cNvPr>
          <p:cNvSpPr txBox="1"/>
          <p:nvPr/>
        </p:nvSpPr>
        <p:spPr bwMode="auto">
          <a:xfrm>
            <a:off x="7534160" y="3726709"/>
            <a:ext cx="17183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CPU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i9  18 Core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RAM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124GB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GPU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개</a:t>
            </a:r>
            <a:endParaRPr lang="en-US" altLang="ko-KR" sz="1100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 (RTX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4500 Ada</a:t>
            </a: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  (24GB) x 2)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SSD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7TB (RAID1)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OS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Rocky Linux 9.6</a:t>
            </a: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(=RHEL)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97D6F7-D9F5-C03F-B3B3-C206B0AAA166}"/>
              </a:ext>
            </a:extLst>
          </p:cNvPr>
          <p:cNvSpPr txBox="1"/>
          <p:nvPr/>
        </p:nvSpPr>
        <p:spPr>
          <a:xfrm>
            <a:off x="357158" y="867191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en-US" altLang="ko-KR" sz="2400" b="1" dirty="0" err="1">
                <a:solidFill>
                  <a:srgbClr val="0000CC"/>
                </a:solidFill>
                <a:latin typeface="+mj-ea"/>
                <a:ea typeface="+mj-ea"/>
              </a:rPr>
              <a:t>ceprj</a:t>
            </a: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ko-KR" altLang="en-US" sz="2400" b="1" dirty="0">
                <a:latin typeface="+mj-ea"/>
                <a:ea typeface="+mj-ea"/>
              </a:rPr>
              <a:t>학과프로젝트서버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AF1151-27FB-4842-0F8A-70B381AA4BA1}"/>
              </a:ext>
            </a:extLst>
          </p:cNvPr>
          <p:cNvSpPr/>
          <p:nvPr/>
        </p:nvSpPr>
        <p:spPr bwMode="auto">
          <a:xfrm>
            <a:off x="3833448" y="1568563"/>
            <a:ext cx="3682240" cy="37739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54D3BF2F-7574-D6AD-8521-42AF3C5C7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4882796"/>
            <a:ext cx="3647187" cy="433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B175427-E345-3D1D-26D7-30DE4F21C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132" y="4914153"/>
            <a:ext cx="16433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600" dirty="0"/>
              <a:t>Rocky Linux 9.6</a:t>
            </a:r>
            <a:endParaRPr lang="ko-KR" altLang="en-US" sz="1600"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4D2BA95F-3B40-57AF-AB8E-70D2BCF1F1CA}"/>
              </a:ext>
            </a:extLst>
          </p:cNvPr>
          <p:cNvSpPr/>
          <p:nvPr/>
        </p:nvSpPr>
        <p:spPr bwMode="auto">
          <a:xfrm>
            <a:off x="774195" y="5513612"/>
            <a:ext cx="6732595" cy="576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6FDD6A6-E4F6-478E-F82B-BED8A728898F}"/>
              </a:ext>
            </a:extLst>
          </p:cNvPr>
          <p:cNvSpPr/>
          <p:nvPr/>
        </p:nvSpPr>
        <p:spPr bwMode="auto">
          <a:xfrm>
            <a:off x="6208211" y="3591577"/>
            <a:ext cx="639763" cy="5683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16" name="원통 7">
            <a:extLst>
              <a:ext uri="{FF2B5EF4-FFF2-40B4-BE49-F238E27FC236}">
                <a16:creationId xmlns:a16="http://schemas.microsoft.com/office/drawing/2014/main" id="{C2429E8B-68DC-C839-428D-06C2E71DC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674" y="3926540"/>
            <a:ext cx="792162" cy="56140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" name="모서리가 둥근 직사각형 8">
            <a:extLst>
              <a:ext uri="{FF2B5EF4-FFF2-40B4-BE49-F238E27FC236}">
                <a16:creationId xmlns:a16="http://schemas.microsoft.com/office/drawing/2014/main" id="{8AC0446D-FEAA-D7AC-DF14-6C769A21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79" y="4612779"/>
            <a:ext cx="720725" cy="647700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8" name="모서리가 둥근 직사각형 12">
            <a:extLst>
              <a:ext uri="{FF2B5EF4-FFF2-40B4-BE49-F238E27FC236}">
                <a16:creationId xmlns:a16="http://schemas.microsoft.com/office/drawing/2014/main" id="{D9E54FF2-405A-4544-C2F0-4ADF7B60C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04" y="3841254"/>
            <a:ext cx="719137" cy="647700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7" name="모서리가 둥근 직사각형 13">
            <a:extLst>
              <a:ext uri="{FF2B5EF4-FFF2-40B4-BE49-F238E27FC236}">
                <a16:creationId xmlns:a16="http://schemas.microsoft.com/office/drawing/2014/main" id="{DB439EB5-3ED4-8CCA-F920-AC1AC52C2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304" y="4214317"/>
            <a:ext cx="719137" cy="649287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2D18D6EE-986C-EE5B-B0D4-C9FC6AD20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7" y="5573584"/>
            <a:ext cx="1052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/>
              <a:t>Internet</a:t>
            </a:r>
            <a:endParaRPr lang="ko-KR" altLang="en-US"/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0B0651E1-48FC-446A-718A-8545FC2C5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129" y="4385767"/>
            <a:ext cx="732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ko-KR" altLang="en-US" sz="1400"/>
              <a:t>웹</a:t>
            </a:r>
            <a:r>
              <a:rPr lang="en-US" altLang="ko-KR" sz="1400"/>
              <a:t>(PC)</a:t>
            </a:r>
            <a:endParaRPr lang="ko-KR" altLang="en-US" sz="1400"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AA578EAB-9CB8-5243-7547-C54297D42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634" y="3921943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1400"/>
              <a:t>모바일</a:t>
            </a:r>
            <a:endParaRPr lang="en-US" altLang="ko-KR" sz="1400"/>
          </a:p>
          <a:p>
            <a:pPr algn="ctr"/>
            <a:r>
              <a:rPr lang="ko-KR" altLang="en-US" sz="1400"/>
              <a:t>앱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390E67C1-4E5E-4B04-747A-5572E545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95" y="472390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1200"/>
              <a:t>IoT</a:t>
            </a:r>
          </a:p>
          <a:p>
            <a:pPr algn="ctr"/>
            <a:r>
              <a:rPr lang="ko-KR" altLang="en-US" sz="1200"/>
              <a:t>디바이스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64D73F-4C63-7F04-4838-710B80E0B848}"/>
              </a:ext>
            </a:extLst>
          </p:cNvPr>
          <p:cNvSpPr/>
          <p:nvPr/>
        </p:nvSpPr>
        <p:spPr bwMode="auto">
          <a:xfrm>
            <a:off x="3872459" y="4449414"/>
            <a:ext cx="2214067" cy="4111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52" name="자유형 24">
            <a:extLst>
              <a:ext uri="{FF2B5EF4-FFF2-40B4-BE49-F238E27FC236}">
                <a16:creationId xmlns:a16="http://schemas.microsoft.com/office/drawing/2014/main" id="{FA4CAEAE-2439-B291-E8DF-22E4032AAB03}"/>
              </a:ext>
            </a:extLst>
          </p:cNvPr>
          <p:cNvSpPr>
            <a:spLocks/>
          </p:cNvSpPr>
          <p:nvPr/>
        </p:nvSpPr>
        <p:spPr bwMode="auto">
          <a:xfrm>
            <a:off x="1817240" y="3984849"/>
            <a:ext cx="3495395" cy="1892300"/>
          </a:xfrm>
          <a:custGeom>
            <a:avLst/>
            <a:gdLst>
              <a:gd name="T0" fmla="*/ 0 w 3651115"/>
              <a:gd name="T1" fmla="*/ 518401 h 1892671"/>
              <a:gd name="T2" fmla="*/ 421596 w 3651115"/>
              <a:gd name="T3" fmla="*/ 1652406 h 1892671"/>
              <a:gd name="T4" fmla="*/ 1485309 w 3651115"/>
              <a:gd name="T5" fmla="*/ 1859766 h 1892671"/>
              <a:gd name="T6" fmla="*/ 2795493 w 3651115"/>
              <a:gd name="T7" fmla="*/ 1684807 h 1892671"/>
              <a:gd name="T8" fmla="*/ 3651655 w 3651115"/>
              <a:gd name="T9" fmla="*/ 0 h 18926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51115" h="1892671">
                <a:moveTo>
                  <a:pt x="0" y="518809"/>
                </a:moveTo>
                <a:cubicBezTo>
                  <a:pt x="87008" y="974387"/>
                  <a:pt x="174017" y="1429966"/>
                  <a:pt x="421532" y="1653702"/>
                </a:cubicBezTo>
                <a:cubicBezTo>
                  <a:pt x="669047" y="1877438"/>
                  <a:pt x="1089498" y="1855822"/>
                  <a:pt x="1485089" y="1861226"/>
                </a:cubicBezTo>
                <a:cubicBezTo>
                  <a:pt x="1880680" y="1866630"/>
                  <a:pt x="2434077" y="1996332"/>
                  <a:pt x="2795081" y="1686128"/>
                </a:cubicBezTo>
                <a:cubicBezTo>
                  <a:pt x="3156085" y="1375924"/>
                  <a:pt x="3403600" y="687962"/>
                  <a:pt x="365111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55" name="자유형 25">
            <a:extLst>
              <a:ext uri="{FF2B5EF4-FFF2-40B4-BE49-F238E27FC236}">
                <a16:creationId xmlns:a16="http://schemas.microsoft.com/office/drawing/2014/main" id="{524728C2-7E3A-9B9C-6266-129498D50CA3}"/>
              </a:ext>
            </a:extLst>
          </p:cNvPr>
          <p:cNvSpPr>
            <a:spLocks/>
          </p:cNvSpPr>
          <p:nvPr/>
        </p:nvSpPr>
        <p:spPr bwMode="auto">
          <a:xfrm>
            <a:off x="1188591" y="4048349"/>
            <a:ext cx="4150816" cy="1871663"/>
          </a:xfrm>
          <a:custGeom>
            <a:avLst/>
            <a:gdLst>
              <a:gd name="T0" fmla="*/ 0 w 4163438"/>
              <a:gd name="T1" fmla="*/ 1122893 h 1933031"/>
              <a:gd name="T2" fmla="*/ 356333 w 4163438"/>
              <a:gd name="T3" fmla="*/ 1464891 h 1933031"/>
              <a:gd name="T4" fmla="*/ 1276322 w 4163438"/>
              <a:gd name="T5" fmla="*/ 1664390 h 1933031"/>
              <a:gd name="T6" fmla="*/ 2714615 w 4163438"/>
              <a:gd name="T7" fmla="*/ 1681491 h 1933031"/>
              <a:gd name="T8" fmla="*/ 3543902 w 4163438"/>
              <a:gd name="T9" fmla="*/ 1481992 h 1933031"/>
              <a:gd name="T10" fmla="*/ 3887279 w 4163438"/>
              <a:gd name="T11" fmla="*/ 906294 h 1933031"/>
              <a:gd name="T12" fmla="*/ 4159387 w 4163438"/>
              <a:gd name="T13" fmla="*/ 0 h 19330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163438" h="1933031">
                <a:moveTo>
                  <a:pt x="0" y="1277566"/>
                </a:moveTo>
                <a:cubicBezTo>
                  <a:pt x="71876" y="1420779"/>
                  <a:pt x="143753" y="1563992"/>
                  <a:pt x="356681" y="1666673"/>
                </a:cubicBezTo>
                <a:cubicBezTo>
                  <a:pt x="569609" y="1769354"/>
                  <a:pt x="884136" y="1852579"/>
                  <a:pt x="1277566" y="1893651"/>
                </a:cubicBezTo>
                <a:cubicBezTo>
                  <a:pt x="1670996" y="1934723"/>
                  <a:pt x="2338961" y="1947694"/>
                  <a:pt x="2717259" y="1913107"/>
                </a:cubicBezTo>
                <a:cubicBezTo>
                  <a:pt x="3095557" y="1878520"/>
                  <a:pt x="3351719" y="1833124"/>
                  <a:pt x="3547353" y="1686128"/>
                </a:cubicBezTo>
                <a:cubicBezTo>
                  <a:pt x="3742987" y="1539132"/>
                  <a:pt x="3788383" y="1312153"/>
                  <a:pt x="3891064" y="1031132"/>
                </a:cubicBezTo>
                <a:cubicBezTo>
                  <a:pt x="3993745" y="750111"/>
                  <a:pt x="4078591" y="375055"/>
                  <a:pt x="4163438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7" name="자유형 26">
            <a:extLst>
              <a:ext uri="{FF2B5EF4-FFF2-40B4-BE49-F238E27FC236}">
                <a16:creationId xmlns:a16="http://schemas.microsoft.com/office/drawing/2014/main" id="{C008444D-72FB-4DD0-0F5E-2EB5E754DB95}"/>
              </a:ext>
            </a:extLst>
          </p:cNvPr>
          <p:cNvSpPr>
            <a:spLocks/>
          </p:cNvSpPr>
          <p:nvPr/>
        </p:nvSpPr>
        <p:spPr bwMode="auto">
          <a:xfrm>
            <a:off x="2483494" y="3997549"/>
            <a:ext cx="2717761" cy="1789113"/>
          </a:xfrm>
          <a:custGeom>
            <a:avLst/>
            <a:gdLst>
              <a:gd name="T0" fmla="*/ 0 w 2840477"/>
              <a:gd name="T1" fmla="*/ 1119546 h 1706585"/>
              <a:gd name="T2" fmla="*/ 103698 w 2840477"/>
              <a:gd name="T3" fmla="*/ 1628431 h 1706585"/>
              <a:gd name="T4" fmla="*/ 421272 w 2840477"/>
              <a:gd name="T5" fmla="*/ 1965077 h 1706585"/>
              <a:gd name="T6" fmla="*/ 1179562 w 2840477"/>
              <a:gd name="T7" fmla="*/ 2059023 h 1706585"/>
              <a:gd name="T8" fmla="*/ 1873036 w 2840477"/>
              <a:gd name="T9" fmla="*/ 1918104 h 1706585"/>
              <a:gd name="T10" fmla="*/ 2287827 w 2840477"/>
              <a:gd name="T11" fmla="*/ 1283954 h 1706585"/>
              <a:gd name="T12" fmla="*/ 2838721 w 2840477"/>
              <a:gd name="T13" fmla="*/ 0 h 17065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40477" h="1706585">
                <a:moveTo>
                  <a:pt x="0" y="927371"/>
                </a:moveTo>
                <a:cubicBezTo>
                  <a:pt x="16753" y="1079771"/>
                  <a:pt x="33507" y="1232171"/>
                  <a:pt x="103762" y="1348903"/>
                </a:cubicBezTo>
                <a:cubicBezTo>
                  <a:pt x="174017" y="1465635"/>
                  <a:pt x="242111" y="1568315"/>
                  <a:pt x="421532" y="1627762"/>
                </a:cubicBezTo>
                <a:cubicBezTo>
                  <a:pt x="600953" y="1687209"/>
                  <a:pt x="938179" y="1712068"/>
                  <a:pt x="1180290" y="1705583"/>
                </a:cubicBezTo>
                <a:cubicBezTo>
                  <a:pt x="1422401" y="1699098"/>
                  <a:pt x="1689371" y="1695856"/>
                  <a:pt x="1874196" y="1588852"/>
                </a:cubicBezTo>
                <a:cubicBezTo>
                  <a:pt x="2059021" y="1481848"/>
                  <a:pt x="2128196" y="1328367"/>
                  <a:pt x="2289243" y="1063558"/>
                </a:cubicBezTo>
                <a:cubicBezTo>
                  <a:pt x="2450290" y="798749"/>
                  <a:pt x="2645383" y="399374"/>
                  <a:pt x="2840477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8" name="TextBox 27">
            <a:extLst>
              <a:ext uri="{FF2B5EF4-FFF2-40B4-BE49-F238E27FC236}">
                <a16:creationId xmlns:a16="http://schemas.microsoft.com/office/drawing/2014/main" id="{21ABC99C-0BFF-C7AD-C4A5-09C801C93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831" y="4533644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>
                <a:solidFill>
                  <a:srgbClr val="0000CC"/>
                </a:solidFill>
              </a:rPr>
              <a:t>Node/express, SpringBoot</a:t>
            </a:r>
            <a:endParaRPr lang="ko-KR" altLang="en-US" sz="1400">
              <a:solidFill>
                <a:srgbClr val="0000CC"/>
              </a:solidFill>
            </a:endParaRPr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010E635B-82C3-F85D-2225-099624D68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311" y="3715723"/>
            <a:ext cx="7809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MariaDB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723188-669B-055D-F0C4-302F6718EE85}"/>
              </a:ext>
            </a:extLst>
          </p:cNvPr>
          <p:cNvSpPr txBox="1"/>
          <p:nvPr/>
        </p:nvSpPr>
        <p:spPr>
          <a:xfrm>
            <a:off x="3888329" y="3052459"/>
            <a:ext cx="9830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/>
              <a:t>Bootstrap5</a:t>
            </a:r>
            <a:endParaRPr lang="en-US" altLang="ko-KR" sz="1200" dirty="0"/>
          </a:p>
          <a:p>
            <a:pPr>
              <a:defRPr/>
            </a:pPr>
            <a:r>
              <a:rPr lang="en-US" altLang="ko-KR" sz="1200"/>
              <a:t>React+css</a:t>
            </a:r>
            <a:endParaRPr lang="ko-KR" altLang="en-US" sz="1200" dirty="0"/>
          </a:p>
        </p:txBody>
      </p:sp>
      <p:cxnSp>
        <p:nvCxnSpPr>
          <p:cNvPr id="1024" name="직선 화살표 연결선 21">
            <a:extLst>
              <a:ext uri="{FF2B5EF4-FFF2-40B4-BE49-F238E27FC236}">
                <a16:creationId xmlns:a16="http://schemas.microsoft.com/office/drawing/2014/main" id="{FBF73283-6922-FC55-10A5-A30C702DFD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8999" y="2638694"/>
            <a:ext cx="33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" name="직사각형 30">
            <a:extLst>
              <a:ext uri="{FF2B5EF4-FFF2-40B4-BE49-F238E27FC236}">
                <a16:creationId xmlns:a16="http://schemas.microsoft.com/office/drawing/2014/main" id="{D5534140-FF0B-574C-7E30-9F6B2C193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670" y="2414812"/>
            <a:ext cx="250825" cy="1289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27" name="TextBox 32">
            <a:extLst>
              <a:ext uri="{FF2B5EF4-FFF2-40B4-BE49-F238E27FC236}">
                <a16:creationId xmlns:a16="http://schemas.microsoft.com/office/drawing/2014/main" id="{7510F0BF-0D60-4D7B-6007-ABBB01FF6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504" y="2509784"/>
            <a:ext cx="400110" cy="117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IDE(VSCode)</a:t>
            </a:r>
            <a:endParaRPr lang="ko-KR" altLang="en-US" sz="1400"/>
          </a:p>
        </p:txBody>
      </p:sp>
      <p:sp>
        <p:nvSpPr>
          <p:cNvPr id="1030" name="직사각형 30">
            <a:extLst>
              <a:ext uri="{FF2B5EF4-FFF2-40B4-BE49-F238E27FC236}">
                <a16:creationId xmlns:a16="http://schemas.microsoft.com/office/drawing/2014/main" id="{BD1F38BF-C8BB-EB83-99F7-BC0681B55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908" y="3747880"/>
            <a:ext cx="255587" cy="7080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31" name="TextBox 32">
            <a:extLst>
              <a:ext uri="{FF2B5EF4-FFF2-40B4-BE49-F238E27FC236}">
                <a16:creationId xmlns:a16="http://schemas.microsoft.com/office/drawing/2014/main" id="{AE6E2A50-3715-596B-2008-3CB829591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973" y="3897105"/>
            <a:ext cx="4000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FTP</a:t>
            </a:r>
            <a:endParaRPr lang="ko-KR" altLang="en-US" sz="1400"/>
          </a:p>
        </p:txBody>
      </p:sp>
      <p:cxnSp>
        <p:nvCxnSpPr>
          <p:cNvPr id="1032" name="직선 화살표 연결선 21">
            <a:extLst>
              <a:ext uri="{FF2B5EF4-FFF2-40B4-BE49-F238E27FC236}">
                <a16:creationId xmlns:a16="http://schemas.microsoft.com/office/drawing/2014/main" id="{62B146A5-A92D-06E1-AEE5-2119E51DCC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8998" y="3879083"/>
            <a:ext cx="33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3" name="타원 6">
            <a:extLst>
              <a:ext uri="{FF2B5EF4-FFF2-40B4-BE49-F238E27FC236}">
                <a16:creationId xmlns:a16="http://schemas.microsoft.com/office/drawing/2014/main" id="{8354631D-72F1-B747-2DE0-1631F9A6E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086" y="2729448"/>
            <a:ext cx="1296987" cy="1152525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4" name="TextBox 22">
            <a:extLst>
              <a:ext uri="{FF2B5EF4-FFF2-40B4-BE49-F238E27FC236}">
                <a16:creationId xmlns:a16="http://schemas.microsoft.com/office/drawing/2014/main" id="{C8E57D2A-55C0-0C07-C882-61284FE56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265" y="3143252"/>
            <a:ext cx="10759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1600"/>
              <a:t>OOO</a:t>
            </a:r>
            <a:r>
              <a:rPr lang="ko-KR" altLang="en-US" sz="1600"/>
              <a:t>서버</a:t>
            </a:r>
          </a:p>
        </p:txBody>
      </p:sp>
      <p:sp>
        <p:nvSpPr>
          <p:cNvPr id="1040" name="사각형: 둥근 모서리 1039">
            <a:extLst>
              <a:ext uri="{FF2B5EF4-FFF2-40B4-BE49-F238E27FC236}">
                <a16:creationId xmlns:a16="http://schemas.microsoft.com/office/drawing/2014/main" id="{3F30460F-BAA7-8D32-97F4-8601D03AFA57}"/>
              </a:ext>
            </a:extLst>
          </p:cNvPr>
          <p:cNvSpPr/>
          <p:nvPr/>
        </p:nvSpPr>
        <p:spPr>
          <a:xfrm>
            <a:off x="5879722" y="1836930"/>
            <a:ext cx="650868" cy="399545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1" name="TextBox 24">
            <a:extLst>
              <a:ext uri="{FF2B5EF4-FFF2-40B4-BE49-F238E27FC236}">
                <a16:creationId xmlns:a16="http://schemas.microsoft.com/office/drawing/2014/main" id="{23E1F2DB-318D-0964-9D02-5D09A77DB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405" y="1810538"/>
            <a:ext cx="5950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AI</a:t>
            </a:r>
            <a:r>
              <a:rPr lang="ko-KR" altLang="en-US" sz="800" b="1" dirty="0">
                <a:solidFill>
                  <a:srgbClr val="FF0000"/>
                </a:solidFill>
              </a:rPr>
              <a:t>학습용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800" dirty="0"/>
              <a:t>프로그램</a:t>
            </a:r>
            <a:endParaRPr lang="en-US" altLang="ko-KR" sz="800" dirty="0"/>
          </a:p>
          <a:p>
            <a:pPr algn="ctr"/>
            <a:r>
              <a:rPr lang="en-US" altLang="ko-KR" sz="800" dirty="0"/>
              <a:t>(*.</a:t>
            </a:r>
            <a:r>
              <a:rPr lang="en-US" altLang="ko-KR" sz="800" dirty="0" err="1"/>
              <a:t>py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1042" name="사각형: 둥근 모서리 1041">
            <a:extLst>
              <a:ext uri="{FF2B5EF4-FFF2-40B4-BE49-F238E27FC236}">
                <a16:creationId xmlns:a16="http://schemas.microsoft.com/office/drawing/2014/main" id="{5E35E810-7EA8-3592-AFD5-901082020F9B}"/>
              </a:ext>
            </a:extLst>
          </p:cNvPr>
          <p:cNvSpPr/>
          <p:nvPr/>
        </p:nvSpPr>
        <p:spPr>
          <a:xfrm>
            <a:off x="4616043" y="1820299"/>
            <a:ext cx="646036" cy="399545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TextBox 24">
            <a:extLst>
              <a:ext uri="{FF2B5EF4-FFF2-40B4-BE49-F238E27FC236}">
                <a16:creationId xmlns:a16="http://schemas.microsoft.com/office/drawing/2014/main" id="{0F83A871-7D39-AFC0-7A5F-4264B6FFC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0715" y="1793907"/>
            <a:ext cx="821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AI</a:t>
            </a:r>
            <a:r>
              <a:rPr lang="ko-KR" altLang="en-US" sz="800" b="1" dirty="0">
                <a:solidFill>
                  <a:srgbClr val="FF0000"/>
                </a:solidFill>
              </a:rPr>
              <a:t>분석</a:t>
            </a:r>
            <a:r>
              <a:rPr lang="en-US" altLang="ko-KR" sz="800" b="1" dirty="0">
                <a:solidFill>
                  <a:srgbClr val="FF0000"/>
                </a:solidFill>
              </a:rPr>
              <a:t>/</a:t>
            </a:r>
            <a:r>
              <a:rPr lang="ko-KR" altLang="en-US" sz="800" b="1" dirty="0">
                <a:solidFill>
                  <a:srgbClr val="FF0000"/>
                </a:solidFill>
              </a:rPr>
              <a:t>예측용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800" dirty="0"/>
              <a:t>프로그램</a:t>
            </a:r>
            <a:endParaRPr lang="en-US" altLang="ko-KR" sz="800" dirty="0"/>
          </a:p>
          <a:p>
            <a:pPr algn="ctr"/>
            <a:r>
              <a:rPr lang="en-US" altLang="ko-KR" sz="800" dirty="0"/>
              <a:t>(*.</a:t>
            </a:r>
            <a:r>
              <a:rPr lang="en-US" altLang="ko-KR" sz="800" dirty="0" err="1"/>
              <a:t>py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cxnSp>
        <p:nvCxnSpPr>
          <p:cNvPr id="1045" name="직선 화살표 연결선 1044">
            <a:extLst>
              <a:ext uri="{FF2B5EF4-FFF2-40B4-BE49-F238E27FC236}">
                <a16:creationId xmlns:a16="http://schemas.microsoft.com/office/drawing/2014/main" id="{5A598952-0E15-1E31-D528-A34B91B06059}"/>
              </a:ext>
            </a:extLst>
          </p:cNvPr>
          <p:cNvCxnSpPr>
            <a:cxnSpLocks/>
          </p:cNvCxnSpPr>
          <p:nvPr/>
        </p:nvCxnSpPr>
        <p:spPr>
          <a:xfrm flipH="1">
            <a:off x="7356648" y="1984171"/>
            <a:ext cx="311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4E9D84C3-941C-13C6-BC7C-0F1B254D2A3D}"/>
              </a:ext>
            </a:extLst>
          </p:cNvPr>
          <p:cNvSpPr/>
          <p:nvPr/>
        </p:nvSpPr>
        <p:spPr>
          <a:xfrm>
            <a:off x="6657436" y="1837057"/>
            <a:ext cx="650868" cy="399417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7" name="TextBox 24">
            <a:extLst>
              <a:ext uri="{FF2B5EF4-FFF2-40B4-BE49-F238E27FC236}">
                <a16:creationId xmlns:a16="http://schemas.microsoft.com/office/drawing/2014/main" id="{76574490-9F44-5C88-360E-933E42F19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2917" y="1815207"/>
            <a:ext cx="7954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/>
              <a:t>AI</a:t>
            </a:r>
            <a:r>
              <a:rPr lang="ko-KR" altLang="en-US" sz="800"/>
              <a:t>데이터수집</a:t>
            </a:r>
            <a:endParaRPr lang="en-US" altLang="ko-KR" sz="800"/>
          </a:p>
          <a:p>
            <a:pPr algn="ctr"/>
            <a:r>
              <a:rPr lang="en-US" altLang="ko-KR" sz="800"/>
              <a:t>(</a:t>
            </a:r>
            <a:r>
              <a:rPr lang="ko-KR" altLang="en-US" sz="800"/>
              <a:t>크롤링</a:t>
            </a:r>
            <a:r>
              <a:rPr lang="en-US" altLang="ko-KR" sz="800"/>
              <a:t>, API </a:t>
            </a:r>
          </a:p>
          <a:p>
            <a:pPr algn="ctr"/>
            <a:r>
              <a:rPr lang="ko-KR" altLang="en-US" sz="800"/>
              <a:t>데이터파일</a:t>
            </a:r>
            <a:r>
              <a:rPr lang="en-US" altLang="ko-KR" sz="800"/>
              <a:t>)</a:t>
            </a:r>
            <a:endParaRPr lang="ko-KR" altLang="en-US" sz="800" dirty="0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4DE579D5-DCE0-173F-F919-C48504EE89EB}"/>
              </a:ext>
            </a:extLst>
          </p:cNvPr>
          <p:cNvSpPr txBox="1"/>
          <p:nvPr/>
        </p:nvSpPr>
        <p:spPr>
          <a:xfrm>
            <a:off x="7650782" y="1874624"/>
            <a:ext cx="665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Data</a:t>
            </a:r>
            <a:endParaRPr lang="ko-KR" altLang="en-US"/>
          </a:p>
        </p:txBody>
      </p:sp>
      <p:sp>
        <p:nvSpPr>
          <p:cNvPr id="1053" name="사각형: 모서리가 접힌 도형 1052">
            <a:extLst>
              <a:ext uri="{FF2B5EF4-FFF2-40B4-BE49-F238E27FC236}">
                <a16:creationId xmlns:a16="http://schemas.microsoft.com/office/drawing/2014/main" id="{BF515800-46FD-3F5C-7907-993D40B4EBFD}"/>
              </a:ext>
            </a:extLst>
          </p:cNvPr>
          <p:cNvSpPr/>
          <p:nvPr/>
        </p:nvSpPr>
        <p:spPr>
          <a:xfrm>
            <a:off x="5426754" y="1917998"/>
            <a:ext cx="309701" cy="218351"/>
          </a:xfrm>
          <a:prstGeom prst="foldedCorner">
            <a:avLst>
              <a:gd name="adj" fmla="val 38045"/>
            </a:avLst>
          </a:prstGeom>
          <a:solidFill>
            <a:schemeClr val="accent6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TextBox 24">
            <a:extLst>
              <a:ext uri="{FF2B5EF4-FFF2-40B4-BE49-F238E27FC236}">
                <a16:creationId xmlns:a16="http://schemas.microsoft.com/office/drawing/2014/main" id="{666BE24F-E277-7FBD-29D4-18BEE88A5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2798" y="1731694"/>
            <a:ext cx="59503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800"/>
              <a:t>학습모델</a:t>
            </a:r>
            <a:endParaRPr lang="ko-KR" altLang="en-US" sz="800" dirty="0"/>
          </a:p>
        </p:txBody>
      </p:sp>
      <p:cxnSp>
        <p:nvCxnSpPr>
          <p:cNvPr id="1056" name="직선 화살표 연결선 1055">
            <a:extLst>
              <a:ext uri="{FF2B5EF4-FFF2-40B4-BE49-F238E27FC236}">
                <a16:creationId xmlns:a16="http://schemas.microsoft.com/office/drawing/2014/main" id="{1FCA2BD6-5A11-DFF3-D18F-3F350C1FFC5D}"/>
              </a:ext>
            </a:extLst>
          </p:cNvPr>
          <p:cNvCxnSpPr/>
          <p:nvPr/>
        </p:nvCxnSpPr>
        <p:spPr>
          <a:xfrm flipH="1">
            <a:off x="5742494" y="2026654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직선 화살표 연결선 1056">
            <a:extLst>
              <a:ext uri="{FF2B5EF4-FFF2-40B4-BE49-F238E27FC236}">
                <a16:creationId xmlns:a16="http://schemas.microsoft.com/office/drawing/2014/main" id="{478F5092-4CB8-9607-EC88-DB70FD953387}"/>
              </a:ext>
            </a:extLst>
          </p:cNvPr>
          <p:cNvCxnSpPr/>
          <p:nvPr/>
        </p:nvCxnSpPr>
        <p:spPr>
          <a:xfrm flipH="1">
            <a:off x="5282738" y="2027173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타원 19">
            <a:extLst>
              <a:ext uri="{FF2B5EF4-FFF2-40B4-BE49-F238E27FC236}">
                <a16:creationId xmlns:a16="http://schemas.microsoft.com/office/drawing/2014/main" id="{32754D92-84B8-D1D0-90AE-8B88697E9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856" y="3808804"/>
            <a:ext cx="136525" cy="152400"/>
          </a:xfrm>
          <a:prstGeom prst="ellipse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FC23C45-C8C9-10B0-2204-D662EFEC38BB}"/>
              </a:ext>
            </a:extLst>
          </p:cNvPr>
          <p:cNvSpPr txBox="1"/>
          <p:nvPr/>
        </p:nvSpPr>
        <p:spPr>
          <a:xfrm>
            <a:off x="5353936" y="3861960"/>
            <a:ext cx="6656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팀전용 포트</a:t>
            </a:r>
            <a:endParaRPr lang="ko-KR" altLang="en-US"/>
          </a:p>
        </p:txBody>
      </p: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05AD0D7F-16EF-08EE-D496-5E28DE5AD32F}"/>
              </a:ext>
            </a:extLst>
          </p:cNvPr>
          <p:cNvCxnSpPr>
            <a:cxnSpLocks/>
            <a:stCxn id="1062" idx="1"/>
          </p:cNvCxnSpPr>
          <p:nvPr/>
        </p:nvCxnSpPr>
        <p:spPr>
          <a:xfrm flipH="1" flipV="1">
            <a:off x="6067073" y="2955253"/>
            <a:ext cx="1518932" cy="2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93F0A158-6CDD-C707-3DB9-38E4C73D6AF6}"/>
              </a:ext>
            </a:extLst>
          </p:cNvPr>
          <p:cNvSpPr txBox="1"/>
          <p:nvPr/>
        </p:nvSpPr>
        <p:spPr>
          <a:xfrm>
            <a:off x="7586005" y="2845808"/>
            <a:ext cx="1166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API(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chatGPT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)</a:t>
            </a:r>
            <a:endParaRPr lang="ko-KR" altLang="en-US" dirty="0"/>
          </a:p>
        </p:txBody>
      </p: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3B0CEDF0-8593-9466-49EF-F0A30C5317EB}"/>
              </a:ext>
            </a:extLst>
          </p:cNvPr>
          <p:cNvCxnSpPr/>
          <p:nvPr/>
        </p:nvCxnSpPr>
        <p:spPr>
          <a:xfrm flipH="1">
            <a:off x="6516216" y="2021115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직선 화살표 연결선 1064">
            <a:extLst>
              <a:ext uri="{FF2B5EF4-FFF2-40B4-BE49-F238E27FC236}">
                <a16:creationId xmlns:a16="http://schemas.microsoft.com/office/drawing/2014/main" id="{A3947FDD-7EE5-C7F1-1A8D-C8DC9BAD7CE4}"/>
              </a:ext>
            </a:extLst>
          </p:cNvPr>
          <p:cNvCxnSpPr>
            <a:cxnSpLocks/>
          </p:cNvCxnSpPr>
          <p:nvPr/>
        </p:nvCxnSpPr>
        <p:spPr>
          <a:xfrm flipV="1">
            <a:off x="5886510" y="2270326"/>
            <a:ext cx="321701" cy="57770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390A66C3-C511-7F39-2064-51395AE536E4}"/>
              </a:ext>
            </a:extLst>
          </p:cNvPr>
          <p:cNvCxnSpPr>
            <a:cxnSpLocks/>
          </p:cNvCxnSpPr>
          <p:nvPr/>
        </p:nvCxnSpPr>
        <p:spPr>
          <a:xfrm flipV="1">
            <a:off x="5836785" y="2341711"/>
            <a:ext cx="267028" cy="50082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직선 화살표 연결선 1066">
            <a:extLst>
              <a:ext uri="{FF2B5EF4-FFF2-40B4-BE49-F238E27FC236}">
                <a16:creationId xmlns:a16="http://schemas.microsoft.com/office/drawing/2014/main" id="{81E6617E-5BDF-1DD8-9C01-668970DEBA8A}"/>
              </a:ext>
            </a:extLst>
          </p:cNvPr>
          <p:cNvCxnSpPr>
            <a:cxnSpLocks/>
          </p:cNvCxnSpPr>
          <p:nvPr/>
        </p:nvCxnSpPr>
        <p:spPr>
          <a:xfrm flipH="1" flipV="1">
            <a:off x="4932040" y="2261219"/>
            <a:ext cx="152439" cy="55398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직선 화살표 연결선 1067">
            <a:extLst>
              <a:ext uri="{FF2B5EF4-FFF2-40B4-BE49-F238E27FC236}">
                <a16:creationId xmlns:a16="http://schemas.microsoft.com/office/drawing/2014/main" id="{21FD532D-4088-B1EB-03D3-FA830F0918B2}"/>
              </a:ext>
            </a:extLst>
          </p:cNvPr>
          <p:cNvCxnSpPr>
            <a:cxnSpLocks/>
          </p:cNvCxnSpPr>
          <p:nvPr/>
        </p:nvCxnSpPr>
        <p:spPr>
          <a:xfrm flipH="1" flipV="1">
            <a:off x="4867921" y="2289423"/>
            <a:ext cx="166833" cy="520289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직사각형 1072">
            <a:extLst>
              <a:ext uri="{FF2B5EF4-FFF2-40B4-BE49-F238E27FC236}">
                <a16:creationId xmlns:a16="http://schemas.microsoft.com/office/drawing/2014/main" id="{558177F8-3F7B-0147-5FDC-6CCF211A54F6}"/>
              </a:ext>
            </a:extLst>
          </p:cNvPr>
          <p:cNvSpPr/>
          <p:nvPr/>
        </p:nvSpPr>
        <p:spPr>
          <a:xfrm>
            <a:off x="4627884" y="2438441"/>
            <a:ext cx="1864556" cy="20635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1B96D61-99B0-3BA4-E8A4-3C8FDB1D82E9}"/>
              </a:ext>
            </a:extLst>
          </p:cNvPr>
          <p:cNvSpPr txBox="1"/>
          <p:nvPr/>
        </p:nvSpPr>
        <p:spPr>
          <a:xfrm>
            <a:off x="4867921" y="2437266"/>
            <a:ext cx="12891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Child process </a:t>
            </a:r>
            <a:r>
              <a:rPr lang="ko-KR" altLang="en-US" sz="800" b="1" dirty="0">
                <a:solidFill>
                  <a:srgbClr val="FF0000"/>
                </a:solidFill>
              </a:rPr>
              <a:t>실행방식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64212391-74F6-968A-BC4F-66B05A2109D9}"/>
              </a:ext>
            </a:extLst>
          </p:cNvPr>
          <p:cNvSpPr txBox="1"/>
          <p:nvPr/>
        </p:nvSpPr>
        <p:spPr>
          <a:xfrm>
            <a:off x="6722214" y="4047859"/>
            <a:ext cx="5646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prstClr val="black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OOO</a:t>
            </a:r>
          </a:p>
          <a:p>
            <a:pPr algn="ctr"/>
            <a:r>
              <a:rPr lang="ko-KR" altLang="en-US" sz="1100">
                <a:solidFill>
                  <a:prstClr val="black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데이터</a:t>
            </a:r>
            <a:endParaRPr lang="ko-KR" altLang="en-US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567A7FDA-88ED-2475-1514-84408D392AED}"/>
              </a:ext>
            </a:extLst>
          </p:cNvPr>
          <p:cNvSpPr txBox="1"/>
          <p:nvPr/>
        </p:nvSpPr>
        <p:spPr>
          <a:xfrm>
            <a:off x="4832126" y="1230374"/>
            <a:ext cx="2573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학과서버</a:t>
            </a:r>
            <a:r>
              <a:rPr lang="en-US" altLang="ko-KR" sz="1400" b="1" dirty="0"/>
              <a:t>(</a:t>
            </a:r>
            <a:r>
              <a:rPr lang="en-US" altLang="ko-KR" sz="1400" b="1" dirty="0">
                <a:solidFill>
                  <a:srgbClr val="0000CC"/>
                </a:solidFill>
              </a:rPr>
              <a:t>ceprj</a:t>
            </a:r>
            <a:r>
              <a:rPr lang="en-US" altLang="ko-KR" sz="1400" b="1" dirty="0"/>
              <a:t>.gachon.ac.kr)</a:t>
            </a:r>
            <a:endParaRPr lang="ko-KR" altLang="en-US" sz="1400" b="1" dirty="0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47E9DE55-3639-3C86-3F80-C5B9F462ADFA}"/>
              </a:ext>
            </a:extLst>
          </p:cNvPr>
          <p:cNvSpPr/>
          <p:nvPr/>
        </p:nvSpPr>
        <p:spPr>
          <a:xfrm>
            <a:off x="1100794" y="4207390"/>
            <a:ext cx="191516" cy="344960"/>
          </a:xfrm>
          <a:custGeom>
            <a:avLst/>
            <a:gdLst>
              <a:gd name="connsiteX0" fmla="*/ 0 w 304800"/>
              <a:gd name="connsiteY0" fmla="*/ 544945 h 544945"/>
              <a:gd name="connsiteX1" fmla="*/ 27709 w 304800"/>
              <a:gd name="connsiteY1" fmla="*/ 304800 h 544945"/>
              <a:gd name="connsiteX2" fmla="*/ 147782 w 304800"/>
              <a:gd name="connsiteY2" fmla="*/ 101600 h 544945"/>
              <a:gd name="connsiteX3" fmla="*/ 304800 w 304800"/>
              <a:gd name="connsiteY3" fmla="*/ 0 h 54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544945">
                <a:moveTo>
                  <a:pt x="0" y="544945"/>
                </a:moveTo>
                <a:cubicBezTo>
                  <a:pt x="1539" y="461818"/>
                  <a:pt x="3079" y="378691"/>
                  <a:pt x="27709" y="304800"/>
                </a:cubicBezTo>
                <a:cubicBezTo>
                  <a:pt x="52339" y="230909"/>
                  <a:pt x="101600" y="152400"/>
                  <a:pt x="147782" y="101600"/>
                </a:cubicBezTo>
                <a:cubicBezTo>
                  <a:pt x="193964" y="50800"/>
                  <a:pt x="249382" y="25400"/>
                  <a:pt x="304800" y="0"/>
                </a:cubicBezTo>
              </a:path>
            </a:pathLst>
          </a:custGeom>
          <a:noFill/>
          <a:ln w="19050">
            <a:solidFill>
              <a:srgbClr val="0000C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DA2A49F-F298-3F40-577B-AAD284820827}"/>
              </a:ext>
            </a:extLst>
          </p:cNvPr>
          <p:cNvSpPr txBox="1"/>
          <p:nvPr/>
        </p:nvSpPr>
        <p:spPr>
          <a:xfrm>
            <a:off x="583735" y="4083224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srgbClr val="0000CC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블루투스</a:t>
            </a:r>
            <a:endParaRPr lang="en-US" altLang="ko-KR" sz="1200" b="1">
              <a:solidFill>
                <a:srgbClr val="0000CC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en-US" altLang="ko-KR" sz="1200" b="1">
                <a:solidFill>
                  <a:srgbClr val="0000CC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(BLE)</a:t>
            </a:r>
            <a:endParaRPr lang="ko-KR" altLang="en-US" sz="1200" b="1">
              <a:solidFill>
                <a:srgbClr val="0000CC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8A26950-20ED-A48B-1923-DDE8D06B52B2}"/>
              </a:ext>
            </a:extLst>
          </p:cNvPr>
          <p:cNvCxnSpPr>
            <a:cxnSpLocks/>
          </p:cNvCxnSpPr>
          <p:nvPr/>
        </p:nvCxnSpPr>
        <p:spPr>
          <a:xfrm>
            <a:off x="5995209" y="3613498"/>
            <a:ext cx="217207" cy="121896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8">
            <a:extLst>
              <a:ext uri="{FF2B5EF4-FFF2-40B4-BE49-F238E27FC236}">
                <a16:creationId xmlns:a16="http://schemas.microsoft.com/office/drawing/2014/main" id="{FC752ACD-C75E-07C7-CD6B-B35E35A2D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804" y="2833198"/>
            <a:ext cx="8162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66715493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5679-7959-E30B-FCCA-D7739380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E2204E-EC5F-2788-5551-52E6FC0B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D61F9A2F-9FBD-413C-9670-294D24A27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22" name="슬라이드 번호 개체 틀 1">
            <a:extLst>
              <a:ext uri="{FF2B5EF4-FFF2-40B4-BE49-F238E27FC236}">
                <a16:creationId xmlns:a16="http://schemas.microsoft.com/office/drawing/2014/main" id="{3856FBFB-9329-924E-FBA3-2772990DA1DD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6" name="모서리가 둥근 직사각형 26">
            <a:extLst>
              <a:ext uri="{FF2B5EF4-FFF2-40B4-BE49-F238E27FC236}">
                <a16:creationId xmlns:a16="http://schemas.microsoft.com/office/drawing/2014/main" id="{1BBA250A-DE13-5A49-AC64-3CE9C2033156}"/>
              </a:ext>
            </a:extLst>
          </p:cNvPr>
          <p:cNvSpPr/>
          <p:nvPr/>
        </p:nvSpPr>
        <p:spPr bwMode="auto">
          <a:xfrm>
            <a:off x="1385128" y="1876541"/>
            <a:ext cx="1597037" cy="433111"/>
          </a:xfrm>
          <a:prstGeom prst="roundRect">
            <a:avLst>
              <a:gd name="adj" fmla="val 8502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F01FEEB3-B040-9F6F-D49D-F6EA9A8A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118" y="1918177"/>
            <a:ext cx="1597036" cy="3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6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github </a:t>
            </a:r>
            <a:r>
              <a:rPr lang="ko-KR" altLang="en-US" sz="16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사이트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4BDD5E5-35FB-6DDA-C775-C053311743B5}"/>
              </a:ext>
            </a:extLst>
          </p:cNvPr>
          <p:cNvCxnSpPr/>
          <p:nvPr/>
        </p:nvCxnSpPr>
        <p:spPr bwMode="auto">
          <a:xfrm flipH="1">
            <a:off x="2696239" y="2955253"/>
            <a:ext cx="542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4DF72C6-2609-3D95-776D-28F779FBFA63}"/>
              </a:ext>
            </a:extLst>
          </p:cNvPr>
          <p:cNvCxnSpPr/>
          <p:nvPr/>
        </p:nvCxnSpPr>
        <p:spPr bwMode="auto">
          <a:xfrm flipV="1">
            <a:off x="2696239" y="2347240"/>
            <a:ext cx="0" cy="608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721650A-146A-72FB-35D4-86F7573F8022}"/>
              </a:ext>
            </a:extLst>
          </p:cNvPr>
          <p:cNvCxnSpPr/>
          <p:nvPr/>
        </p:nvCxnSpPr>
        <p:spPr bwMode="auto">
          <a:xfrm flipV="1">
            <a:off x="2627977" y="2347240"/>
            <a:ext cx="0" cy="67627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E52E220-3AA3-16B8-F6F7-186C07AFE2AF}"/>
              </a:ext>
            </a:extLst>
          </p:cNvPr>
          <p:cNvCxnSpPr/>
          <p:nvPr/>
        </p:nvCxnSpPr>
        <p:spPr bwMode="auto">
          <a:xfrm flipV="1">
            <a:off x="2629564" y="3023515"/>
            <a:ext cx="609600" cy="47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18">
            <a:extLst>
              <a:ext uri="{FF2B5EF4-FFF2-40B4-BE49-F238E27FC236}">
                <a16:creationId xmlns:a16="http://schemas.microsoft.com/office/drawing/2014/main" id="{63550071-7834-470C-9673-D663B37B7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815" y="2414917"/>
            <a:ext cx="760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800"/>
              <a:t>개발과정</a:t>
            </a:r>
            <a:endParaRPr lang="en-US" altLang="ko-KR" sz="800"/>
          </a:p>
          <a:p>
            <a:pPr algn="ctr"/>
            <a:r>
              <a:rPr lang="en-US" altLang="ko-KR" sz="800"/>
              <a:t>(</a:t>
            </a:r>
            <a:r>
              <a:rPr lang="ko-KR" altLang="en-US" sz="800"/>
              <a:t>소스관리</a:t>
            </a:r>
            <a:endParaRPr lang="en-US" altLang="ko-KR" sz="800"/>
          </a:p>
          <a:p>
            <a:pPr algn="ctr"/>
            <a:r>
              <a:rPr lang="ko-KR" altLang="en-US" sz="800"/>
              <a:t>백업관리 </a:t>
            </a:r>
            <a:r>
              <a:rPr lang="en-US" altLang="ko-KR" sz="800"/>
              <a:t>…)</a:t>
            </a:r>
            <a:endParaRPr lang="ko-KR" altLang="en-US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62CE57-CE97-982B-5F0E-D09A353C4B2B}"/>
              </a:ext>
            </a:extLst>
          </p:cNvPr>
          <p:cNvSpPr txBox="1"/>
          <p:nvPr/>
        </p:nvSpPr>
        <p:spPr bwMode="auto">
          <a:xfrm>
            <a:off x="7534160" y="3726709"/>
            <a:ext cx="17183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CPU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i9  32 Core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RAM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128GB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GPU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개</a:t>
            </a:r>
            <a:endParaRPr lang="en-US" altLang="ko-KR" sz="1100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 (RTX</a:t>
            </a:r>
            <a:r>
              <a:rPr lang="ko-KR" altLang="en-US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A5000</a:t>
            </a: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  (24GB) x 2)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SSD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9TB (RAID1)</a:t>
            </a:r>
          </a:p>
          <a:p>
            <a:pPr>
              <a:defRPr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OS</a:t>
            </a: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Rocky Linux 9.6</a:t>
            </a:r>
          </a:p>
          <a:p>
            <a:pPr>
              <a:defRPr/>
            </a:pPr>
            <a:r>
              <a:rPr lang="en-US" altLang="ko-KR" sz="110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      (=RHEL)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D54272-DDA7-5716-14B5-459B0DEAAA34}"/>
              </a:ext>
            </a:extLst>
          </p:cNvPr>
          <p:cNvSpPr txBox="1"/>
          <p:nvPr/>
        </p:nvSpPr>
        <p:spPr>
          <a:xfrm>
            <a:off x="357158" y="867191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ceprj2</a:t>
            </a: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ko-KR" altLang="en-US" sz="2400" b="1" dirty="0">
                <a:latin typeface="+mj-ea"/>
                <a:ea typeface="+mj-ea"/>
              </a:rPr>
              <a:t>학과프로젝트서버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429444-99E6-4FC7-DCAB-FFC0C89F76B1}"/>
              </a:ext>
            </a:extLst>
          </p:cNvPr>
          <p:cNvSpPr/>
          <p:nvPr/>
        </p:nvSpPr>
        <p:spPr bwMode="auto">
          <a:xfrm>
            <a:off x="3833448" y="1568563"/>
            <a:ext cx="3682240" cy="37739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129A966C-8AD2-9FDC-6D13-30830E428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920" y="4882796"/>
            <a:ext cx="3647187" cy="433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FD0185B-1085-B3A0-6B46-E853D170C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132" y="4914153"/>
            <a:ext cx="16433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600" dirty="0"/>
              <a:t>Rocky Linux 9.6</a:t>
            </a:r>
            <a:endParaRPr lang="ko-KR" altLang="en-US" sz="1600" dirty="0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F01CFEAC-C2AA-4B6C-C153-F0B76321836D}"/>
              </a:ext>
            </a:extLst>
          </p:cNvPr>
          <p:cNvSpPr/>
          <p:nvPr/>
        </p:nvSpPr>
        <p:spPr bwMode="auto">
          <a:xfrm>
            <a:off x="774195" y="5513612"/>
            <a:ext cx="6732595" cy="576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B4BA367-AA32-9055-6948-C8217600E9ED}"/>
              </a:ext>
            </a:extLst>
          </p:cNvPr>
          <p:cNvSpPr/>
          <p:nvPr/>
        </p:nvSpPr>
        <p:spPr bwMode="auto">
          <a:xfrm>
            <a:off x="6208211" y="3591577"/>
            <a:ext cx="639763" cy="5683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16" name="원통 7">
            <a:extLst>
              <a:ext uri="{FF2B5EF4-FFF2-40B4-BE49-F238E27FC236}">
                <a16:creationId xmlns:a16="http://schemas.microsoft.com/office/drawing/2014/main" id="{AFDA31CE-863B-673F-5468-34209E025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674" y="3926540"/>
            <a:ext cx="792162" cy="561405"/>
          </a:xfrm>
          <a:prstGeom prst="can">
            <a:avLst>
              <a:gd name="adj" fmla="val 250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7" name="모서리가 둥근 직사각형 8">
            <a:extLst>
              <a:ext uri="{FF2B5EF4-FFF2-40B4-BE49-F238E27FC236}">
                <a16:creationId xmlns:a16="http://schemas.microsoft.com/office/drawing/2014/main" id="{AD8F7477-B2B3-2903-D156-B73A479A4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79" y="4612779"/>
            <a:ext cx="720725" cy="647700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8" name="모서리가 둥근 직사각형 12">
            <a:extLst>
              <a:ext uri="{FF2B5EF4-FFF2-40B4-BE49-F238E27FC236}">
                <a16:creationId xmlns:a16="http://schemas.microsoft.com/office/drawing/2014/main" id="{0C59077A-E84B-8A32-ADF0-FB13C6258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04" y="3841254"/>
            <a:ext cx="719137" cy="647700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7" name="모서리가 둥근 직사각형 13">
            <a:extLst>
              <a:ext uri="{FF2B5EF4-FFF2-40B4-BE49-F238E27FC236}">
                <a16:creationId xmlns:a16="http://schemas.microsoft.com/office/drawing/2014/main" id="{720875ED-6A61-087E-06B7-9A18C0A2B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304" y="4214317"/>
            <a:ext cx="719137" cy="649287"/>
          </a:xfrm>
          <a:prstGeom prst="roundRect">
            <a:avLst>
              <a:gd name="adj" fmla="val 11662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B2B745B5-75B5-ADA7-0EBE-357891044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9407" y="5573584"/>
            <a:ext cx="1052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/>
              <a:t>Internet</a:t>
            </a:r>
            <a:endParaRPr lang="ko-KR" altLang="en-US"/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8DC2E74B-4CB1-5CC3-988D-5BD46FB23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129" y="4385767"/>
            <a:ext cx="732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ko-KR" altLang="en-US" sz="1400"/>
              <a:t>웹</a:t>
            </a:r>
            <a:r>
              <a:rPr lang="en-US" altLang="ko-KR" sz="1400"/>
              <a:t>(PC)</a:t>
            </a:r>
            <a:endParaRPr lang="ko-KR" altLang="en-US" sz="1400"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77FDB968-A591-909F-DB6B-90E71E18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634" y="3921943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1400"/>
              <a:t>모바일</a:t>
            </a:r>
            <a:endParaRPr lang="en-US" altLang="ko-KR" sz="1400"/>
          </a:p>
          <a:p>
            <a:pPr algn="ctr"/>
            <a:r>
              <a:rPr lang="ko-KR" altLang="en-US" sz="1400"/>
              <a:t>앱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8CA9C229-FF75-92BB-158C-0E6333F6C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195" y="472390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1200"/>
              <a:t>IoT</a:t>
            </a:r>
          </a:p>
          <a:p>
            <a:pPr algn="ctr"/>
            <a:r>
              <a:rPr lang="ko-KR" altLang="en-US" sz="1200"/>
              <a:t>디바이스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30C0D41-E9E4-4492-47A4-1B2376A9867D}"/>
              </a:ext>
            </a:extLst>
          </p:cNvPr>
          <p:cNvSpPr/>
          <p:nvPr/>
        </p:nvSpPr>
        <p:spPr bwMode="auto">
          <a:xfrm>
            <a:off x="3872459" y="4449414"/>
            <a:ext cx="2214067" cy="4111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52" name="자유형 24">
            <a:extLst>
              <a:ext uri="{FF2B5EF4-FFF2-40B4-BE49-F238E27FC236}">
                <a16:creationId xmlns:a16="http://schemas.microsoft.com/office/drawing/2014/main" id="{621809F6-5591-9FB3-71E3-2FAD146EF8D1}"/>
              </a:ext>
            </a:extLst>
          </p:cNvPr>
          <p:cNvSpPr>
            <a:spLocks/>
          </p:cNvSpPr>
          <p:nvPr/>
        </p:nvSpPr>
        <p:spPr bwMode="auto">
          <a:xfrm>
            <a:off x="1817240" y="3984849"/>
            <a:ext cx="3495395" cy="1892300"/>
          </a:xfrm>
          <a:custGeom>
            <a:avLst/>
            <a:gdLst>
              <a:gd name="T0" fmla="*/ 0 w 3651115"/>
              <a:gd name="T1" fmla="*/ 518401 h 1892671"/>
              <a:gd name="T2" fmla="*/ 421596 w 3651115"/>
              <a:gd name="T3" fmla="*/ 1652406 h 1892671"/>
              <a:gd name="T4" fmla="*/ 1485309 w 3651115"/>
              <a:gd name="T5" fmla="*/ 1859766 h 1892671"/>
              <a:gd name="T6" fmla="*/ 2795493 w 3651115"/>
              <a:gd name="T7" fmla="*/ 1684807 h 1892671"/>
              <a:gd name="T8" fmla="*/ 3651655 w 3651115"/>
              <a:gd name="T9" fmla="*/ 0 h 18926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51115" h="1892671">
                <a:moveTo>
                  <a:pt x="0" y="518809"/>
                </a:moveTo>
                <a:cubicBezTo>
                  <a:pt x="87008" y="974387"/>
                  <a:pt x="174017" y="1429966"/>
                  <a:pt x="421532" y="1653702"/>
                </a:cubicBezTo>
                <a:cubicBezTo>
                  <a:pt x="669047" y="1877438"/>
                  <a:pt x="1089498" y="1855822"/>
                  <a:pt x="1485089" y="1861226"/>
                </a:cubicBezTo>
                <a:cubicBezTo>
                  <a:pt x="1880680" y="1866630"/>
                  <a:pt x="2434077" y="1996332"/>
                  <a:pt x="2795081" y="1686128"/>
                </a:cubicBezTo>
                <a:cubicBezTo>
                  <a:pt x="3156085" y="1375924"/>
                  <a:pt x="3403600" y="687962"/>
                  <a:pt x="365111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ko-KR" altLang="en-US"/>
          </a:p>
        </p:txBody>
      </p:sp>
      <p:sp>
        <p:nvSpPr>
          <p:cNvPr id="55" name="자유형 25">
            <a:extLst>
              <a:ext uri="{FF2B5EF4-FFF2-40B4-BE49-F238E27FC236}">
                <a16:creationId xmlns:a16="http://schemas.microsoft.com/office/drawing/2014/main" id="{33FC47A7-052D-5F85-BA63-6997D703EFB9}"/>
              </a:ext>
            </a:extLst>
          </p:cNvPr>
          <p:cNvSpPr>
            <a:spLocks/>
          </p:cNvSpPr>
          <p:nvPr/>
        </p:nvSpPr>
        <p:spPr bwMode="auto">
          <a:xfrm>
            <a:off x="1188591" y="4048349"/>
            <a:ext cx="4150816" cy="1871663"/>
          </a:xfrm>
          <a:custGeom>
            <a:avLst/>
            <a:gdLst>
              <a:gd name="T0" fmla="*/ 0 w 4163438"/>
              <a:gd name="T1" fmla="*/ 1122893 h 1933031"/>
              <a:gd name="T2" fmla="*/ 356333 w 4163438"/>
              <a:gd name="T3" fmla="*/ 1464891 h 1933031"/>
              <a:gd name="T4" fmla="*/ 1276322 w 4163438"/>
              <a:gd name="T5" fmla="*/ 1664390 h 1933031"/>
              <a:gd name="T6" fmla="*/ 2714615 w 4163438"/>
              <a:gd name="T7" fmla="*/ 1681491 h 1933031"/>
              <a:gd name="T8" fmla="*/ 3543902 w 4163438"/>
              <a:gd name="T9" fmla="*/ 1481992 h 1933031"/>
              <a:gd name="T10" fmla="*/ 3887279 w 4163438"/>
              <a:gd name="T11" fmla="*/ 906294 h 1933031"/>
              <a:gd name="T12" fmla="*/ 4159387 w 4163438"/>
              <a:gd name="T13" fmla="*/ 0 h 19330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163438" h="1933031">
                <a:moveTo>
                  <a:pt x="0" y="1277566"/>
                </a:moveTo>
                <a:cubicBezTo>
                  <a:pt x="71876" y="1420779"/>
                  <a:pt x="143753" y="1563992"/>
                  <a:pt x="356681" y="1666673"/>
                </a:cubicBezTo>
                <a:cubicBezTo>
                  <a:pt x="569609" y="1769354"/>
                  <a:pt x="884136" y="1852579"/>
                  <a:pt x="1277566" y="1893651"/>
                </a:cubicBezTo>
                <a:cubicBezTo>
                  <a:pt x="1670996" y="1934723"/>
                  <a:pt x="2338961" y="1947694"/>
                  <a:pt x="2717259" y="1913107"/>
                </a:cubicBezTo>
                <a:cubicBezTo>
                  <a:pt x="3095557" y="1878520"/>
                  <a:pt x="3351719" y="1833124"/>
                  <a:pt x="3547353" y="1686128"/>
                </a:cubicBezTo>
                <a:cubicBezTo>
                  <a:pt x="3742987" y="1539132"/>
                  <a:pt x="3788383" y="1312153"/>
                  <a:pt x="3891064" y="1031132"/>
                </a:cubicBezTo>
                <a:cubicBezTo>
                  <a:pt x="3993745" y="750111"/>
                  <a:pt x="4078591" y="375055"/>
                  <a:pt x="4163438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7" name="자유형 26">
            <a:extLst>
              <a:ext uri="{FF2B5EF4-FFF2-40B4-BE49-F238E27FC236}">
                <a16:creationId xmlns:a16="http://schemas.microsoft.com/office/drawing/2014/main" id="{19C20B24-7444-47C3-D14D-97FEBFD8860A}"/>
              </a:ext>
            </a:extLst>
          </p:cNvPr>
          <p:cNvSpPr>
            <a:spLocks/>
          </p:cNvSpPr>
          <p:nvPr/>
        </p:nvSpPr>
        <p:spPr bwMode="auto">
          <a:xfrm>
            <a:off x="2483494" y="3997549"/>
            <a:ext cx="2717761" cy="1789113"/>
          </a:xfrm>
          <a:custGeom>
            <a:avLst/>
            <a:gdLst>
              <a:gd name="T0" fmla="*/ 0 w 2840477"/>
              <a:gd name="T1" fmla="*/ 1119546 h 1706585"/>
              <a:gd name="T2" fmla="*/ 103698 w 2840477"/>
              <a:gd name="T3" fmla="*/ 1628431 h 1706585"/>
              <a:gd name="T4" fmla="*/ 421272 w 2840477"/>
              <a:gd name="T5" fmla="*/ 1965077 h 1706585"/>
              <a:gd name="T6" fmla="*/ 1179562 w 2840477"/>
              <a:gd name="T7" fmla="*/ 2059023 h 1706585"/>
              <a:gd name="T8" fmla="*/ 1873036 w 2840477"/>
              <a:gd name="T9" fmla="*/ 1918104 h 1706585"/>
              <a:gd name="T10" fmla="*/ 2287827 w 2840477"/>
              <a:gd name="T11" fmla="*/ 1283954 h 1706585"/>
              <a:gd name="T12" fmla="*/ 2838721 w 2840477"/>
              <a:gd name="T13" fmla="*/ 0 h 17065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40477" h="1706585">
                <a:moveTo>
                  <a:pt x="0" y="927371"/>
                </a:moveTo>
                <a:cubicBezTo>
                  <a:pt x="16753" y="1079771"/>
                  <a:pt x="33507" y="1232171"/>
                  <a:pt x="103762" y="1348903"/>
                </a:cubicBezTo>
                <a:cubicBezTo>
                  <a:pt x="174017" y="1465635"/>
                  <a:pt x="242111" y="1568315"/>
                  <a:pt x="421532" y="1627762"/>
                </a:cubicBezTo>
                <a:cubicBezTo>
                  <a:pt x="600953" y="1687209"/>
                  <a:pt x="938179" y="1712068"/>
                  <a:pt x="1180290" y="1705583"/>
                </a:cubicBezTo>
                <a:cubicBezTo>
                  <a:pt x="1422401" y="1699098"/>
                  <a:pt x="1689371" y="1695856"/>
                  <a:pt x="1874196" y="1588852"/>
                </a:cubicBezTo>
                <a:cubicBezTo>
                  <a:pt x="2059021" y="1481848"/>
                  <a:pt x="2128196" y="1328367"/>
                  <a:pt x="2289243" y="1063558"/>
                </a:cubicBezTo>
                <a:cubicBezTo>
                  <a:pt x="2450290" y="798749"/>
                  <a:pt x="2645383" y="399374"/>
                  <a:pt x="2840477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8" name="TextBox 27">
            <a:extLst>
              <a:ext uri="{FF2B5EF4-FFF2-40B4-BE49-F238E27FC236}">
                <a16:creationId xmlns:a16="http://schemas.microsoft.com/office/drawing/2014/main" id="{EF924D2E-83AF-0D9F-CE98-2838A1353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831" y="4533644"/>
            <a:ext cx="22749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>
                <a:solidFill>
                  <a:srgbClr val="0000CC"/>
                </a:solidFill>
              </a:rPr>
              <a:t>Node/express, SpringBoot</a:t>
            </a:r>
            <a:endParaRPr lang="ko-KR" altLang="en-US" sz="1400">
              <a:solidFill>
                <a:srgbClr val="0000CC"/>
              </a:solidFill>
            </a:endParaRPr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0381BEC6-DE03-E9D5-EF88-2648CED6F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4311" y="3715723"/>
            <a:ext cx="7809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MariaDB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B0C4D3-EA57-544A-986A-B4CC5D1A8889}"/>
              </a:ext>
            </a:extLst>
          </p:cNvPr>
          <p:cNvSpPr txBox="1"/>
          <p:nvPr/>
        </p:nvSpPr>
        <p:spPr>
          <a:xfrm>
            <a:off x="3888329" y="3052459"/>
            <a:ext cx="9830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/>
              <a:t>Bootstrap5</a:t>
            </a:r>
            <a:endParaRPr lang="en-US" altLang="ko-KR" sz="1200" dirty="0"/>
          </a:p>
          <a:p>
            <a:pPr>
              <a:defRPr/>
            </a:pPr>
            <a:r>
              <a:rPr lang="en-US" altLang="ko-KR" sz="1200"/>
              <a:t>React+css</a:t>
            </a:r>
            <a:endParaRPr lang="ko-KR" altLang="en-US" sz="1200" dirty="0"/>
          </a:p>
        </p:txBody>
      </p:sp>
      <p:cxnSp>
        <p:nvCxnSpPr>
          <p:cNvPr id="1024" name="직선 화살표 연결선 21">
            <a:extLst>
              <a:ext uri="{FF2B5EF4-FFF2-40B4-BE49-F238E27FC236}">
                <a16:creationId xmlns:a16="http://schemas.microsoft.com/office/drawing/2014/main" id="{52D8387F-F873-2FAB-7C3E-26932B99F08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8999" y="2638694"/>
            <a:ext cx="33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" name="직사각형 30">
            <a:extLst>
              <a:ext uri="{FF2B5EF4-FFF2-40B4-BE49-F238E27FC236}">
                <a16:creationId xmlns:a16="http://schemas.microsoft.com/office/drawing/2014/main" id="{F764337C-E3E7-9AB7-12A5-6860E3E49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670" y="2414812"/>
            <a:ext cx="250825" cy="1289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27" name="TextBox 32">
            <a:extLst>
              <a:ext uri="{FF2B5EF4-FFF2-40B4-BE49-F238E27FC236}">
                <a16:creationId xmlns:a16="http://schemas.microsoft.com/office/drawing/2014/main" id="{EEF9F456-ABC5-03BE-5651-2D31BF8B2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2504" y="2509784"/>
            <a:ext cx="400110" cy="117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IDE(VSCode)</a:t>
            </a:r>
            <a:endParaRPr lang="ko-KR" altLang="en-US" sz="1400"/>
          </a:p>
        </p:txBody>
      </p:sp>
      <p:sp>
        <p:nvSpPr>
          <p:cNvPr id="1030" name="직사각형 30">
            <a:extLst>
              <a:ext uri="{FF2B5EF4-FFF2-40B4-BE49-F238E27FC236}">
                <a16:creationId xmlns:a16="http://schemas.microsoft.com/office/drawing/2014/main" id="{DDDFB5BA-1222-2877-C525-A67545C2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908" y="3747880"/>
            <a:ext cx="255587" cy="7080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31" name="TextBox 32">
            <a:extLst>
              <a:ext uri="{FF2B5EF4-FFF2-40B4-BE49-F238E27FC236}">
                <a16:creationId xmlns:a16="http://schemas.microsoft.com/office/drawing/2014/main" id="{3798F9ED-4CF0-07B3-F55C-C87BBD26F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973" y="3897105"/>
            <a:ext cx="4000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FTP</a:t>
            </a:r>
            <a:endParaRPr lang="ko-KR" altLang="en-US" sz="1400"/>
          </a:p>
        </p:txBody>
      </p:sp>
      <p:cxnSp>
        <p:nvCxnSpPr>
          <p:cNvPr id="1032" name="직선 화살표 연결선 21">
            <a:extLst>
              <a:ext uri="{FF2B5EF4-FFF2-40B4-BE49-F238E27FC236}">
                <a16:creationId xmlns:a16="http://schemas.microsoft.com/office/drawing/2014/main" id="{10629D47-7B5D-3A8D-97FF-98BC3516FE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8998" y="3879083"/>
            <a:ext cx="3333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3" name="타원 6">
            <a:extLst>
              <a:ext uri="{FF2B5EF4-FFF2-40B4-BE49-F238E27FC236}">
                <a16:creationId xmlns:a16="http://schemas.microsoft.com/office/drawing/2014/main" id="{327A58ED-8ECA-9650-5CDE-C83A1BA10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086" y="2729448"/>
            <a:ext cx="1296987" cy="1152525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4" name="TextBox 22">
            <a:extLst>
              <a:ext uri="{FF2B5EF4-FFF2-40B4-BE49-F238E27FC236}">
                <a16:creationId xmlns:a16="http://schemas.microsoft.com/office/drawing/2014/main" id="{17A843C4-7771-3F12-65A8-7E96517F9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265" y="3143252"/>
            <a:ext cx="10759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1600"/>
              <a:t>OOO</a:t>
            </a:r>
            <a:r>
              <a:rPr lang="ko-KR" altLang="en-US" sz="1600"/>
              <a:t>서버</a:t>
            </a:r>
          </a:p>
        </p:txBody>
      </p:sp>
      <p:sp>
        <p:nvSpPr>
          <p:cNvPr id="1040" name="사각형: 둥근 모서리 1039">
            <a:extLst>
              <a:ext uri="{FF2B5EF4-FFF2-40B4-BE49-F238E27FC236}">
                <a16:creationId xmlns:a16="http://schemas.microsoft.com/office/drawing/2014/main" id="{A0D9568A-694B-F3E0-677F-C0C4EE655DB8}"/>
              </a:ext>
            </a:extLst>
          </p:cNvPr>
          <p:cNvSpPr/>
          <p:nvPr/>
        </p:nvSpPr>
        <p:spPr>
          <a:xfrm>
            <a:off x="5879722" y="1836930"/>
            <a:ext cx="650868" cy="399545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1" name="TextBox 24">
            <a:extLst>
              <a:ext uri="{FF2B5EF4-FFF2-40B4-BE49-F238E27FC236}">
                <a16:creationId xmlns:a16="http://schemas.microsoft.com/office/drawing/2014/main" id="{937B630B-9122-B6D5-B5AF-1D8F3B43D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405" y="1810538"/>
            <a:ext cx="5950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AI</a:t>
            </a:r>
            <a:r>
              <a:rPr lang="ko-KR" altLang="en-US" sz="800" b="1" dirty="0">
                <a:solidFill>
                  <a:srgbClr val="FF0000"/>
                </a:solidFill>
              </a:rPr>
              <a:t>학습용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800" dirty="0"/>
              <a:t>프로그램</a:t>
            </a:r>
            <a:endParaRPr lang="en-US" altLang="ko-KR" sz="800" dirty="0"/>
          </a:p>
          <a:p>
            <a:pPr algn="ctr"/>
            <a:r>
              <a:rPr lang="en-US" altLang="ko-KR" sz="800" dirty="0"/>
              <a:t>(*.</a:t>
            </a:r>
            <a:r>
              <a:rPr lang="en-US" altLang="ko-KR" sz="800" dirty="0" err="1"/>
              <a:t>py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1042" name="사각형: 둥근 모서리 1041">
            <a:extLst>
              <a:ext uri="{FF2B5EF4-FFF2-40B4-BE49-F238E27FC236}">
                <a16:creationId xmlns:a16="http://schemas.microsoft.com/office/drawing/2014/main" id="{C3501A2F-6696-04C8-1009-D4C19F0EEF76}"/>
              </a:ext>
            </a:extLst>
          </p:cNvPr>
          <p:cNvSpPr/>
          <p:nvPr/>
        </p:nvSpPr>
        <p:spPr>
          <a:xfrm>
            <a:off x="4616043" y="1820299"/>
            <a:ext cx="646036" cy="399545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TextBox 24">
            <a:extLst>
              <a:ext uri="{FF2B5EF4-FFF2-40B4-BE49-F238E27FC236}">
                <a16:creationId xmlns:a16="http://schemas.microsoft.com/office/drawing/2014/main" id="{4A22621E-2882-624E-9F36-37923A6E0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0715" y="1793907"/>
            <a:ext cx="821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AI</a:t>
            </a:r>
            <a:r>
              <a:rPr lang="ko-KR" altLang="en-US" sz="800" b="1" dirty="0">
                <a:solidFill>
                  <a:srgbClr val="FF0000"/>
                </a:solidFill>
              </a:rPr>
              <a:t>분석</a:t>
            </a:r>
            <a:r>
              <a:rPr lang="en-US" altLang="ko-KR" sz="800" b="1" dirty="0">
                <a:solidFill>
                  <a:srgbClr val="FF0000"/>
                </a:solidFill>
              </a:rPr>
              <a:t>/</a:t>
            </a:r>
            <a:r>
              <a:rPr lang="ko-KR" altLang="en-US" sz="800" b="1" dirty="0">
                <a:solidFill>
                  <a:srgbClr val="FF0000"/>
                </a:solidFill>
              </a:rPr>
              <a:t>예측용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800" dirty="0"/>
              <a:t>프로그램</a:t>
            </a:r>
            <a:endParaRPr lang="en-US" altLang="ko-KR" sz="800" dirty="0"/>
          </a:p>
          <a:p>
            <a:pPr algn="ctr"/>
            <a:r>
              <a:rPr lang="en-US" altLang="ko-KR" sz="800" dirty="0"/>
              <a:t>(*.</a:t>
            </a:r>
            <a:r>
              <a:rPr lang="en-US" altLang="ko-KR" sz="800" dirty="0" err="1"/>
              <a:t>py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cxnSp>
        <p:nvCxnSpPr>
          <p:cNvPr id="1045" name="직선 화살표 연결선 1044">
            <a:extLst>
              <a:ext uri="{FF2B5EF4-FFF2-40B4-BE49-F238E27FC236}">
                <a16:creationId xmlns:a16="http://schemas.microsoft.com/office/drawing/2014/main" id="{BAD9BA14-A732-D88D-8813-63F919F87902}"/>
              </a:ext>
            </a:extLst>
          </p:cNvPr>
          <p:cNvCxnSpPr>
            <a:cxnSpLocks/>
          </p:cNvCxnSpPr>
          <p:nvPr/>
        </p:nvCxnSpPr>
        <p:spPr>
          <a:xfrm flipH="1">
            <a:off x="7356648" y="1984171"/>
            <a:ext cx="311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BA78C119-2D97-2C98-40DD-6CECE9604ECE}"/>
              </a:ext>
            </a:extLst>
          </p:cNvPr>
          <p:cNvSpPr/>
          <p:nvPr/>
        </p:nvSpPr>
        <p:spPr>
          <a:xfrm>
            <a:off x="6657436" y="1837057"/>
            <a:ext cx="650868" cy="399417"/>
          </a:xfrm>
          <a:prstGeom prst="roundRect">
            <a:avLst>
              <a:gd name="adj" fmla="val 7542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7" name="TextBox 24">
            <a:extLst>
              <a:ext uri="{FF2B5EF4-FFF2-40B4-BE49-F238E27FC236}">
                <a16:creationId xmlns:a16="http://schemas.microsoft.com/office/drawing/2014/main" id="{A29EEF08-1E8F-CA4E-A2B4-CBEB359B3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2917" y="1815207"/>
            <a:ext cx="7954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en-US" altLang="ko-KR" sz="800"/>
              <a:t>AI</a:t>
            </a:r>
            <a:r>
              <a:rPr lang="ko-KR" altLang="en-US" sz="800"/>
              <a:t>데이터수집</a:t>
            </a:r>
            <a:endParaRPr lang="en-US" altLang="ko-KR" sz="800"/>
          </a:p>
          <a:p>
            <a:pPr algn="ctr"/>
            <a:r>
              <a:rPr lang="en-US" altLang="ko-KR" sz="800"/>
              <a:t>(</a:t>
            </a:r>
            <a:r>
              <a:rPr lang="ko-KR" altLang="en-US" sz="800"/>
              <a:t>크롤링</a:t>
            </a:r>
            <a:r>
              <a:rPr lang="en-US" altLang="ko-KR" sz="800"/>
              <a:t>, API </a:t>
            </a:r>
          </a:p>
          <a:p>
            <a:pPr algn="ctr"/>
            <a:r>
              <a:rPr lang="ko-KR" altLang="en-US" sz="800"/>
              <a:t>데이터파일</a:t>
            </a:r>
            <a:r>
              <a:rPr lang="en-US" altLang="ko-KR" sz="800"/>
              <a:t>)</a:t>
            </a:r>
            <a:endParaRPr lang="ko-KR" altLang="en-US" sz="800" dirty="0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C424417E-9A2A-F2F5-477F-796914FF8EC7}"/>
              </a:ext>
            </a:extLst>
          </p:cNvPr>
          <p:cNvSpPr txBox="1"/>
          <p:nvPr/>
        </p:nvSpPr>
        <p:spPr>
          <a:xfrm>
            <a:off x="7650782" y="1874624"/>
            <a:ext cx="665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Data</a:t>
            </a:r>
            <a:endParaRPr lang="ko-KR" altLang="en-US"/>
          </a:p>
        </p:txBody>
      </p:sp>
      <p:sp>
        <p:nvSpPr>
          <p:cNvPr id="1053" name="사각형: 모서리가 접힌 도형 1052">
            <a:extLst>
              <a:ext uri="{FF2B5EF4-FFF2-40B4-BE49-F238E27FC236}">
                <a16:creationId xmlns:a16="http://schemas.microsoft.com/office/drawing/2014/main" id="{F3547C2D-099D-905F-3BB0-86D7C35AE256}"/>
              </a:ext>
            </a:extLst>
          </p:cNvPr>
          <p:cNvSpPr/>
          <p:nvPr/>
        </p:nvSpPr>
        <p:spPr>
          <a:xfrm>
            <a:off x="5426754" y="1917998"/>
            <a:ext cx="309701" cy="218351"/>
          </a:xfrm>
          <a:prstGeom prst="foldedCorner">
            <a:avLst>
              <a:gd name="adj" fmla="val 38045"/>
            </a:avLst>
          </a:prstGeom>
          <a:solidFill>
            <a:schemeClr val="accent6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TextBox 24">
            <a:extLst>
              <a:ext uri="{FF2B5EF4-FFF2-40B4-BE49-F238E27FC236}">
                <a16:creationId xmlns:a16="http://schemas.microsoft.com/office/drawing/2014/main" id="{2A2A8753-A5A5-F797-6A06-145443238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2798" y="1731694"/>
            <a:ext cx="59503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ctr"/>
            <a:r>
              <a:rPr lang="ko-KR" altLang="en-US" sz="800"/>
              <a:t>학습모델</a:t>
            </a:r>
            <a:endParaRPr lang="ko-KR" altLang="en-US" sz="800" dirty="0"/>
          </a:p>
        </p:txBody>
      </p:sp>
      <p:cxnSp>
        <p:nvCxnSpPr>
          <p:cNvPr id="1056" name="직선 화살표 연결선 1055">
            <a:extLst>
              <a:ext uri="{FF2B5EF4-FFF2-40B4-BE49-F238E27FC236}">
                <a16:creationId xmlns:a16="http://schemas.microsoft.com/office/drawing/2014/main" id="{AE286749-A3EE-3013-91C7-6CDE3784D328}"/>
              </a:ext>
            </a:extLst>
          </p:cNvPr>
          <p:cNvCxnSpPr/>
          <p:nvPr/>
        </p:nvCxnSpPr>
        <p:spPr>
          <a:xfrm flipH="1">
            <a:off x="5742494" y="2026654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직선 화살표 연결선 1056">
            <a:extLst>
              <a:ext uri="{FF2B5EF4-FFF2-40B4-BE49-F238E27FC236}">
                <a16:creationId xmlns:a16="http://schemas.microsoft.com/office/drawing/2014/main" id="{DD8C682B-FC9C-4384-38BD-EBAFEF69F9A9}"/>
              </a:ext>
            </a:extLst>
          </p:cNvPr>
          <p:cNvCxnSpPr/>
          <p:nvPr/>
        </p:nvCxnSpPr>
        <p:spPr>
          <a:xfrm flipH="1">
            <a:off x="5282738" y="2027173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타원 19">
            <a:extLst>
              <a:ext uri="{FF2B5EF4-FFF2-40B4-BE49-F238E27FC236}">
                <a16:creationId xmlns:a16="http://schemas.microsoft.com/office/drawing/2014/main" id="{04E1942C-A216-D808-EF8C-8014E81B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856" y="3808804"/>
            <a:ext cx="136525" cy="152400"/>
          </a:xfrm>
          <a:prstGeom prst="ellipse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43E743E0-C2CD-0E0D-CEA0-392A602EEF69}"/>
              </a:ext>
            </a:extLst>
          </p:cNvPr>
          <p:cNvSpPr txBox="1"/>
          <p:nvPr/>
        </p:nvSpPr>
        <p:spPr>
          <a:xfrm>
            <a:off x="5353936" y="3861960"/>
            <a:ext cx="6656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팀전용 포트</a:t>
            </a:r>
            <a:endParaRPr lang="ko-KR" altLang="en-US"/>
          </a:p>
        </p:txBody>
      </p: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A0938AF9-B7BF-2737-1552-6C7E46EEFCA9}"/>
              </a:ext>
            </a:extLst>
          </p:cNvPr>
          <p:cNvCxnSpPr>
            <a:cxnSpLocks/>
            <a:stCxn id="1062" idx="1"/>
          </p:cNvCxnSpPr>
          <p:nvPr/>
        </p:nvCxnSpPr>
        <p:spPr>
          <a:xfrm flipH="1" flipV="1">
            <a:off x="6067073" y="2955253"/>
            <a:ext cx="1518932" cy="2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2209640-E2F7-712D-EDEE-FC1368DE6F9D}"/>
              </a:ext>
            </a:extLst>
          </p:cNvPr>
          <p:cNvSpPr txBox="1"/>
          <p:nvPr/>
        </p:nvSpPr>
        <p:spPr>
          <a:xfrm>
            <a:off x="7586005" y="2845808"/>
            <a:ext cx="1166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API(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chatGPT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경기천년제목 Bold" panose="02020803020101020101" pitchFamily="18" charset="-127"/>
                <a:ea typeface="경기천년제목 Bold" panose="02020803020101020101" pitchFamily="18" charset="-127"/>
                <a:cs typeface="+mn-cs"/>
              </a:rPr>
              <a:t>)</a:t>
            </a:r>
            <a:endParaRPr lang="ko-KR" altLang="en-US" dirty="0"/>
          </a:p>
        </p:txBody>
      </p: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FE0C8709-93C9-0173-C4C3-CD3C2845C891}"/>
              </a:ext>
            </a:extLst>
          </p:cNvPr>
          <p:cNvCxnSpPr/>
          <p:nvPr/>
        </p:nvCxnSpPr>
        <p:spPr>
          <a:xfrm flipH="1">
            <a:off x="6516216" y="2021115"/>
            <a:ext cx="144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직선 화살표 연결선 1064">
            <a:extLst>
              <a:ext uri="{FF2B5EF4-FFF2-40B4-BE49-F238E27FC236}">
                <a16:creationId xmlns:a16="http://schemas.microsoft.com/office/drawing/2014/main" id="{6EA5D0E7-2D0F-2746-24B7-2701110EF666}"/>
              </a:ext>
            </a:extLst>
          </p:cNvPr>
          <p:cNvCxnSpPr>
            <a:cxnSpLocks/>
          </p:cNvCxnSpPr>
          <p:nvPr/>
        </p:nvCxnSpPr>
        <p:spPr>
          <a:xfrm flipV="1">
            <a:off x="5886510" y="2270326"/>
            <a:ext cx="321701" cy="57770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AAE169FA-1950-D1A9-467D-E73BF7FB69F2}"/>
              </a:ext>
            </a:extLst>
          </p:cNvPr>
          <p:cNvCxnSpPr>
            <a:cxnSpLocks/>
          </p:cNvCxnSpPr>
          <p:nvPr/>
        </p:nvCxnSpPr>
        <p:spPr>
          <a:xfrm flipV="1">
            <a:off x="5836785" y="2341711"/>
            <a:ext cx="267028" cy="500828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직선 화살표 연결선 1066">
            <a:extLst>
              <a:ext uri="{FF2B5EF4-FFF2-40B4-BE49-F238E27FC236}">
                <a16:creationId xmlns:a16="http://schemas.microsoft.com/office/drawing/2014/main" id="{87B9B535-D6A3-6958-DD4A-C61268ED22B3}"/>
              </a:ext>
            </a:extLst>
          </p:cNvPr>
          <p:cNvCxnSpPr>
            <a:cxnSpLocks/>
          </p:cNvCxnSpPr>
          <p:nvPr/>
        </p:nvCxnSpPr>
        <p:spPr>
          <a:xfrm flipH="1" flipV="1">
            <a:off x="4932040" y="2261219"/>
            <a:ext cx="152439" cy="553982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직선 화살표 연결선 1067">
            <a:extLst>
              <a:ext uri="{FF2B5EF4-FFF2-40B4-BE49-F238E27FC236}">
                <a16:creationId xmlns:a16="http://schemas.microsoft.com/office/drawing/2014/main" id="{40D180B7-92A4-2F93-18A4-2EA36B7982AF}"/>
              </a:ext>
            </a:extLst>
          </p:cNvPr>
          <p:cNvCxnSpPr>
            <a:cxnSpLocks/>
          </p:cNvCxnSpPr>
          <p:nvPr/>
        </p:nvCxnSpPr>
        <p:spPr>
          <a:xfrm flipH="1" flipV="1">
            <a:off x="4867921" y="2289423"/>
            <a:ext cx="166833" cy="520289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3" name="직사각형 1072">
            <a:extLst>
              <a:ext uri="{FF2B5EF4-FFF2-40B4-BE49-F238E27FC236}">
                <a16:creationId xmlns:a16="http://schemas.microsoft.com/office/drawing/2014/main" id="{98A1098D-622E-61EB-37B5-B814BD6B7863}"/>
              </a:ext>
            </a:extLst>
          </p:cNvPr>
          <p:cNvSpPr/>
          <p:nvPr/>
        </p:nvSpPr>
        <p:spPr>
          <a:xfrm>
            <a:off x="4627884" y="2438441"/>
            <a:ext cx="1864556" cy="20635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CEAE6F3-D186-F54E-6780-4DE2E6E9C35C}"/>
              </a:ext>
            </a:extLst>
          </p:cNvPr>
          <p:cNvSpPr txBox="1"/>
          <p:nvPr/>
        </p:nvSpPr>
        <p:spPr>
          <a:xfrm>
            <a:off x="4867921" y="2437266"/>
            <a:ext cx="12891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Child process </a:t>
            </a:r>
            <a:r>
              <a:rPr lang="ko-KR" altLang="en-US" sz="800" b="1" dirty="0">
                <a:solidFill>
                  <a:srgbClr val="FF0000"/>
                </a:solidFill>
              </a:rPr>
              <a:t>실행방식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83D202-8CA2-0B56-4A04-32107F76FBE7}"/>
              </a:ext>
            </a:extLst>
          </p:cNvPr>
          <p:cNvSpPr txBox="1"/>
          <p:nvPr/>
        </p:nvSpPr>
        <p:spPr>
          <a:xfrm>
            <a:off x="6722214" y="4047859"/>
            <a:ext cx="5646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prstClr val="black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OOO</a:t>
            </a:r>
          </a:p>
          <a:p>
            <a:pPr algn="ctr"/>
            <a:r>
              <a:rPr lang="ko-KR" altLang="en-US" sz="1100">
                <a:solidFill>
                  <a:prstClr val="black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데이터</a:t>
            </a:r>
            <a:endParaRPr lang="ko-KR" altLang="en-US"/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065379C4-2DDD-9B51-2D4F-2FF94FC22121}"/>
              </a:ext>
            </a:extLst>
          </p:cNvPr>
          <p:cNvSpPr txBox="1"/>
          <p:nvPr/>
        </p:nvSpPr>
        <p:spPr>
          <a:xfrm>
            <a:off x="4782377" y="1236909"/>
            <a:ext cx="26773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학과서버</a:t>
            </a:r>
            <a:r>
              <a:rPr lang="en-US" altLang="ko-KR" sz="1400" b="1" dirty="0"/>
              <a:t>(</a:t>
            </a:r>
            <a:r>
              <a:rPr lang="en-US" altLang="ko-KR" sz="1400" b="1" dirty="0">
                <a:solidFill>
                  <a:srgbClr val="FF0000"/>
                </a:solidFill>
              </a:rPr>
              <a:t>ceprj2</a:t>
            </a:r>
            <a:r>
              <a:rPr lang="en-US" altLang="ko-KR" sz="1400" b="1" dirty="0"/>
              <a:t>.gachon.ac.kr)</a:t>
            </a:r>
            <a:endParaRPr lang="ko-KR" altLang="en-US" sz="1400" b="1" dirty="0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31B09AEE-49F5-CF78-B428-02E04C8D4793}"/>
              </a:ext>
            </a:extLst>
          </p:cNvPr>
          <p:cNvSpPr/>
          <p:nvPr/>
        </p:nvSpPr>
        <p:spPr>
          <a:xfrm>
            <a:off x="1100794" y="4207390"/>
            <a:ext cx="191516" cy="344960"/>
          </a:xfrm>
          <a:custGeom>
            <a:avLst/>
            <a:gdLst>
              <a:gd name="connsiteX0" fmla="*/ 0 w 304800"/>
              <a:gd name="connsiteY0" fmla="*/ 544945 h 544945"/>
              <a:gd name="connsiteX1" fmla="*/ 27709 w 304800"/>
              <a:gd name="connsiteY1" fmla="*/ 304800 h 544945"/>
              <a:gd name="connsiteX2" fmla="*/ 147782 w 304800"/>
              <a:gd name="connsiteY2" fmla="*/ 101600 h 544945"/>
              <a:gd name="connsiteX3" fmla="*/ 304800 w 304800"/>
              <a:gd name="connsiteY3" fmla="*/ 0 h 54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" h="544945">
                <a:moveTo>
                  <a:pt x="0" y="544945"/>
                </a:moveTo>
                <a:cubicBezTo>
                  <a:pt x="1539" y="461818"/>
                  <a:pt x="3079" y="378691"/>
                  <a:pt x="27709" y="304800"/>
                </a:cubicBezTo>
                <a:cubicBezTo>
                  <a:pt x="52339" y="230909"/>
                  <a:pt x="101600" y="152400"/>
                  <a:pt x="147782" y="101600"/>
                </a:cubicBezTo>
                <a:cubicBezTo>
                  <a:pt x="193964" y="50800"/>
                  <a:pt x="249382" y="25400"/>
                  <a:pt x="304800" y="0"/>
                </a:cubicBezTo>
              </a:path>
            </a:pathLst>
          </a:custGeom>
          <a:noFill/>
          <a:ln w="19050">
            <a:solidFill>
              <a:srgbClr val="0000C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5F05DC67-3E27-A176-4FE1-80481E0FAE8A}"/>
              </a:ext>
            </a:extLst>
          </p:cNvPr>
          <p:cNvSpPr txBox="1"/>
          <p:nvPr/>
        </p:nvSpPr>
        <p:spPr>
          <a:xfrm>
            <a:off x="583735" y="4083224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srgbClr val="0000CC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블루투스</a:t>
            </a:r>
            <a:endParaRPr lang="en-US" altLang="ko-KR" sz="1200" b="1">
              <a:solidFill>
                <a:srgbClr val="0000CC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en-US" altLang="ko-KR" sz="1200" b="1">
                <a:solidFill>
                  <a:srgbClr val="0000CC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(BLE)</a:t>
            </a:r>
            <a:endParaRPr lang="ko-KR" altLang="en-US" sz="1200" b="1">
              <a:solidFill>
                <a:srgbClr val="0000CC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E797602-E248-7155-9325-B0B3734DBC27}"/>
              </a:ext>
            </a:extLst>
          </p:cNvPr>
          <p:cNvCxnSpPr>
            <a:cxnSpLocks/>
          </p:cNvCxnSpPr>
          <p:nvPr/>
        </p:nvCxnSpPr>
        <p:spPr>
          <a:xfrm>
            <a:off x="5995209" y="3613498"/>
            <a:ext cx="217207" cy="121896"/>
          </a:xfrm>
          <a:prstGeom prst="straightConnector1">
            <a:avLst/>
          </a:prstGeom>
          <a:ln w="31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8">
            <a:extLst>
              <a:ext uri="{FF2B5EF4-FFF2-40B4-BE49-F238E27FC236}">
                <a16:creationId xmlns:a16="http://schemas.microsoft.com/office/drawing/2014/main" id="{E2456058-45F3-9BEF-9E4B-9E56A6E2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804" y="2833198"/>
            <a:ext cx="8162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5540627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66517" y="1359214"/>
            <a:ext cx="4171246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lnSpc>
                <a:spcPts val="162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j-ea"/>
              </a:rPr>
              <a:t>서버</a:t>
            </a:r>
            <a:r>
              <a:rPr lang="en-US" altLang="ko-KR" sz="1600" dirty="0">
                <a:latin typeface="+mj-ea"/>
              </a:rPr>
              <a:t>:  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ceprj.gachon.ac.kr</a:t>
            </a:r>
          </a:p>
          <a:p>
            <a:pPr lvl="1">
              <a:lnSpc>
                <a:spcPts val="1620"/>
              </a:lnSpc>
            </a:pP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           ceprj2.gachon.ac.kr 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437565" y="2056908"/>
            <a:ext cx="3305030" cy="3172292"/>
            <a:chOff x="4862938" y="2059130"/>
            <a:chExt cx="4450021" cy="430234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2938" y="2059130"/>
              <a:ext cx="4450021" cy="4302343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478829" y="2936631"/>
              <a:ext cx="1656184" cy="37737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7" name="직선 화살표 연결선 26"/>
          <p:cNvCxnSpPr>
            <a:cxnSpLocks/>
          </p:cNvCxnSpPr>
          <p:nvPr/>
        </p:nvCxnSpPr>
        <p:spPr>
          <a:xfrm flipH="1" flipV="1">
            <a:off x="1775687" y="1876365"/>
            <a:ext cx="486838" cy="1015625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4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B80AEF9-FF6B-B3B4-BB82-4E47FF423B43}"/>
              </a:ext>
            </a:extLst>
          </p:cNvPr>
          <p:cNvCxnSpPr/>
          <p:nvPr/>
        </p:nvCxnSpPr>
        <p:spPr>
          <a:xfrm>
            <a:off x="1686461" y="2891990"/>
            <a:ext cx="576064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619205-5199-5107-1F7F-53F792E1A5B4}"/>
              </a:ext>
            </a:extLst>
          </p:cNvPr>
          <p:cNvSpPr txBox="1"/>
          <p:nvPr/>
        </p:nvSpPr>
        <p:spPr>
          <a:xfrm>
            <a:off x="-111130" y="920246"/>
            <a:ext cx="8211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P-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실무프로젝트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팀계정과 팀전용포트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)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7386294C-0D58-872D-E46A-DCF995FA14DD}"/>
              </a:ext>
            </a:extLst>
          </p:cNvPr>
          <p:cNvSpPr txBox="1"/>
          <p:nvPr/>
        </p:nvSpPr>
        <p:spPr>
          <a:xfrm>
            <a:off x="-107988" y="5482685"/>
            <a:ext cx="5892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j-ea"/>
              </a:rPr>
              <a:t>방화벽 개방포트 </a:t>
            </a:r>
            <a:r>
              <a:rPr lang="en-US" altLang="ko-KR" sz="1600" dirty="0">
                <a:latin typeface="+mj-ea"/>
              </a:rPr>
              <a:t>:  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ftp</a:t>
            </a:r>
            <a:r>
              <a:rPr lang="en-US" altLang="ko-KR" sz="1600" dirty="0">
                <a:latin typeface="+mj-ea"/>
              </a:rPr>
              <a:t>(21), </a:t>
            </a:r>
            <a:r>
              <a:rPr lang="en-US" altLang="ko-KR" sz="1600" b="1" dirty="0" err="1">
                <a:solidFill>
                  <a:srgbClr val="FF0000"/>
                </a:solidFill>
                <a:latin typeface="+mj-ea"/>
              </a:rPr>
              <a:t>ssh</a:t>
            </a:r>
            <a:r>
              <a:rPr lang="en-US" altLang="ko-KR" sz="1600" dirty="0">
                <a:latin typeface="+mj-ea"/>
              </a:rPr>
              <a:t>(22),  </a:t>
            </a:r>
            <a:r>
              <a:rPr lang="en-US" altLang="ko-KR" sz="1600" b="1" dirty="0">
                <a:solidFill>
                  <a:srgbClr val="FF0000"/>
                </a:solidFill>
                <a:latin typeface="+mj-ea"/>
              </a:rPr>
              <a:t>http</a:t>
            </a:r>
            <a:r>
              <a:rPr lang="en-US" altLang="ko-KR" sz="1600" dirty="0">
                <a:latin typeface="+mj-ea"/>
              </a:rPr>
              <a:t>(80)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2A18B-AECC-12BF-0121-29449D55E9BA}"/>
              </a:ext>
            </a:extLst>
          </p:cNvPr>
          <p:cNvSpPr txBox="1"/>
          <p:nvPr/>
        </p:nvSpPr>
        <p:spPr>
          <a:xfrm>
            <a:off x="516481" y="5869325"/>
            <a:ext cx="8264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반드시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!, 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팀전용포트 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개로 </a:t>
            </a:r>
            <a:r>
              <a:rPr lang="ko-KR" altLang="en-US" sz="1400" dirty="0" err="1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프런트엔드와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백엔드를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모두 사용하도록 구성할 것 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!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AI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학습용프로그램과  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AI</a:t>
            </a:r>
            <a:r>
              <a:rPr lang="ko-KR" altLang="en-US" sz="1400" dirty="0" err="1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예측용프로그램을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분리하되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sz="1400" dirty="0" err="1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백엔드에서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Child process </a:t>
            </a:r>
            <a:r>
              <a:rPr lang="ko-KR" altLang="en-US" sz="140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실행하는 방식으로 처리할 것</a:t>
            </a:r>
            <a:endParaRPr lang="en-US" altLang="ko-KR" sz="1400" dirty="0">
              <a:solidFill>
                <a:srgbClr val="FF000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534447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64089-C7F2-C816-811A-984084B4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41DB99-AC59-8893-6B31-720605C21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0A1216BB-7302-5DCA-26DB-A7AC5232B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슬라이드 번호 개체 틀 1">
            <a:extLst>
              <a:ext uri="{FF2B5EF4-FFF2-40B4-BE49-F238E27FC236}">
                <a16:creationId xmlns:a16="http://schemas.microsoft.com/office/drawing/2014/main" id="{A5EFF6C1-F9F4-BF86-A876-2A2473B6753D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5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E2B116-D655-B17F-40FA-846545E17D8F}"/>
              </a:ext>
            </a:extLst>
          </p:cNvPr>
          <p:cNvSpPr txBox="1"/>
          <p:nvPr/>
        </p:nvSpPr>
        <p:spPr>
          <a:xfrm>
            <a:off x="-111130" y="920246"/>
            <a:ext cx="8211522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P-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실무프로젝트</a:t>
            </a:r>
            <a:endParaRPr lang="en-US" altLang="ko-KR" sz="2000" b="1" dirty="0">
              <a:solidFill>
                <a:srgbClr val="0000CC"/>
              </a:solidFill>
              <a:latin typeface="+mj-ea"/>
            </a:endParaRPr>
          </a:p>
          <a:p>
            <a:pPr lvl="1">
              <a:spcBef>
                <a:spcPts val="300"/>
              </a:spcBef>
            </a:pP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  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(3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학년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)</a:t>
            </a:r>
            <a:endParaRPr lang="en-US" altLang="ko-KR" sz="2000" b="1" dirty="0">
              <a:solidFill>
                <a:srgbClr val="FF0000"/>
              </a:solidFill>
              <a:latin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A2A52B3-3380-EB05-E5D7-091A216C44B6}"/>
              </a:ext>
            </a:extLst>
          </p:cNvPr>
          <p:cNvCxnSpPr>
            <a:cxnSpLocks/>
          </p:cNvCxnSpPr>
          <p:nvPr/>
        </p:nvCxnSpPr>
        <p:spPr>
          <a:xfrm>
            <a:off x="3011487" y="1746497"/>
            <a:ext cx="5771359" cy="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FB7C0B-D662-F8BD-E7E9-D4A29BD7786A}"/>
              </a:ext>
            </a:extLst>
          </p:cNvPr>
          <p:cNvSpPr txBox="1"/>
          <p:nvPr/>
        </p:nvSpPr>
        <p:spPr>
          <a:xfrm>
            <a:off x="6602408" y="1766550"/>
            <a:ext cx="705642" cy="3775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60008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60009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60010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60011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60012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60013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60016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60017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60018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60019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60020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05704-0356-83F4-CC82-737E7F0FE8CF}"/>
              </a:ext>
            </a:extLst>
          </p:cNvPr>
          <p:cNvSpPr txBox="1"/>
          <p:nvPr/>
        </p:nvSpPr>
        <p:spPr>
          <a:xfrm>
            <a:off x="4753239" y="141411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팀번호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B687A-0AE7-4FAC-422E-060F546EC061}"/>
              </a:ext>
            </a:extLst>
          </p:cNvPr>
          <p:cNvSpPr txBox="1"/>
          <p:nvPr/>
        </p:nvSpPr>
        <p:spPr>
          <a:xfrm>
            <a:off x="5484658" y="1258192"/>
            <a:ext cx="1031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계정</a:t>
            </a:r>
            <a:r>
              <a:rPr lang="en-US" altLang="ko-KR" sz="1400" dirty="0"/>
              <a:t>ID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팀장관리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0EE7C7-6012-D9F1-24FA-35BC8EB0B6CF}"/>
              </a:ext>
            </a:extLst>
          </p:cNvPr>
          <p:cNvSpPr txBox="1"/>
          <p:nvPr/>
        </p:nvSpPr>
        <p:spPr>
          <a:xfrm>
            <a:off x="6467203" y="141411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팀전용포트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E0026-762E-B17C-3ECA-ABBE03F21CCA}"/>
              </a:ext>
            </a:extLst>
          </p:cNvPr>
          <p:cNvSpPr txBox="1"/>
          <p:nvPr/>
        </p:nvSpPr>
        <p:spPr>
          <a:xfrm>
            <a:off x="5186673" y="5562072"/>
            <a:ext cx="6127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66"/>
                </a:solidFill>
              </a:rPr>
              <a:t>team</a:t>
            </a:r>
            <a:endParaRPr lang="ko-KR" altLang="en-US" sz="1100" b="1" dirty="0">
              <a:solidFill>
                <a:srgbClr val="FF006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EDB7E-96C2-3845-655C-6D5368FBD7A7}"/>
              </a:ext>
            </a:extLst>
          </p:cNvPr>
          <p:cNvSpPr txBox="1"/>
          <p:nvPr/>
        </p:nvSpPr>
        <p:spPr>
          <a:xfrm>
            <a:off x="5747294" y="5720580"/>
            <a:ext cx="998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00CC"/>
                </a:solidFill>
              </a:rPr>
              <a:t>2025-P</a:t>
            </a:r>
            <a:r>
              <a:rPr lang="ko-KR" altLang="en-US" sz="1100" b="1" dirty="0">
                <a:solidFill>
                  <a:srgbClr val="0000CC"/>
                </a:solidFill>
              </a:rPr>
              <a:t>학기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8A3D46-632B-9A12-D480-CA45F0C2C4C0}"/>
              </a:ext>
            </a:extLst>
          </p:cNvPr>
          <p:cNvSpPr txBox="1"/>
          <p:nvPr/>
        </p:nvSpPr>
        <p:spPr>
          <a:xfrm>
            <a:off x="6687357" y="5671856"/>
            <a:ext cx="12461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00B050"/>
                </a:solidFill>
              </a:rPr>
              <a:t>일련번호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66D69488-4C42-B26D-64E4-5ACD946F7528}"/>
              </a:ext>
            </a:extLst>
          </p:cNvPr>
          <p:cNvSpPr/>
          <p:nvPr/>
        </p:nvSpPr>
        <p:spPr>
          <a:xfrm>
            <a:off x="5645081" y="5541943"/>
            <a:ext cx="83890" cy="197819"/>
          </a:xfrm>
          <a:custGeom>
            <a:avLst/>
            <a:gdLst>
              <a:gd name="connsiteX0" fmla="*/ 0 w 83890"/>
              <a:gd name="connsiteY0" fmla="*/ 188752 h 197819"/>
              <a:gd name="connsiteX1" fmla="*/ 58723 w 83890"/>
              <a:gd name="connsiteY1" fmla="*/ 176169 h 197819"/>
              <a:gd name="connsiteX2" fmla="*/ 83890 w 83890"/>
              <a:gd name="connsiteY2" fmla="*/ 0 h 19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90" h="197819">
                <a:moveTo>
                  <a:pt x="0" y="188752"/>
                </a:moveTo>
                <a:cubicBezTo>
                  <a:pt x="22370" y="198190"/>
                  <a:pt x="44741" y="207628"/>
                  <a:pt x="58723" y="176169"/>
                </a:cubicBezTo>
                <a:cubicBezTo>
                  <a:pt x="72705" y="144710"/>
                  <a:pt x="78297" y="72355"/>
                  <a:pt x="8389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BEE97954-3429-BFD3-0ADE-F7579F49A87D}"/>
              </a:ext>
            </a:extLst>
          </p:cNvPr>
          <p:cNvSpPr/>
          <p:nvPr/>
        </p:nvSpPr>
        <p:spPr>
          <a:xfrm>
            <a:off x="6161056" y="5548235"/>
            <a:ext cx="549097" cy="261610"/>
          </a:xfrm>
          <a:custGeom>
            <a:avLst/>
            <a:gdLst>
              <a:gd name="connsiteX0" fmla="*/ 574646 w 574646"/>
              <a:gd name="connsiteY0" fmla="*/ 192946 h 199916"/>
              <a:gd name="connsiteX1" fmla="*/ 444617 w 574646"/>
              <a:gd name="connsiteY1" fmla="*/ 188752 h 199916"/>
              <a:gd name="connsiteX2" fmla="*/ 419450 w 574646"/>
              <a:gd name="connsiteY2" fmla="*/ 88084 h 199916"/>
              <a:gd name="connsiteX3" fmla="*/ 88085 w 574646"/>
              <a:gd name="connsiteY3" fmla="*/ 67112 h 199916"/>
              <a:gd name="connsiteX4" fmla="*/ 0 w 574646"/>
              <a:gd name="connsiteY4" fmla="*/ 0 h 19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646" h="199916">
                <a:moveTo>
                  <a:pt x="574646" y="192946"/>
                </a:moveTo>
                <a:cubicBezTo>
                  <a:pt x="522564" y="199587"/>
                  <a:pt x="470483" y="206229"/>
                  <a:pt x="444617" y="188752"/>
                </a:cubicBezTo>
                <a:cubicBezTo>
                  <a:pt x="418751" y="171275"/>
                  <a:pt x="478872" y="108357"/>
                  <a:pt x="419450" y="88084"/>
                </a:cubicBezTo>
                <a:cubicBezTo>
                  <a:pt x="360028" y="67811"/>
                  <a:pt x="157993" y="81793"/>
                  <a:pt x="88085" y="67112"/>
                </a:cubicBezTo>
                <a:cubicBezTo>
                  <a:pt x="18177" y="52431"/>
                  <a:pt x="9088" y="26215"/>
                  <a:pt x="0" y="0"/>
                </a:cubicBezTo>
              </a:path>
            </a:pathLst>
          </a:custGeom>
          <a:noFill/>
          <a:ln w="952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86A6904-0BB7-E5D3-61E0-5223E1FA3B24}"/>
              </a:ext>
            </a:extLst>
          </p:cNvPr>
          <p:cNvCxnSpPr>
            <a:cxnSpLocks/>
          </p:cNvCxnSpPr>
          <p:nvPr/>
        </p:nvCxnSpPr>
        <p:spPr>
          <a:xfrm>
            <a:off x="7549551" y="1332400"/>
            <a:ext cx="0" cy="4111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9BD780F-DD47-FE1D-FC42-E6A1E23AE43E}"/>
              </a:ext>
            </a:extLst>
          </p:cNvPr>
          <p:cNvSpPr txBox="1"/>
          <p:nvPr/>
        </p:nvSpPr>
        <p:spPr>
          <a:xfrm>
            <a:off x="7620000" y="1447386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초기암호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3D92C-807C-3817-8FCB-F3516014BEB1}"/>
              </a:ext>
            </a:extLst>
          </p:cNvPr>
          <p:cNvSpPr txBox="1"/>
          <p:nvPr/>
        </p:nvSpPr>
        <p:spPr>
          <a:xfrm>
            <a:off x="5567941" y="1772496"/>
            <a:ext cx="837152" cy="3775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 t25301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t25306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/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t25309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t</a:t>
            </a:r>
            <a:r>
              <a:rPr lang="en-US" altLang="ko-KR" sz="1400" b="1" dirty="0">
                <a:solidFill>
                  <a:srgbClr val="0000CC"/>
                </a:solidFill>
              </a:rPr>
              <a:t>253</a:t>
            </a:r>
            <a:r>
              <a:rPr lang="en-US" altLang="ko-KR" sz="1400" b="1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0C88C4A6-C4C0-8CC6-EFA9-716DCCBE78E2}"/>
              </a:ext>
            </a:extLst>
          </p:cNvPr>
          <p:cNvSpPr/>
          <p:nvPr/>
        </p:nvSpPr>
        <p:spPr>
          <a:xfrm>
            <a:off x="5888799" y="5562072"/>
            <a:ext cx="34669" cy="199348"/>
          </a:xfrm>
          <a:custGeom>
            <a:avLst/>
            <a:gdLst>
              <a:gd name="connsiteX0" fmla="*/ 0 w 34669"/>
              <a:gd name="connsiteY0" fmla="*/ 199348 h 199348"/>
              <a:gd name="connsiteX1" fmla="*/ 34669 w 34669"/>
              <a:gd name="connsiteY1" fmla="*/ 0 h 1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69" h="199348">
                <a:moveTo>
                  <a:pt x="0" y="199348"/>
                </a:moveTo>
                <a:lnTo>
                  <a:pt x="34669" y="0"/>
                </a:lnTo>
              </a:path>
            </a:pathLst>
          </a:custGeom>
          <a:noFill/>
          <a:ln w="127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AD381C-DC94-013F-A28C-A3A9D332F184}"/>
              </a:ext>
            </a:extLst>
          </p:cNvPr>
          <p:cNvSpPr txBox="1"/>
          <p:nvPr/>
        </p:nvSpPr>
        <p:spPr>
          <a:xfrm>
            <a:off x="7710634" y="3428178"/>
            <a:ext cx="1183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33past253</a:t>
            </a:r>
          </a:p>
          <a:p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암호 반드시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변경할 것 </a:t>
            </a:r>
            <a:r>
              <a:rPr lang="en-US" altLang="ko-KR" sz="1200" b="1" dirty="0">
                <a:solidFill>
                  <a:srgbClr val="00B050"/>
                </a:solidFill>
              </a:rPr>
              <a:t>!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B942FE8-B6F0-F815-0FE5-C35D26E90EF5}"/>
              </a:ext>
            </a:extLst>
          </p:cNvPr>
          <p:cNvCxnSpPr>
            <a:cxnSpLocks/>
          </p:cNvCxnSpPr>
          <p:nvPr/>
        </p:nvCxnSpPr>
        <p:spPr>
          <a:xfrm>
            <a:off x="6506693" y="1417914"/>
            <a:ext cx="9016" cy="4025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0E84B25-ED22-7ED3-B5ED-E3306813F7A7}"/>
              </a:ext>
            </a:extLst>
          </p:cNvPr>
          <p:cNvCxnSpPr>
            <a:cxnSpLocks/>
          </p:cNvCxnSpPr>
          <p:nvPr/>
        </p:nvCxnSpPr>
        <p:spPr>
          <a:xfrm>
            <a:off x="5542518" y="1356256"/>
            <a:ext cx="25423" cy="4088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9E1311F-91E3-B899-C203-D45143587408}"/>
              </a:ext>
            </a:extLst>
          </p:cNvPr>
          <p:cNvCxnSpPr>
            <a:cxnSpLocks/>
          </p:cNvCxnSpPr>
          <p:nvPr/>
        </p:nvCxnSpPr>
        <p:spPr>
          <a:xfrm>
            <a:off x="4753239" y="1414111"/>
            <a:ext cx="0" cy="4127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06D79EE-5C1B-410C-3299-6E511D41C94C}"/>
              </a:ext>
            </a:extLst>
          </p:cNvPr>
          <p:cNvSpPr txBox="1"/>
          <p:nvPr/>
        </p:nvSpPr>
        <p:spPr>
          <a:xfrm>
            <a:off x="4070771" y="141207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교수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85C9287-DECE-4DFB-280B-A19D1BE22D83}"/>
              </a:ext>
            </a:extLst>
          </p:cNvPr>
          <p:cNvCxnSpPr>
            <a:cxnSpLocks/>
          </p:cNvCxnSpPr>
          <p:nvPr/>
        </p:nvCxnSpPr>
        <p:spPr>
          <a:xfrm>
            <a:off x="3947591" y="1449368"/>
            <a:ext cx="0" cy="4092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EAAF0D-7DF5-DE44-AA47-5F9699D48335}"/>
              </a:ext>
            </a:extLst>
          </p:cNvPr>
          <p:cNvSpPr txBox="1"/>
          <p:nvPr/>
        </p:nvSpPr>
        <p:spPr>
          <a:xfrm>
            <a:off x="3089348" y="1386077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서버명</a:t>
            </a:r>
            <a:endParaRPr lang="ko-KR" alt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A000AB79-0574-F892-5384-FC9B30E8D06E}"/>
              </a:ext>
            </a:extLst>
          </p:cNvPr>
          <p:cNvSpPr txBox="1"/>
          <p:nvPr/>
        </p:nvSpPr>
        <p:spPr>
          <a:xfrm>
            <a:off x="3002636" y="3499855"/>
            <a:ext cx="1109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</a:rPr>
              <a:t>ceprj</a:t>
            </a:r>
            <a:endParaRPr lang="ko-KR" altLang="en-US" sz="2000" b="1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0127C-4DF3-B04D-7933-04788FDB53D8}"/>
              </a:ext>
            </a:extLst>
          </p:cNvPr>
          <p:cNvSpPr txBox="1"/>
          <p:nvPr/>
        </p:nvSpPr>
        <p:spPr>
          <a:xfrm>
            <a:off x="4940127" y="1787053"/>
            <a:ext cx="393121" cy="3775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/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16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19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CC1E5-37BA-B0E8-7F38-18FB85820349}"/>
              </a:ext>
            </a:extLst>
          </p:cNvPr>
          <p:cNvSpPr txBox="1"/>
          <p:nvPr/>
        </p:nvSpPr>
        <p:spPr>
          <a:xfrm>
            <a:off x="4031066" y="2649598"/>
            <a:ext cx="1183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이경현</a:t>
            </a:r>
            <a:endParaRPr lang="en-US" altLang="ko-KR" sz="1200" b="1" dirty="0"/>
          </a:p>
          <a:p>
            <a:r>
              <a:rPr lang="en-US" altLang="ko-KR" sz="1200" b="1" dirty="0"/>
              <a:t>(7</a:t>
            </a:r>
            <a:r>
              <a:rPr lang="ko-KR" altLang="en-US" sz="1200" b="1" dirty="0"/>
              <a:t>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DE29F-7B6F-B309-B06A-52C6361C2E64}"/>
              </a:ext>
            </a:extLst>
          </p:cNvPr>
          <p:cNvSpPr txBox="1"/>
          <p:nvPr/>
        </p:nvSpPr>
        <p:spPr>
          <a:xfrm>
            <a:off x="4049077" y="4451129"/>
            <a:ext cx="672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황희정</a:t>
            </a:r>
            <a:endParaRPr lang="en-US" altLang="ko-KR" sz="1200" b="1" dirty="0"/>
          </a:p>
          <a:p>
            <a:r>
              <a:rPr lang="en-US" altLang="ko-KR" sz="1200" b="1" dirty="0"/>
              <a:t>(6</a:t>
            </a:r>
            <a:r>
              <a:rPr lang="ko-KR" altLang="en-US" sz="1200" b="1" dirty="0"/>
              <a:t>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04456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AE25D-1BB0-8A4D-C9C1-496EBA1C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1DF75E-980B-A74B-4545-6B97E73C6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03D90963-0237-14A2-DC5A-7DDD8982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슬라이드 번호 개체 틀 1">
            <a:extLst>
              <a:ext uri="{FF2B5EF4-FFF2-40B4-BE49-F238E27FC236}">
                <a16:creationId xmlns:a16="http://schemas.microsoft.com/office/drawing/2014/main" id="{F180C1C7-3445-5A02-70CB-D09DEF497E24}"/>
              </a:ext>
            </a:extLst>
          </p:cNvPr>
          <p:cNvSpPr txBox="1">
            <a:spLocks/>
          </p:cNvSpPr>
          <p:nvPr/>
        </p:nvSpPr>
        <p:spPr>
          <a:xfrm>
            <a:off x="7178413" y="6226569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6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4AD38-0DD7-5EB6-D5AC-666673FBA2E0}"/>
              </a:ext>
            </a:extLst>
          </p:cNvPr>
          <p:cNvSpPr txBox="1"/>
          <p:nvPr/>
        </p:nvSpPr>
        <p:spPr>
          <a:xfrm>
            <a:off x="-111130" y="920246"/>
            <a:ext cx="8211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P-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실무프로젝트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(3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학년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)</a:t>
            </a:r>
            <a:endParaRPr lang="en-US" altLang="ko-KR" sz="2000" b="1" dirty="0">
              <a:solidFill>
                <a:srgbClr val="FF0000"/>
              </a:solidFill>
              <a:latin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138743-7F7E-1D8A-CF64-44DB6258F739}"/>
              </a:ext>
            </a:extLst>
          </p:cNvPr>
          <p:cNvCxnSpPr>
            <a:cxnSpLocks/>
          </p:cNvCxnSpPr>
          <p:nvPr/>
        </p:nvCxnSpPr>
        <p:spPr>
          <a:xfrm>
            <a:off x="3011487" y="1541041"/>
            <a:ext cx="5771359" cy="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0409DB-2C86-A210-08B3-7CA3837F5DB0}"/>
              </a:ext>
            </a:extLst>
          </p:cNvPr>
          <p:cNvSpPr txBox="1"/>
          <p:nvPr/>
        </p:nvSpPr>
        <p:spPr>
          <a:xfrm>
            <a:off x="4753239" y="120865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팀번호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B6091-2D6B-BB62-8455-2098D7F30B3E}"/>
              </a:ext>
            </a:extLst>
          </p:cNvPr>
          <p:cNvSpPr txBox="1"/>
          <p:nvPr/>
        </p:nvSpPr>
        <p:spPr>
          <a:xfrm>
            <a:off x="5484658" y="1052736"/>
            <a:ext cx="1031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계정</a:t>
            </a:r>
            <a:r>
              <a:rPr lang="en-US" altLang="ko-KR" sz="1400" dirty="0"/>
              <a:t>ID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팀장관리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9B0B19-1CE2-97A3-8C73-55F018B8A4D3}"/>
              </a:ext>
            </a:extLst>
          </p:cNvPr>
          <p:cNvSpPr txBox="1"/>
          <p:nvPr/>
        </p:nvSpPr>
        <p:spPr>
          <a:xfrm>
            <a:off x="6467203" y="120865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팀전용포트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CC3B19-201F-89CD-B4D3-1FB8090714AD}"/>
              </a:ext>
            </a:extLst>
          </p:cNvPr>
          <p:cNvSpPr txBox="1"/>
          <p:nvPr/>
        </p:nvSpPr>
        <p:spPr>
          <a:xfrm>
            <a:off x="5292080" y="6105226"/>
            <a:ext cx="6127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66"/>
                </a:solidFill>
              </a:rPr>
              <a:t>team</a:t>
            </a:r>
            <a:endParaRPr lang="ko-KR" altLang="en-US" sz="1100" b="1" dirty="0">
              <a:solidFill>
                <a:srgbClr val="FF006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B4E38F-300C-4525-5621-0632755F0C87}"/>
              </a:ext>
            </a:extLst>
          </p:cNvPr>
          <p:cNvSpPr txBox="1"/>
          <p:nvPr/>
        </p:nvSpPr>
        <p:spPr>
          <a:xfrm>
            <a:off x="5852701" y="6263734"/>
            <a:ext cx="998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00CC"/>
                </a:solidFill>
              </a:rPr>
              <a:t>2025-P</a:t>
            </a:r>
            <a:r>
              <a:rPr lang="ko-KR" altLang="en-US" sz="1100" b="1" dirty="0">
                <a:solidFill>
                  <a:srgbClr val="0000CC"/>
                </a:solidFill>
              </a:rPr>
              <a:t>학기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A2861D-3F64-4B2E-DE09-94D42087D4D2}"/>
              </a:ext>
            </a:extLst>
          </p:cNvPr>
          <p:cNvSpPr txBox="1"/>
          <p:nvPr/>
        </p:nvSpPr>
        <p:spPr>
          <a:xfrm>
            <a:off x="6792764" y="6215010"/>
            <a:ext cx="12461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00B050"/>
                </a:solidFill>
              </a:rPr>
              <a:t>일련번호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A1438A73-51DC-2DF9-4421-56E65680D456}"/>
              </a:ext>
            </a:extLst>
          </p:cNvPr>
          <p:cNvSpPr/>
          <p:nvPr/>
        </p:nvSpPr>
        <p:spPr>
          <a:xfrm>
            <a:off x="5750488" y="6032566"/>
            <a:ext cx="83890" cy="197819"/>
          </a:xfrm>
          <a:custGeom>
            <a:avLst/>
            <a:gdLst>
              <a:gd name="connsiteX0" fmla="*/ 0 w 83890"/>
              <a:gd name="connsiteY0" fmla="*/ 188752 h 197819"/>
              <a:gd name="connsiteX1" fmla="*/ 58723 w 83890"/>
              <a:gd name="connsiteY1" fmla="*/ 176169 h 197819"/>
              <a:gd name="connsiteX2" fmla="*/ 83890 w 83890"/>
              <a:gd name="connsiteY2" fmla="*/ 0 h 19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90" h="197819">
                <a:moveTo>
                  <a:pt x="0" y="188752"/>
                </a:moveTo>
                <a:cubicBezTo>
                  <a:pt x="22370" y="198190"/>
                  <a:pt x="44741" y="207628"/>
                  <a:pt x="58723" y="176169"/>
                </a:cubicBezTo>
                <a:cubicBezTo>
                  <a:pt x="72705" y="144710"/>
                  <a:pt x="78297" y="72355"/>
                  <a:pt x="8389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99E7AEAB-F1D9-0E8F-585C-68D226FED832}"/>
              </a:ext>
            </a:extLst>
          </p:cNvPr>
          <p:cNvSpPr/>
          <p:nvPr/>
        </p:nvSpPr>
        <p:spPr>
          <a:xfrm>
            <a:off x="6266463" y="6091389"/>
            <a:ext cx="549097" cy="261610"/>
          </a:xfrm>
          <a:custGeom>
            <a:avLst/>
            <a:gdLst>
              <a:gd name="connsiteX0" fmla="*/ 574646 w 574646"/>
              <a:gd name="connsiteY0" fmla="*/ 192946 h 199916"/>
              <a:gd name="connsiteX1" fmla="*/ 444617 w 574646"/>
              <a:gd name="connsiteY1" fmla="*/ 188752 h 199916"/>
              <a:gd name="connsiteX2" fmla="*/ 419450 w 574646"/>
              <a:gd name="connsiteY2" fmla="*/ 88084 h 199916"/>
              <a:gd name="connsiteX3" fmla="*/ 88085 w 574646"/>
              <a:gd name="connsiteY3" fmla="*/ 67112 h 199916"/>
              <a:gd name="connsiteX4" fmla="*/ 0 w 574646"/>
              <a:gd name="connsiteY4" fmla="*/ 0 h 19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646" h="199916">
                <a:moveTo>
                  <a:pt x="574646" y="192946"/>
                </a:moveTo>
                <a:cubicBezTo>
                  <a:pt x="522564" y="199587"/>
                  <a:pt x="470483" y="206229"/>
                  <a:pt x="444617" y="188752"/>
                </a:cubicBezTo>
                <a:cubicBezTo>
                  <a:pt x="418751" y="171275"/>
                  <a:pt x="478872" y="108357"/>
                  <a:pt x="419450" y="88084"/>
                </a:cubicBezTo>
                <a:cubicBezTo>
                  <a:pt x="360028" y="67811"/>
                  <a:pt x="157993" y="81793"/>
                  <a:pt x="88085" y="67112"/>
                </a:cubicBezTo>
                <a:cubicBezTo>
                  <a:pt x="18177" y="52431"/>
                  <a:pt x="9088" y="26215"/>
                  <a:pt x="0" y="0"/>
                </a:cubicBezTo>
              </a:path>
            </a:pathLst>
          </a:custGeom>
          <a:noFill/>
          <a:ln w="952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CEE4AB5-B73D-D616-745B-2BB601185AE0}"/>
              </a:ext>
            </a:extLst>
          </p:cNvPr>
          <p:cNvCxnSpPr>
            <a:cxnSpLocks/>
          </p:cNvCxnSpPr>
          <p:nvPr/>
        </p:nvCxnSpPr>
        <p:spPr>
          <a:xfrm>
            <a:off x="7549551" y="1126944"/>
            <a:ext cx="0" cy="4904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6094858-3C46-8C1E-A775-F8FA7C1C31F0}"/>
              </a:ext>
            </a:extLst>
          </p:cNvPr>
          <p:cNvSpPr txBox="1"/>
          <p:nvPr/>
        </p:nvSpPr>
        <p:spPr>
          <a:xfrm>
            <a:off x="7620000" y="1241930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초기암호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7F32F3-E8CD-1637-97BB-45DF860EEDE2}"/>
              </a:ext>
            </a:extLst>
          </p:cNvPr>
          <p:cNvSpPr txBox="1"/>
          <p:nvPr/>
        </p:nvSpPr>
        <p:spPr>
          <a:xfrm>
            <a:off x="5599093" y="1567040"/>
            <a:ext cx="837152" cy="4575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 t25314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t25316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t25319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/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t25326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t25328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t</a:t>
            </a:r>
            <a:r>
              <a:rPr lang="en-US" altLang="ko-KR" sz="1400" b="1" dirty="0">
                <a:solidFill>
                  <a:srgbClr val="0000CC"/>
                </a:solidFill>
              </a:rPr>
              <a:t>253</a:t>
            </a:r>
            <a:r>
              <a:rPr lang="en-US" altLang="ko-KR" sz="1400" b="1" dirty="0">
                <a:solidFill>
                  <a:srgbClr val="00B050"/>
                </a:solidFill>
              </a:rPr>
              <a:t>29</a:t>
            </a: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D9346009-F4B2-F260-BFF9-63A479E5B091}"/>
              </a:ext>
            </a:extLst>
          </p:cNvPr>
          <p:cNvSpPr/>
          <p:nvPr/>
        </p:nvSpPr>
        <p:spPr>
          <a:xfrm>
            <a:off x="5994206" y="6064386"/>
            <a:ext cx="34669" cy="199348"/>
          </a:xfrm>
          <a:custGeom>
            <a:avLst/>
            <a:gdLst>
              <a:gd name="connsiteX0" fmla="*/ 0 w 34669"/>
              <a:gd name="connsiteY0" fmla="*/ 199348 h 199348"/>
              <a:gd name="connsiteX1" fmla="*/ 34669 w 34669"/>
              <a:gd name="connsiteY1" fmla="*/ 0 h 1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69" h="199348">
                <a:moveTo>
                  <a:pt x="0" y="199348"/>
                </a:moveTo>
                <a:lnTo>
                  <a:pt x="34669" y="0"/>
                </a:lnTo>
              </a:path>
            </a:pathLst>
          </a:custGeom>
          <a:noFill/>
          <a:ln w="127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F386A0-D5E2-C3B0-E9DA-3704FE8BB3C7}"/>
              </a:ext>
            </a:extLst>
          </p:cNvPr>
          <p:cNvSpPr txBox="1"/>
          <p:nvPr/>
        </p:nvSpPr>
        <p:spPr>
          <a:xfrm>
            <a:off x="7710634" y="3222722"/>
            <a:ext cx="1183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33past253</a:t>
            </a:r>
          </a:p>
          <a:p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암호 반드시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변경할 것 </a:t>
            </a:r>
            <a:r>
              <a:rPr lang="en-US" altLang="ko-KR" sz="1200" b="1" dirty="0">
                <a:solidFill>
                  <a:srgbClr val="00B050"/>
                </a:solidFill>
              </a:rPr>
              <a:t>!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3771038-1CBA-7E50-CF3F-EC788FE49EC4}"/>
              </a:ext>
            </a:extLst>
          </p:cNvPr>
          <p:cNvCxnSpPr>
            <a:cxnSpLocks/>
          </p:cNvCxnSpPr>
          <p:nvPr/>
        </p:nvCxnSpPr>
        <p:spPr>
          <a:xfrm>
            <a:off x="6506693" y="1212458"/>
            <a:ext cx="9016" cy="493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7B04834-5ABF-D096-11EB-DBDBA7576C0B}"/>
              </a:ext>
            </a:extLst>
          </p:cNvPr>
          <p:cNvCxnSpPr>
            <a:cxnSpLocks/>
          </p:cNvCxnSpPr>
          <p:nvPr/>
        </p:nvCxnSpPr>
        <p:spPr>
          <a:xfrm>
            <a:off x="5542518" y="1150800"/>
            <a:ext cx="0" cy="4881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5DBDAA5-4C1D-4A78-F909-0FBBBB731B61}"/>
              </a:ext>
            </a:extLst>
          </p:cNvPr>
          <p:cNvCxnSpPr>
            <a:cxnSpLocks/>
          </p:cNvCxnSpPr>
          <p:nvPr/>
        </p:nvCxnSpPr>
        <p:spPr>
          <a:xfrm>
            <a:off x="4753239" y="1208655"/>
            <a:ext cx="0" cy="4823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3C44655-D112-6DA0-F810-6E26112C5643}"/>
              </a:ext>
            </a:extLst>
          </p:cNvPr>
          <p:cNvSpPr txBox="1"/>
          <p:nvPr/>
        </p:nvSpPr>
        <p:spPr>
          <a:xfrm>
            <a:off x="4070771" y="12066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교수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4279995-7006-D935-521F-EFDECF426D3C}"/>
              </a:ext>
            </a:extLst>
          </p:cNvPr>
          <p:cNvCxnSpPr>
            <a:cxnSpLocks/>
          </p:cNvCxnSpPr>
          <p:nvPr/>
        </p:nvCxnSpPr>
        <p:spPr>
          <a:xfrm>
            <a:off x="3947591" y="1243912"/>
            <a:ext cx="0" cy="4787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C2CB2E1-C620-7FD2-F180-38D1925CD416}"/>
              </a:ext>
            </a:extLst>
          </p:cNvPr>
          <p:cNvSpPr txBox="1"/>
          <p:nvPr/>
        </p:nvSpPr>
        <p:spPr>
          <a:xfrm>
            <a:off x="3089348" y="1180621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서버명</a:t>
            </a:r>
            <a:endParaRPr lang="ko-KR" alt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7051950-485B-6E37-DB6B-2A5C20CB5BCF}"/>
              </a:ext>
            </a:extLst>
          </p:cNvPr>
          <p:cNvSpPr txBox="1"/>
          <p:nvPr/>
        </p:nvSpPr>
        <p:spPr>
          <a:xfrm>
            <a:off x="2699793" y="3294399"/>
            <a:ext cx="1412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0000CC"/>
                </a:solidFill>
              </a:rPr>
              <a:t>ceprj2</a:t>
            </a:r>
            <a:endParaRPr lang="ko-KR" altLang="en-US" sz="2400" b="1" dirty="0">
              <a:solidFill>
                <a:srgbClr val="0000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8A1AC-FD34-4262-5FE6-DC606C1FBA41}"/>
              </a:ext>
            </a:extLst>
          </p:cNvPr>
          <p:cNvSpPr txBox="1"/>
          <p:nvPr/>
        </p:nvSpPr>
        <p:spPr>
          <a:xfrm>
            <a:off x="4947987" y="1574314"/>
            <a:ext cx="393121" cy="4575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26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/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35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3612F-9A22-F6B1-359B-CF22FB254AEA}"/>
              </a:ext>
            </a:extLst>
          </p:cNvPr>
          <p:cNvSpPr txBox="1"/>
          <p:nvPr/>
        </p:nvSpPr>
        <p:spPr>
          <a:xfrm>
            <a:off x="6640228" y="1564501"/>
            <a:ext cx="705642" cy="4575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65021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65022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65023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65025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65026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65027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altLang="ko-KR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65028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65029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65030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65031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65032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65033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65034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65035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B9FBC-5703-77E5-6EF0-B309663AF3D7}"/>
              </a:ext>
            </a:extLst>
          </p:cNvPr>
          <p:cNvSpPr txBox="1"/>
          <p:nvPr/>
        </p:nvSpPr>
        <p:spPr>
          <a:xfrm>
            <a:off x="4027894" y="2217758"/>
            <a:ext cx="1183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조영임</a:t>
            </a:r>
            <a:endParaRPr lang="en-US" altLang="ko-KR" sz="1200" b="1" dirty="0"/>
          </a:p>
          <a:p>
            <a:r>
              <a:rPr lang="en-US" altLang="ko-KR" sz="1200" b="1" dirty="0"/>
              <a:t>(7</a:t>
            </a:r>
            <a:r>
              <a:rPr lang="ko-KR" altLang="en-US" sz="1200" b="1" dirty="0"/>
              <a:t>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132C2-499D-3CFE-2234-76230741D7C7}"/>
              </a:ext>
            </a:extLst>
          </p:cNvPr>
          <p:cNvSpPr txBox="1"/>
          <p:nvPr/>
        </p:nvSpPr>
        <p:spPr>
          <a:xfrm>
            <a:off x="4042383" y="4725144"/>
            <a:ext cx="1183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강석환</a:t>
            </a:r>
            <a:endParaRPr lang="en-US" altLang="ko-KR" sz="1200" b="1" dirty="0"/>
          </a:p>
          <a:p>
            <a:r>
              <a:rPr lang="en-US" altLang="ko-KR" sz="1200" b="1" dirty="0"/>
              <a:t>(9</a:t>
            </a:r>
            <a:r>
              <a:rPr lang="ko-KR" altLang="en-US" sz="1200" b="1" dirty="0"/>
              <a:t>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174592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E0B57-D687-62F4-6C28-3A29523D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2A0283-C924-76E0-6A45-AEBB4D9EA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93200BCF-9C64-F2CB-CEDB-999D6F1A5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슬라이드 번호 개체 틀 1">
            <a:extLst>
              <a:ext uri="{FF2B5EF4-FFF2-40B4-BE49-F238E27FC236}">
                <a16:creationId xmlns:a16="http://schemas.microsoft.com/office/drawing/2014/main" id="{ECBC385F-2B7A-E342-3A99-3F1EDB1B0526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7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AF3C8-9959-3035-535F-63BCF9ACF4D7}"/>
              </a:ext>
            </a:extLst>
          </p:cNvPr>
          <p:cNvSpPr txBox="1"/>
          <p:nvPr/>
        </p:nvSpPr>
        <p:spPr>
          <a:xfrm>
            <a:off x="-111130" y="920246"/>
            <a:ext cx="8211522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P-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실무프로젝트</a:t>
            </a:r>
            <a:endParaRPr lang="en-US" altLang="ko-KR" sz="2000" b="1" dirty="0">
              <a:solidFill>
                <a:srgbClr val="0000CC"/>
              </a:solidFill>
              <a:latin typeface="+mj-ea"/>
            </a:endParaRPr>
          </a:p>
          <a:p>
            <a:pPr lvl="1">
              <a:spcBef>
                <a:spcPts val="300"/>
              </a:spcBef>
            </a:pP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  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(3</a:t>
            </a:r>
            <a:r>
              <a:rPr lang="ko-KR" altLang="en-US" sz="2000" b="1" dirty="0">
                <a:solidFill>
                  <a:srgbClr val="0000CC"/>
                </a:solidFill>
                <a:latin typeface="+mj-ea"/>
              </a:rPr>
              <a:t>학년</a:t>
            </a:r>
            <a:r>
              <a:rPr lang="en-US" altLang="ko-KR" sz="2000" b="1" dirty="0">
                <a:solidFill>
                  <a:srgbClr val="0000CC"/>
                </a:solidFill>
                <a:latin typeface="+mj-ea"/>
              </a:rPr>
              <a:t>)</a:t>
            </a:r>
            <a:endParaRPr lang="en-US" altLang="ko-KR" sz="2000" b="1" dirty="0">
              <a:solidFill>
                <a:srgbClr val="FF0000"/>
              </a:solidFill>
              <a:latin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886D9F-E59B-3745-DA06-6C5676218C5E}"/>
              </a:ext>
            </a:extLst>
          </p:cNvPr>
          <p:cNvCxnSpPr>
            <a:cxnSpLocks/>
          </p:cNvCxnSpPr>
          <p:nvPr/>
        </p:nvCxnSpPr>
        <p:spPr>
          <a:xfrm>
            <a:off x="2843808" y="2164919"/>
            <a:ext cx="5771359" cy="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A8D7A6-AB10-C994-84FA-F5F2384C1BE1}"/>
              </a:ext>
            </a:extLst>
          </p:cNvPr>
          <p:cNvSpPr txBox="1"/>
          <p:nvPr/>
        </p:nvSpPr>
        <p:spPr>
          <a:xfrm>
            <a:off x="6492553" y="2211005"/>
            <a:ext cx="705642" cy="1641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65037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65038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65039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65040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65041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65042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0DC815-4CFA-8A70-80E4-03A82FFA7251}"/>
              </a:ext>
            </a:extLst>
          </p:cNvPr>
          <p:cNvSpPr txBox="1"/>
          <p:nvPr/>
        </p:nvSpPr>
        <p:spPr>
          <a:xfrm>
            <a:off x="4585560" y="183253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팀번호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DE314-9FC9-0EA5-78A2-B57696DFF442}"/>
              </a:ext>
            </a:extLst>
          </p:cNvPr>
          <p:cNvSpPr txBox="1"/>
          <p:nvPr/>
        </p:nvSpPr>
        <p:spPr>
          <a:xfrm>
            <a:off x="5316979" y="1676614"/>
            <a:ext cx="1031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계정</a:t>
            </a:r>
            <a:r>
              <a:rPr lang="en-US" altLang="ko-KR" sz="1400" dirty="0"/>
              <a:t>ID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팀장관리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A098C2-F77B-5E98-3DAB-FB8C9F4B5ADB}"/>
              </a:ext>
            </a:extLst>
          </p:cNvPr>
          <p:cNvSpPr txBox="1"/>
          <p:nvPr/>
        </p:nvSpPr>
        <p:spPr>
          <a:xfrm>
            <a:off x="6299524" y="183253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팀전용포트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854F9-5900-75CA-0D89-474005BCDDFC}"/>
              </a:ext>
            </a:extLst>
          </p:cNvPr>
          <p:cNvSpPr txBox="1"/>
          <p:nvPr/>
        </p:nvSpPr>
        <p:spPr>
          <a:xfrm>
            <a:off x="5074414" y="3853009"/>
            <a:ext cx="6127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66"/>
                </a:solidFill>
              </a:rPr>
              <a:t>team</a:t>
            </a:r>
            <a:endParaRPr lang="ko-KR" altLang="en-US" sz="1100" b="1" dirty="0">
              <a:solidFill>
                <a:srgbClr val="FF006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9C3B1D-DCC6-442A-E977-71CE8D669BD9}"/>
              </a:ext>
            </a:extLst>
          </p:cNvPr>
          <p:cNvSpPr txBox="1"/>
          <p:nvPr/>
        </p:nvSpPr>
        <p:spPr>
          <a:xfrm>
            <a:off x="5635035" y="4011517"/>
            <a:ext cx="9988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0000CC"/>
                </a:solidFill>
              </a:rPr>
              <a:t>2025-2</a:t>
            </a:r>
            <a:r>
              <a:rPr lang="ko-KR" altLang="en-US" sz="1100" b="1" dirty="0">
                <a:solidFill>
                  <a:srgbClr val="0000CC"/>
                </a:solidFill>
              </a:rPr>
              <a:t>학기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D93DD0-CCF1-9131-3C9C-C5D2E5BC53D4}"/>
              </a:ext>
            </a:extLst>
          </p:cNvPr>
          <p:cNvSpPr txBox="1"/>
          <p:nvPr/>
        </p:nvSpPr>
        <p:spPr>
          <a:xfrm>
            <a:off x="6575098" y="3962793"/>
            <a:ext cx="12461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rgbClr val="00B050"/>
                </a:solidFill>
              </a:rPr>
              <a:t>일련번호</a:t>
            </a:r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FB1D431E-4A10-C8AC-463B-69DEFBA4FFD9}"/>
              </a:ext>
            </a:extLst>
          </p:cNvPr>
          <p:cNvSpPr/>
          <p:nvPr/>
        </p:nvSpPr>
        <p:spPr>
          <a:xfrm>
            <a:off x="5532822" y="3764451"/>
            <a:ext cx="83890" cy="197819"/>
          </a:xfrm>
          <a:custGeom>
            <a:avLst/>
            <a:gdLst>
              <a:gd name="connsiteX0" fmla="*/ 0 w 83890"/>
              <a:gd name="connsiteY0" fmla="*/ 188752 h 197819"/>
              <a:gd name="connsiteX1" fmla="*/ 58723 w 83890"/>
              <a:gd name="connsiteY1" fmla="*/ 176169 h 197819"/>
              <a:gd name="connsiteX2" fmla="*/ 83890 w 83890"/>
              <a:gd name="connsiteY2" fmla="*/ 0 h 19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90" h="197819">
                <a:moveTo>
                  <a:pt x="0" y="188752"/>
                </a:moveTo>
                <a:cubicBezTo>
                  <a:pt x="22370" y="198190"/>
                  <a:pt x="44741" y="207628"/>
                  <a:pt x="58723" y="176169"/>
                </a:cubicBezTo>
                <a:cubicBezTo>
                  <a:pt x="72705" y="144710"/>
                  <a:pt x="78297" y="72355"/>
                  <a:pt x="8389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7DC5D73B-E0AE-890E-1C99-595FBFFE185E}"/>
              </a:ext>
            </a:extLst>
          </p:cNvPr>
          <p:cNvSpPr/>
          <p:nvPr/>
        </p:nvSpPr>
        <p:spPr>
          <a:xfrm>
            <a:off x="6048797" y="3839172"/>
            <a:ext cx="549097" cy="261610"/>
          </a:xfrm>
          <a:custGeom>
            <a:avLst/>
            <a:gdLst>
              <a:gd name="connsiteX0" fmla="*/ 574646 w 574646"/>
              <a:gd name="connsiteY0" fmla="*/ 192946 h 199916"/>
              <a:gd name="connsiteX1" fmla="*/ 444617 w 574646"/>
              <a:gd name="connsiteY1" fmla="*/ 188752 h 199916"/>
              <a:gd name="connsiteX2" fmla="*/ 419450 w 574646"/>
              <a:gd name="connsiteY2" fmla="*/ 88084 h 199916"/>
              <a:gd name="connsiteX3" fmla="*/ 88085 w 574646"/>
              <a:gd name="connsiteY3" fmla="*/ 67112 h 199916"/>
              <a:gd name="connsiteX4" fmla="*/ 0 w 574646"/>
              <a:gd name="connsiteY4" fmla="*/ 0 h 19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646" h="199916">
                <a:moveTo>
                  <a:pt x="574646" y="192946"/>
                </a:moveTo>
                <a:cubicBezTo>
                  <a:pt x="522564" y="199587"/>
                  <a:pt x="470483" y="206229"/>
                  <a:pt x="444617" y="188752"/>
                </a:cubicBezTo>
                <a:cubicBezTo>
                  <a:pt x="418751" y="171275"/>
                  <a:pt x="478872" y="108357"/>
                  <a:pt x="419450" y="88084"/>
                </a:cubicBezTo>
                <a:cubicBezTo>
                  <a:pt x="360028" y="67811"/>
                  <a:pt x="157993" y="81793"/>
                  <a:pt x="88085" y="67112"/>
                </a:cubicBezTo>
                <a:cubicBezTo>
                  <a:pt x="18177" y="52431"/>
                  <a:pt x="9088" y="26215"/>
                  <a:pt x="0" y="0"/>
                </a:cubicBezTo>
              </a:path>
            </a:pathLst>
          </a:custGeom>
          <a:noFill/>
          <a:ln w="9525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50A34E7-35FB-71DB-ABA0-2DE0FB251445}"/>
              </a:ext>
            </a:extLst>
          </p:cNvPr>
          <p:cNvCxnSpPr>
            <a:cxnSpLocks/>
          </p:cNvCxnSpPr>
          <p:nvPr/>
        </p:nvCxnSpPr>
        <p:spPr>
          <a:xfrm>
            <a:off x="7381872" y="1750822"/>
            <a:ext cx="0" cy="2084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1D30277-D259-16E1-8B90-6C4B9A12AFAD}"/>
              </a:ext>
            </a:extLst>
          </p:cNvPr>
          <p:cNvSpPr txBox="1"/>
          <p:nvPr/>
        </p:nvSpPr>
        <p:spPr>
          <a:xfrm>
            <a:off x="7452321" y="1865808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초기암호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FCE5D4-462E-4D4D-698A-F2613B982DF3}"/>
              </a:ext>
            </a:extLst>
          </p:cNvPr>
          <p:cNvSpPr txBox="1"/>
          <p:nvPr/>
        </p:nvSpPr>
        <p:spPr>
          <a:xfrm>
            <a:off x="5437222" y="2199834"/>
            <a:ext cx="837089" cy="1641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 t25330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t25331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t25332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t25333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t25334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00"/>
                </a:solidFill>
              </a:rPr>
              <a:t>t</a:t>
            </a:r>
            <a:r>
              <a:rPr lang="en-US" altLang="ko-KR" sz="1400" b="1" dirty="0">
                <a:solidFill>
                  <a:srgbClr val="0000CC"/>
                </a:solidFill>
              </a:rPr>
              <a:t>253</a:t>
            </a:r>
            <a:r>
              <a:rPr lang="en-US" altLang="ko-KR" sz="1400" b="1" dirty="0">
                <a:solidFill>
                  <a:srgbClr val="00B050"/>
                </a:solidFill>
              </a:rPr>
              <a:t>35</a:t>
            </a: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767D015F-6820-2377-508D-7E8403C92786}"/>
              </a:ext>
            </a:extLst>
          </p:cNvPr>
          <p:cNvSpPr/>
          <p:nvPr/>
        </p:nvSpPr>
        <p:spPr>
          <a:xfrm>
            <a:off x="5776540" y="3835039"/>
            <a:ext cx="34669" cy="199348"/>
          </a:xfrm>
          <a:custGeom>
            <a:avLst/>
            <a:gdLst>
              <a:gd name="connsiteX0" fmla="*/ 0 w 34669"/>
              <a:gd name="connsiteY0" fmla="*/ 199348 h 199348"/>
              <a:gd name="connsiteX1" fmla="*/ 34669 w 34669"/>
              <a:gd name="connsiteY1" fmla="*/ 0 h 1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69" h="199348">
                <a:moveTo>
                  <a:pt x="0" y="199348"/>
                </a:moveTo>
                <a:lnTo>
                  <a:pt x="34669" y="0"/>
                </a:lnTo>
              </a:path>
            </a:pathLst>
          </a:custGeom>
          <a:noFill/>
          <a:ln w="127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3E3A70-229A-5FCC-4ADC-2C8D9735FA83}"/>
              </a:ext>
            </a:extLst>
          </p:cNvPr>
          <p:cNvSpPr txBox="1"/>
          <p:nvPr/>
        </p:nvSpPr>
        <p:spPr>
          <a:xfrm>
            <a:off x="7537967" y="2813337"/>
            <a:ext cx="1183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33past253</a:t>
            </a:r>
          </a:p>
          <a:p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암호 반드시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r>
              <a:rPr lang="ko-KR" altLang="en-US" sz="1200" b="1" dirty="0">
                <a:solidFill>
                  <a:srgbClr val="00B050"/>
                </a:solidFill>
              </a:rPr>
              <a:t>변경할 것 </a:t>
            </a:r>
            <a:r>
              <a:rPr lang="en-US" altLang="ko-KR" sz="1200" b="1" dirty="0">
                <a:solidFill>
                  <a:srgbClr val="00B050"/>
                </a:solidFill>
              </a:rPr>
              <a:t>!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AFB6E27-F40C-74CD-57CD-5E28E1E13C94}"/>
              </a:ext>
            </a:extLst>
          </p:cNvPr>
          <p:cNvCxnSpPr>
            <a:cxnSpLocks/>
          </p:cNvCxnSpPr>
          <p:nvPr/>
        </p:nvCxnSpPr>
        <p:spPr>
          <a:xfrm>
            <a:off x="6348030" y="1774678"/>
            <a:ext cx="0" cy="2060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51C8AEB-98F1-AAC3-96E3-429B70871E6A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5374839" y="1774678"/>
            <a:ext cx="5964" cy="2078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9D0388E-3E3D-E0F4-E4EF-DD68D58099F7}"/>
              </a:ext>
            </a:extLst>
          </p:cNvPr>
          <p:cNvCxnSpPr>
            <a:cxnSpLocks/>
          </p:cNvCxnSpPr>
          <p:nvPr/>
        </p:nvCxnSpPr>
        <p:spPr>
          <a:xfrm>
            <a:off x="4585560" y="1832533"/>
            <a:ext cx="0" cy="2086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E2500EE-5D2B-8D00-B204-71DED76FA2FF}"/>
              </a:ext>
            </a:extLst>
          </p:cNvPr>
          <p:cNvSpPr txBox="1"/>
          <p:nvPr/>
        </p:nvSpPr>
        <p:spPr>
          <a:xfrm>
            <a:off x="3903092" y="183049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교수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345C7D1-60AF-C387-3CEB-855E86CE6C47}"/>
              </a:ext>
            </a:extLst>
          </p:cNvPr>
          <p:cNvCxnSpPr>
            <a:cxnSpLocks/>
          </p:cNvCxnSpPr>
          <p:nvPr/>
        </p:nvCxnSpPr>
        <p:spPr>
          <a:xfrm>
            <a:off x="3779912" y="1867790"/>
            <a:ext cx="0" cy="2051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3E2410C-9B0E-C677-9822-9175F5D5E2C9}"/>
              </a:ext>
            </a:extLst>
          </p:cNvPr>
          <p:cNvSpPr txBox="1"/>
          <p:nvPr/>
        </p:nvSpPr>
        <p:spPr>
          <a:xfrm>
            <a:off x="2921669" y="1804499"/>
            <a:ext cx="97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서버명</a:t>
            </a:r>
            <a:endParaRPr lang="ko-KR" alt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764D463F-9CA8-0548-EE54-65C4D956B448}"/>
              </a:ext>
            </a:extLst>
          </p:cNvPr>
          <p:cNvSpPr txBox="1"/>
          <p:nvPr/>
        </p:nvSpPr>
        <p:spPr>
          <a:xfrm>
            <a:off x="2557834" y="2935601"/>
            <a:ext cx="1412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0000CC"/>
                </a:solidFill>
              </a:rPr>
              <a:t>ceprj2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7D0A2-7743-44B7-49ED-B6448847F99F}"/>
              </a:ext>
            </a:extLst>
          </p:cNvPr>
          <p:cNvSpPr txBox="1"/>
          <p:nvPr/>
        </p:nvSpPr>
        <p:spPr>
          <a:xfrm>
            <a:off x="4754692" y="2211005"/>
            <a:ext cx="393056" cy="1641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37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39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40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41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1FADF-AA71-33C2-294A-D3856EF0BDE6}"/>
              </a:ext>
            </a:extLst>
          </p:cNvPr>
          <p:cNvSpPr txBox="1"/>
          <p:nvPr/>
        </p:nvSpPr>
        <p:spPr>
          <a:xfrm>
            <a:off x="3871067" y="2807865"/>
            <a:ext cx="6928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 err="1"/>
              <a:t>김우성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(6</a:t>
            </a:r>
            <a:r>
              <a:rPr lang="ko-KR" altLang="en-US" sz="1200" b="1" dirty="0"/>
              <a:t>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93059098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200" y="92075"/>
            <a:ext cx="7289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8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AEAD91-1643-232E-93FB-B11C13BE6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922104"/>
            <a:ext cx="6759123" cy="28859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56A8C5-5EC0-6617-CDF0-2E10842D924A}"/>
              </a:ext>
            </a:extLst>
          </p:cNvPr>
          <p:cNvSpPr txBox="1"/>
          <p:nvPr/>
        </p:nvSpPr>
        <p:spPr>
          <a:xfrm>
            <a:off x="-48578" y="998277"/>
            <a:ext cx="9661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lvl="1" indent="-168275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비밀번호 변경 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(  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반드시 필수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!!!, </a:t>
            </a:r>
            <a:r>
              <a:rPr lang="en-US" altLang="ko-KR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11/21(</a:t>
            </a:r>
            <a:r>
              <a:rPr lang="ko-KR" altLang="en-US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금</a:t>
            </a:r>
            <a:r>
              <a:rPr lang="en-US" altLang="ko-KR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오전</a:t>
            </a:r>
            <a:r>
              <a:rPr lang="en-US" altLang="ko-KR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10</a:t>
            </a:r>
            <a:r>
              <a:rPr lang="ko-KR" altLang="en-US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시까지</a:t>
            </a:r>
            <a:r>
              <a:rPr lang="en-US" altLang="ko-KR" sz="2000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변경완료해야만 함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! ) 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7543293-4894-10F6-E64D-70E1C9BC81AF}"/>
              </a:ext>
            </a:extLst>
          </p:cNvPr>
          <p:cNvGrpSpPr/>
          <p:nvPr/>
        </p:nvGrpSpPr>
        <p:grpSpPr>
          <a:xfrm>
            <a:off x="611560" y="2362415"/>
            <a:ext cx="1440160" cy="1304613"/>
            <a:chOff x="4862938" y="2059130"/>
            <a:chExt cx="4450021" cy="430234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3DF962D-5AF8-093D-FAE9-A0F207C41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2938" y="2059130"/>
              <a:ext cx="4450021" cy="43023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8059D85-2351-3593-3909-08759DC0FBA0}"/>
                </a:ext>
              </a:extLst>
            </p:cNvPr>
            <p:cNvSpPr/>
            <p:nvPr/>
          </p:nvSpPr>
          <p:spPr>
            <a:xfrm>
              <a:off x="6478829" y="2936631"/>
              <a:ext cx="1656184" cy="37737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5FFD957-4DEF-2EDB-F242-A8C7858D0EBB}"/>
              </a:ext>
            </a:extLst>
          </p:cNvPr>
          <p:cNvCxnSpPr/>
          <p:nvPr/>
        </p:nvCxnSpPr>
        <p:spPr>
          <a:xfrm flipH="1">
            <a:off x="4370650" y="2634072"/>
            <a:ext cx="1584176" cy="11521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C71E93F-DBB5-55F4-E991-3039E3294A90}"/>
              </a:ext>
            </a:extLst>
          </p:cNvPr>
          <p:cNvCxnSpPr>
            <a:cxnSpLocks/>
          </p:cNvCxnSpPr>
          <p:nvPr/>
        </p:nvCxnSpPr>
        <p:spPr>
          <a:xfrm flipH="1">
            <a:off x="3758262" y="4074232"/>
            <a:ext cx="2556604" cy="1297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480BDBA-BF32-D135-BB78-55AE7D0167AD}"/>
              </a:ext>
            </a:extLst>
          </p:cNvPr>
          <p:cNvCxnSpPr>
            <a:cxnSpLocks/>
          </p:cNvCxnSpPr>
          <p:nvPr/>
        </p:nvCxnSpPr>
        <p:spPr>
          <a:xfrm flipH="1">
            <a:off x="3362538" y="4365063"/>
            <a:ext cx="3600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4FDDB13-2895-09E5-BFAD-04A85B375086}"/>
              </a:ext>
            </a:extLst>
          </p:cNvPr>
          <p:cNvCxnSpPr>
            <a:cxnSpLocks/>
          </p:cNvCxnSpPr>
          <p:nvPr/>
        </p:nvCxnSpPr>
        <p:spPr>
          <a:xfrm flipH="1">
            <a:off x="4065335" y="4365063"/>
            <a:ext cx="2897603" cy="161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9C5C93-9D12-D9A3-973B-1468CE5493D6}"/>
              </a:ext>
            </a:extLst>
          </p:cNvPr>
          <p:cNvSpPr txBox="1"/>
          <p:nvPr/>
        </p:nvSpPr>
        <p:spPr>
          <a:xfrm>
            <a:off x="5519005" y="2348880"/>
            <a:ext cx="136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암호변경 명령어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C76BE9-8706-4027-1773-78396E6C593B}"/>
              </a:ext>
            </a:extLst>
          </p:cNvPr>
          <p:cNvSpPr txBox="1"/>
          <p:nvPr/>
        </p:nvSpPr>
        <p:spPr>
          <a:xfrm>
            <a:off x="6310404" y="3843974"/>
            <a:ext cx="800219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현재암호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C29679-4DEA-5889-D8F6-D67A03EC16E5}"/>
              </a:ext>
            </a:extLst>
          </p:cNvPr>
          <p:cNvSpPr txBox="1"/>
          <p:nvPr/>
        </p:nvSpPr>
        <p:spPr>
          <a:xfrm>
            <a:off x="6957923" y="4191791"/>
            <a:ext cx="1377300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변경할 암호</a:t>
            </a:r>
            <a:endParaRPr lang="en-US" altLang="ko-KR" sz="1200" dirty="0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1200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200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복잡하고 길게 </a:t>
            </a:r>
            <a:r>
              <a:rPr lang="en-US" altLang="ko-KR" sz="1200" dirty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!!)</a:t>
            </a:r>
            <a:endParaRPr lang="ko-KR" altLang="en-US" sz="1200" dirty="0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3A5E60-D3D3-337F-0FCD-CCC4FB830983}"/>
              </a:ext>
            </a:extLst>
          </p:cNvPr>
          <p:cNvSpPr txBox="1"/>
          <p:nvPr/>
        </p:nvSpPr>
        <p:spPr>
          <a:xfrm>
            <a:off x="679534" y="1571039"/>
            <a:ext cx="5798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0000"/>
                </a:solidFill>
              </a:rPr>
              <a:t>각 팀별 암호관리 중요 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매일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ko-KR" altLang="en-US" sz="1400" dirty="0">
                <a:solidFill>
                  <a:srgbClr val="FF0000"/>
                </a:solidFill>
              </a:rPr>
              <a:t> 해외에서의 해킹시도 많음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rgbClr val="FF0000"/>
                </a:solidFill>
              </a:rPr>
              <a:t>암호변경할</a:t>
            </a:r>
            <a:r>
              <a:rPr lang="ko-KR" altLang="en-US" sz="1400" dirty="0">
                <a:solidFill>
                  <a:srgbClr val="FF0000"/>
                </a:solidFill>
              </a:rPr>
              <a:t> 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영대소문자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ko-KR" altLang="en-US" sz="1400" dirty="0">
                <a:solidFill>
                  <a:srgbClr val="FF0000"/>
                </a:solidFill>
              </a:rPr>
              <a:t>특수문자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ko-KR" altLang="en-US" sz="1400" dirty="0">
                <a:solidFill>
                  <a:srgbClr val="FF0000"/>
                </a:solidFill>
              </a:rPr>
              <a:t>숫자 조합 필수</a:t>
            </a:r>
            <a:r>
              <a:rPr lang="en-US" altLang="ko-KR" sz="1400" dirty="0">
                <a:solidFill>
                  <a:srgbClr val="FF0000"/>
                </a:solidFill>
              </a:rPr>
              <a:t>!, 10</a:t>
            </a:r>
            <a:r>
              <a:rPr lang="ko-KR" altLang="en-US" sz="1400" dirty="0">
                <a:solidFill>
                  <a:srgbClr val="FF0000"/>
                </a:solidFill>
              </a:rPr>
              <a:t>자리이상</a:t>
            </a:r>
            <a:r>
              <a:rPr lang="en-US" altLang="ko-KR" sz="14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984741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338A15-5ED4-E221-8AAB-BCC2F30ADD81}"/>
              </a:ext>
            </a:extLst>
          </p:cNvPr>
          <p:cNvSpPr/>
          <p:nvPr/>
        </p:nvSpPr>
        <p:spPr>
          <a:xfrm>
            <a:off x="5058674" y="1325774"/>
            <a:ext cx="3569120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83247A-7C4B-BEE1-F245-EECBB8631537}"/>
              </a:ext>
            </a:extLst>
          </p:cNvPr>
          <p:cNvSpPr txBox="1"/>
          <p:nvPr/>
        </p:nvSpPr>
        <p:spPr>
          <a:xfrm>
            <a:off x="5875037" y="2886686"/>
            <a:ext cx="27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Rocky Linux 9.6</a:t>
            </a:r>
            <a:endParaRPr lang="ko-KR" altLang="en-US" dirty="0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36744" y="1331875"/>
            <a:ext cx="3569120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62929" y="376199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인터넷접속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793335" y="4131324"/>
            <a:ext cx="14024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V="1">
            <a:off x="2195736" y="3276091"/>
            <a:ext cx="0" cy="855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cxnSpLocks/>
          </p:cNvCxnSpPr>
          <p:nvPr/>
        </p:nvCxnSpPr>
        <p:spPr>
          <a:xfrm>
            <a:off x="1236743" y="2869681"/>
            <a:ext cx="35691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53107" y="2892787"/>
            <a:ext cx="27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Rocky Linux 9.6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278771" y="224923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FF00"/>
                </a:solidFill>
              </a:rPr>
              <a:t>서버 </a:t>
            </a:r>
            <a:r>
              <a:rPr lang="en-US" altLang="ko-KR" b="1" dirty="0">
                <a:solidFill>
                  <a:srgbClr val="FFFF00"/>
                </a:solidFill>
              </a:rPr>
              <a:t>&amp; </a:t>
            </a:r>
            <a:r>
              <a:rPr lang="ko-KR" altLang="en-US" b="1" dirty="0" err="1">
                <a:solidFill>
                  <a:srgbClr val="FFFF00"/>
                </a:solidFill>
              </a:rPr>
              <a:t>팀전용</a:t>
            </a:r>
            <a:r>
              <a:rPr lang="ko-KR" altLang="en-US" b="1" dirty="0">
                <a:solidFill>
                  <a:srgbClr val="FFFF00"/>
                </a:solidFill>
              </a:rPr>
              <a:t> 포트주소</a:t>
            </a:r>
          </a:p>
        </p:txBody>
      </p:sp>
      <p:sp>
        <p:nvSpPr>
          <p:cNvPr id="27" name="타원 26"/>
          <p:cNvSpPr/>
          <p:nvPr/>
        </p:nvSpPr>
        <p:spPr>
          <a:xfrm>
            <a:off x="1452768" y="1519683"/>
            <a:ext cx="981880" cy="8640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2555776" y="1533792"/>
            <a:ext cx="981880" cy="8640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1763688" y="2293617"/>
            <a:ext cx="144016" cy="104271"/>
          </a:xfrm>
          <a:prstGeom prst="ellips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2966986" y="2333362"/>
            <a:ext cx="144016" cy="104271"/>
          </a:xfrm>
          <a:prstGeom prst="ellips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1578063" y="1808313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</a:t>
            </a:r>
            <a:r>
              <a:rPr lang="ko-KR" altLang="en-US" sz="1200" dirty="0" err="1"/>
              <a:t>팀서버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2672457" y="1811688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12</a:t>
            </a:r>
            <a:r>
              <a:rPr lang="ko-KR" altLang="en-US" sz="1200" dirty="0" err="1"/>
              <a:t>팀서버</a:t>
            </a:r>
            <a:endParaRPr lang="ko-KR" alt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1745677" y="2412101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CC"/>
                </a:solidFill>
              </a:rPr>
              <a:t>60008</a:t>
            </a:r>
            <a:endParaRPr lang="ko-KR" altLang="en-US" sz="1400" dirty="0">
              <a:solidFill>
                <a:srgbClr val="0000CC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35288" y="2416055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CC"/>
                </a:solidFill>
              </a:rPr>
              <a:t>60012</a:t>
            </a:r>
            <a:endParaRPr lang="ko-KR" altLang="en-US" sz="1400" dirty="0">
              <a:solidFill>
                <a:srgbClr val="0000CC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508556" y="3556015"/>
            <a:ext cx="5661165" cy="1666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파일을 업로드 할 때 </a:t>
            </a:r>
            <a:r>
              <a:rPr lang="en-US" altLang="ko-KR" sz="1400" dirty="0"/>
              <a:t>………………….……….  ftp </a:t>
            </a:r>
            <a:r>
              <a:rPr lang="ko-KR" altLang="en-US" sz="1400" dirty="0"/>
              <a:t>를 이용할 것</a:t>
            </a:r>
            <a:r>
              <a:rPr lang="en-US" altLang="ko-KR" sz="1400" dirty="0"/>
              <a:t>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vi, VS</a:t>
            </a:r>
            <a:r>
              <a:rPr lang="ko-KR" altLang="en-US" sz="1400" dirty="0"/>
              <a:t> </a:t>
            </a:r>
            <a:r>
              <a:rPr lang="en-US" altLang="ko-KR" sz="1400" dirty="0"/>
              <a:t>Code, IDE</a:t>
            </a:r>
            <a:r>
              <a:rPr lang="ko-KR" altLang="en-US" sz="1400" dirty="0"/>
              <a:t>로 파일작성</a:t>
            </a:r>
            <a:r>
              <a:rPr lang="en-US" altLang="ko-KR" sz="1400" dirty="0"/>
              <a:t>/</a:t>
            </a:r>
            <a:r>
              <a:rPr lang="ko-KR" altLang="en-US" sz="1400" dirty="0"/>
              <a:t>편집 할 때 </a:t>
            </a:r>
            <a:r>
              <a:rPr lang="en-US" altLang="ko-KR" sz="1400" dirty="0"/>
              <a:t>… </a:t>
            </a:r>
            <a:r>
              <a:rPr lang="en-US" altLang="ko-KR" sz="1400" dirty="0" err="1"/>
              <a:t>ssh</a:t>
            </a:r>
            <a:r>
              <a:rPr lang="en-US" altLang="ko-KR" sz="1400" dirty="0"/>
              <a:t> (putty) </a:t>
            </a:r>
            <a:r>
              <a:rPr lang="ko-KR" altLang="en-US" sz="1400" dirty="0"/>
              <a:t>이용할 것</a:t>
            </a:r>
            <a:r>
              <a:rPr lang="en-US" altLang="ko-KR" sz="1400" dirty="0"/>
              <a:t>!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웹브라우져로</a:t>
            </a:r>
            <a:r>
              <a:rPr lang="ko-KR" altLang="en-US" sz="1400" dirty="0"/>
              <a:t> 접속 할 때 </a:t>
            </a:r>
            <a:r>
              <a:rPr lang="en-US" altLang="ko-KR" sz="1400" dirty="0"/>
              <a:t>….................……  </a:t>
            </a:r>
            <a:r>
              <a:rPr lang="ko-KR" altLang="en-US" sz="1400" dirty="0" err="1"/>
              <a:t>웹브라우져</a:t>
            </a:r>
            <a:r>
              <a:rPr lang="ko-KR" altLang="en-US" sz="1400" dirty="0"/>
              <a:t> 이용</a:t>
            </a:r>
            <a:r>
              <a:rPr lang="en-US" altLang="ko-KR" sz="1400" dirty="0"/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</a:t>
            </a:r>
            <a:r>
              <a:rPr lang="ko-KR" altLang="en-US" sz="1400" dirty="0"/>
              <a:t>예</a:t>
            </a:r>
            <a:r>
              <a:rPr lang="en-US" altLang="ko-KR" sz="1400" dirty="0"/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12</a:t>
            </a:r>
            <a:r>
              <a:rPr lang="ko-KR" altLang="en-US" sz="1400" dirty="0">
                <a:solidFill>
                  <a:srgbClr val="FF0000"/>
                </a:solidFill>
              </a:rPr>
              <a:t>팀</a:t>
            </a:r>
            <a:r>
              <a:rPr lang="ko-KR" altLang="en-US" sz="1400" dirty="0"/>
              <a:t>이 </a:t>
            </a:r>
            <a:r>
              <a:rPr lang="ko-KR" altLang="en-US" sz="1400" dirty="0" err="1"/>
              <a:t>접속할때</a:t>
            </a:r>
            <a:r>
              <a:rPr lang="en-US" altLang="ko-KR" sz="1400" dirty="0"/>
              <a:t>, </a:t>
            </a:r>
            <a:r>
              <a:rPr lang="ko-KR" altLang="en-US" sz="1400" dirty="0"/>
              <a:t> </a:t>
            </a:r>
            <a:r>
              <a:rPr lang="en-US" altLang="ko-KR" sz="1400" dirty="0">
                <a:solidFill>
                  <a:srgbClr val="FF0000"/>
                </a:solidFill>
                <a:hlinkClick r:id="rId2"/>
              </a:rPr>
              <a:t>http://ceprj.gachon.ac.kr</a:t>
            </a:r>
            <a:r>
              <a:rPr lang="en-US" altLang="ko-KR" sz="1400" kern="0" spc="0" dirty="0">
                <a:solidFill>
                  <a:srgbClr val="FF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hlinkClick r:id="rId2"/>
              </a:rPr>
              <a:t>:</a:t>
            </a:r>
            <a:r>
              <a:rPr lang="en-US" altLang="ko-KR" sz="1400" dirty="0">
                <a:solidFill>
                  <a:srgbClr val="FF0000"/>
                </a:solidFill>
                <a:hlinkClick r:id="rId2"/>
              </a:rPr>
              <a:t>60012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</a:t>
            </a:r>
            <a:r>
              <a:rPr lang="ko-KR" altLang="en-US" sz="1400" dirty="0"/>
              <a:t>예</a:t>
            </a:r>
            <a:r>
              <a:rPr lang="en-US" altLang="ko-KR" sz="1400" dirty="0"/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33</a:t>
            </a:r>
            <a:r>
              <a:rPr lang="ko-KR" altLang="en-US" sz="1400" dirty="0">
                <a:solidFill>
                  <a:srgbClr val="FF0000"/>
                </a:solidFill>
              </a:rPr>
              <a:t>팀</a:t>
            </a:r>
            <a:r>
              <a:rPr lang="ko-KR" altLang="en-US" sz="1400" dirty="0"/>
              <a:t>이 </a:t>
            </a:r>
            <a:r>
              <a:rPr lang="ko-KR" altLang="en-US" sz="1400" dirty="0" err="1"/>
              <a:t>접속할때</a:t>
            </a:r>
            <a:r>
              <a:rPr lang="en-US" altLang="ko-KR" sz="1400" dirty="0"/>
              <a:t>,   </a:t>
            </a:r>
            <a:r>
              <a:rPr lang="en-US" altLang="ko-KR" sz="1400" dirty="0">
                <a:solidFill>
                  <a:srgbClr val="FF0000"/>
                </a:solidFill>
              </a:rPr>
              <a:t>http://ceprj2.gachon.ac.kr:65033</a:t>
            </a:r>
            <a:r>
              <a:rPr lang="en-US" altLang="ko-KR" sz="1400" dirty="0"/>
              <a:t>   )</a:t>
            </a:r>
            <a:endParaRPr lang="ko-KR" alt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2716629" y="5362652"/>
            <a:ext cx="648286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포트주소는</a:t>
            </a:r>
            <a:r>
              <a:rPr lang="en-US" altLang="ko-KR" sz="1400" dirty="0"/>
              <a:t> </a:t>
            </a:r>
            <a:r>
              <a:rPr lang="ko-KR" altLang="en-US" sz="1400" dirty="0"/>
              <a:t>추가로 더 할당되지 않으므로</a:t>
            </a:r>
            <a:r>
              <a:rPr lang="en-US" altLang="ko-KR" sz="1400" dirty="0"/>
              <a:t>, </a:t>
            </a:r>
          </a:p>
          <a:p>
            <a:r>
              <a:rPr lang="en-US" altLang="ko-KR" sz="1400" dirty="0"/>
              <a:t>   1</a:t>
            </a:r>
            <a:r>
              <a:rPr lang="ko-KR" altLang="en-US" sz="1400" dirty="0"/>
              <a:t>개로만 사용할 수 있도록 구성하기 바람</a:t>
            </a:r>
            <a:r>
              <a:rPr lang="en-US" altLang="ko-KR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단</a:t>
            </a:r>
            <a:r>
              <a:rPr lang="en-US" altLang="ko-KR" sz="1400" dirty="0"/>
              <a:t>, DB</a:t>
            </a:r>
            <a:r>
              <a:rPr lang="ko-KR" altLang="en-US" sz="1400" dirty="0"/>
              <a:t>포트는 외부에서 직접 접속금지</a:t>
            </a:r>
            <a:r>
              <a:rPr lang="en-US" altLang="ko-KR" sz="1400" dirty="0"/>
              <a:t>!  (</a:t>
            </a: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반드시 웹서버를 통해서만 접속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9" name="타원 38"/>
          <p:cNvSpPr/>
          <p:nvPr/>
        </p:nvSpPr>
        <p:spPr>
          <a:xfrm>
            <a:off x="6335199" y="1588936"/>
            <a:ext cx="981880" cy="8640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6724413" y="2367099"/>
            <a:ext cx="144016" cy="104271"/>
          </a:xfrm>
          <a:prstGeom prst="ellips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452428" y="1863372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33</a:t>
            </a:r>
            <a:r>
              <a:rPr lang="ko-KR" altLang="en-US" sz="1200" dirty="0" err="1"/>
              <a:t>팀서버</a:t>
            </a:r>
            <a:endParaRPr lang="ko-KR" alt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6607795" y="2428764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65033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7573365" y="1531446"/>
            <a:ext cx="981880" cy="8640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21945" y="1662350"/>
            <a:ext cx="906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MariaDB</a:t>
            </a:r>
          </a:p>
          <a:p>
            <a:pPr defTabSz="914400" latin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ko-KR" sz="1200" kern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DATABASE</a:t>
            </a:r>
            <a:endParaRPr lang="ko-KR" altLang="en-US" sz="1200" kern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52" name="순서도: 자기 디스크 51"/>
          <p:cNvSpPr/>
          <p:nvPr/>
        </p:nvSpPr>
        <p:spPr>
          <a:xfrm>
            <a:off x="8075018" y="2201096"/>
            <a:ext cx="492290" cy="278182"/>
          </a:xfrm>
          <a:prstGeom prst="flowChartMagneticDisk">
            <a:avLst/>
          </a:prstGeom>
          <a:solidFill>
            <a:srgbClr val="FFFF00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5000" b="0" i="0" u="none" strike="noStrike" cap="none" spc="0" normalizeH="0" baseline="0">
              <a:ln>
                <a:noFill/>
              </a:ln>
              <a:solidFill>
                <a:srgbClr val="333333"/>
              </a:solidFill>
              <a:effectLst/>
              <a:uFillTx/>
              <a:latin typeface="+mn-lt"/>
              <a:ea typeface="+mn-ea"/>
              <a:cs typeface="+mn-cs"/>
              <a:sym typeface="Helvetica Neue Thin"/>
            </a:endParaRPr>
          </a:p>
        </p:txBody>
      </p:sp>
      <p:sp>
        <p:nvSpPr>
          <p:cNvPr id="45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9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D459B24-26F7-B118-930E-A2AB3D8E1639}"/>
              </a:ext>
            </a:extLst>
          </p:cNvPr>
          <p:cNvCxnSpPr>
            <a:cxnSpLocks/>
          </p:cNvCxnSpPr>
          <p:nvPr/>
        </p:nvCxnSpPr>
        <p:spPr>
          <a:xfrm>
            <a:off x="3486420" y="2381757"/>
            <a:ext cx="324985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4F5C94E-DF87-A72B-B7A6-0D3F0FFA62BF}"/>
              </a:ext>
            </a:extLst>
          </p:cNvPr>
          <p:cNvCxnSpPr>
            <a:cxnSpLocks/>
          </p:cNvCxnSpPr>
          <p:nvPr/>
        </p:nvCxnSpPr>
        <p:spPr>
          <a:xfrm>
            <a:off x="1029095" y="2527586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24E216-A8B9-E3B4-88F3-FEDB4BAF229A}"/>
              </a:ext>
            </a:extLst>
          </p:cNvPr>
          <p:cNvSpPr txBox="1"/>
          <p:nvPr/>
        </p:nvSpPr>
        <p:spPr>
          <a:xfrm>
            <a:off x="335849" y="2346461"/>
            <a:ext cx="908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팀전용</a:t>
            </a:r>
            <a:r>
              <a:rPr lang="ko-KR" altLang="en-US" sz="14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포트주소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D6B28B2-2D69-3D30-BFA6-28F96BA45884}"/>
              </a:ext>
            </a:extLst>
          </p:cNvPr>
          <p:cNvSpPr/>
          <p:nvPr/>
        </p:nvSpPr>
        <p:spPr>
          <a:xfrm>
            <a:off x="5171118" y="1533792"/>
            <a:ext cx="981880" cy="8640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2D10316-A2E8-7B95-E206-FCD1B11401F0}"/>
              </a:ext>
            </a:extLst>
          </p:cNvPr>
          <p:cNvSpPr/>
          <p:nvPr/>
        </p:nvSpPr>
        <p:spPr>
          <a:xfrm>
            <a:off x="5560332" y="2311955"/>
            <a:ext cx="144016" cy="104271"/>
          </a:xfrm>
          <a:prstGeom prst="ellipse">
            <a:avLst/>
          </a:prstGeom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5AB0E0-8DCE-F670-0AD4-FF075D04036C}"/>
              </a:ext>
            </a:extLst>
          </p:cNvPr>
          <p:cNvSpPr txBox="1"/>
          <p:nvPr/>
        </p:nvSpPr>
        <p:spPr>
          <a:xfrm>
            <a:off x="5288347" y="1808228"/>
            <a:ext cx="8162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21</a:t>
            </a:r>
            <a:r>
              <a:rPr lang="ko-KR" altLang="en-US" sz="1200" dirty="0" err="1"/>
              <a:t>팀서버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47EDD-05F0-D39E-472C-32664D04768C}"/>
              </a:ext>
            </a:extLst>
          </p:cNvPr>
          <p:cNvSpPr txBox="1"/>
          <p:nvPr/>
        </p:nvSpPr>
        <p:spPr>
          <a:xfrm>
            <a:off x="5472842" y="2437507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65021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5D4ABD9-EB3F-9A6A-ED8E-3A5463DBC98E}"/>
              </a:ext>
            </a:extLst>
          </p:cNvPr>
          <p:cNvSpPr/>
          <p:nvPr/>
        </p:nvSpPr>
        <p:spPr>
          <a:xfrm>
            <a:off x="3693273" y="1510686"/>
            <a:ext cx="981880" cy="8640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AE6EB1-4D35-AB08-E2F4-B61B72BDA2E2}"/>
              </a:ext>
            </a:extLst>
          </p:cNvPr>
          <p:cNvSpPr txBox="1"/>
          <p:nvPr/>
        </p:nvSpPr>
        <p:spPr>
          <a:xfrm>
            <a:off x="3741853" y="1641590"/>
            <a:ext cx="906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MariaDB</a:t>
            </a:r>
          </a:p>
          <a:p>
            <a:pPr defTabSz="914400" latin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ko-KR" sz="1200" kern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DATABASE</a:t>
            </a:r>
            <a:endParaRPr lang="ko-KR" altLang="en-US" sz="1200" kern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CE009D2D-CBCA-8DF0-0908-EF28CC5808AE}"/>
              </a:ext>
            </a:extLst>
          </p:cNvPr>
          <p:cNvSpPr/>
          <p:nvPr/>
        </p:nvSpPr>
        <p:spPr>
          <a:xfrm>
            <a:off x="4194926" y="2180336"/>
            <a:ext cx="492290" cy="278182"/>
          </a:xfrm>
          <a:prstGeom prst="flowChartMagneticDisk">
            <a:avLst/>
          </a:prstGeom>
          <a:solidFill>
            <a:srgbClr val="FFFF00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80000"/>
              </a:lnSpc>
              <a:spcBef>
                <a:spcPts val="5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5000" b="0" i="0" u="none" strike="noStrike" cap="none" spc="0" normalizeH="0" baseline="0">
              <a:ln>
                <a:noFill/>
              </a:ln>
              <a:solidFill>
                <a:srgbClr val="333333"/>
              </a:solidFill>
              <a:effectLst/>
              <a:uFillTx/>
              <a:latin typeface="+mn-lt"/>
              <a:ea typeface="+mn-ea"/>
              <a:cs typeface="+mn-cs"/>
              <a:sym typeface="Helvetica Neue Thin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BD1B885-E3A3-EC1F-CE33-7E89A40B1D02}"/>
              </a:ext>
            </a:extLst>
          </p:cNvPr>
          <p:cNvCxnSpPr>
            <a:cxnSpLocks/>
          </p:cNvCxnSpPr>
          <p:nvPr/>
        </p:nvCxnSpPr>
        <p:spPr>
          <a:xfrm>
            <a:off x="5058673" y="2859195"/>
            <a:ext cx="35691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57018D-84D1-BDB4-D12D-B88EBF80B846}"/>
              </a:ext>
            </a:extLst>
          </p:cNvPr>
          <p:cNvSpPr txBox="1"/>
          <p:nvPr/>
        </p:nvSpPr>
        <p:spPr>
          <a:xfrm>
            <a:off x="1115616" y="926214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ceprj.gachon.ac.kr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61DE2E-74E1-D3B3-AB4D-9971D346FE03}"/>
              </a:ext>
            </a:extLst>
          </p:cNvPr>
          <p:cNvSpPr txBox="1"/>
          <p:nvPr/>
        </p:nvSpPr>
        <p:spPr>
          <a:xfrm>
            <a:off x="5058673" y="951436"/>
            <a:ext cx="292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ceprj2.gachon.ac.kr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F5F88B0-CF7D-BDB4-ECBB-ED12135BE3E3}"/>
              </a:ext>
            </a:extLst>
          </p:cNvPr>
          <p:cNvCxnSpPr>
            <a:cxnSpLocks/>
          </p:cNvCxnSpPr>
          <p:nvPr/>
        </p:nvCxnSpPr>
        <p:spPr>
          <a:xfrm>
            <a:off x="7317079" y="2345752"/>
            <a:ext cx="324985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08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10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2F9F4-34C1-FB25-3925-EBD694887602}"/>
              </a:ext>
            </a:extLst>
          </p:cNvPr>
          <p:cNvSpPr txBox="1"/>
          <p:nvPr/>
        </p:nvSpPr>
        <p:spPr>
          <a:xfrm>
            <a:off x="2411760" y="2951946"/>
            <a:ext cx="4068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학과서버 활용</a:t>
            </a:r>
            <a:endParaRPr lang="en-US" altLang="ko-KR" sz="2800" b="1"/>
          </a:p>
          <a:p>
            <a:pPr algn="ctr"/>
            <a:r>
              <a:rPr lang="en-US" altLang="ko-KR" sz="2800" b="1"/>
              <a:t>(Web </a:t>
            </a:r>
            <a:r>
              <a:rPr lang="ko-KR" altLang="en-US" sz="2800" b="1"/>
              <a:t>사용편</a:t>
            </a:r>
            <a:r>
              <a:rPr lang="en-US" altLang="ko-KR" sz="2800" b="1"/>
              <a:t>)</a:t>
            </a:r>
            <a:endParaRPr lang="ko-KR" altLang="en-US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4D25A-F79F-B58C-DA82-B031FA22458F}"/>
              </a:ext>
            </a:extLst>
          </p:cNvPr>
          <p:cNvSpPr txBox="1"/>
          <p:nvPr/>
        </p:nvSpPr>
        <p:spPr>
          <a:xfrm>
            <a:off x="137475" y="1160372"/>
            <a:ext cx="886905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300"/>
              </a:spcBef>
            </a:pP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학과서버를 사용하지 않는 팀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예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퍼블릭 클라우드를 사용하는 팀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을</a:t>
            </a:r>
            <a:endParaRPr lang="en-US" altLang="ko-KR" b="1" dirty="0">
              <a:solidFill>
                <a:srgbClr val="FF0000"/>
              </a:solidFill>
              <a:latin typeface="+mj-ea"/>
            </a:endParaRPr>
          </a:p>
          <a:p>
            <a:pPr lvl="1">
              <a:spcBef>
                <a:spcPts val="300"/>
              </a:spcBef>
            </a:pP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추후에 파악하여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,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 계정을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삭제하고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</a:rPr>
              <a:t>팀전용포트를 회수할 예정입니다</a:t>
            </a:r>
            <a:r>
              <a:rPr lang="en-US" altLang="ko-KR" b="1" dirty="0">
                <a:solidFill>
                  <a:srgbClr val="FF0000"/>
                </a:solidFill>
                <a:latin typeface="+mj-ea"/>
              </a:rPr>
              <a:t>.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CCB627-07B3-F5B0-C60B-3A7049AAEEEE}"/>
              </a:ext>
            </a:extLst>
          </p:cNvPr>
          <p:cNvCxnSpPr/>
          <p:nvPr/>
        </p:nvCxnSpPr>
        <p:spPr>
          <a:xfrm>
            <a:off x="722906" y="2060848"/>
            <a:ext cx="8280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30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웹 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962778" y="3068960"/>
            <a:ext cx="3529012" cy="2826673"/>
          </a:xfrm>
          <a:prstGeom prst="rect">
            <a:avLst/>
          </a:prstGeom>
          <a:solidFill>
            <a:srgbClr val="BE2F13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HY헤드라인M" panose="02030600000101010101" pitchFamily="18" charset="-127"/>
            </a:endParaRPr>
          </a:p>
        </p:txBody>
      </p:sp>
      <p:sp>
        <p:nvSpPr>
          <p:cNvPr id="15" name="TextBox 65"/>
          <p:cNvSpPr txBox="1">
            <a:spLocks noChangeArrowheads="1"/>
          </p:cNvSpPr>
          <p:nvPr/>
        </p:nvSpPr>
        <p:spPr bwMode="auto">
          <a:xfrm>
            <a:off x="991353" y="3094360"/>
            <a:ext cx="2781531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$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pwd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HY헤드라인M" panose="02030600000101010101" pitchFamily="18" charset="-127"/>
            </a:endParaRP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9900FF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/home/t25308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9900FF"/>
              </a:solidFill>
              <a:effectLst/>
              <a:uLnTx/>
              <a:uFillTx/>
              <a:latin typeface="Arial" panose="020B0604020202020204" pitchFamily="34" charset="0"/>
              <a:ea typeface="HY헤드라인M" panose="02030600000101010101" pitchFamily="18" charset="-127"/>
            </a:endParaRP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$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npm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install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  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ejs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HY헤드라인M" panose="02030600000101010101" pitchFamily="18" charset="-127"/>
            </a:endParaRPr>
          </a:p>
          <a:p>
            <a:pPr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/>
              <a:t>$ </a:t>
            </a:r>
            <a:r>
              <a:rPr lang="en-US" altLang="ko-KR" sz="1400" dirty="0" err="1"/>
              <a:t>npm</a:t>
            </a:r>
            <a:r>
              <a:rPr lang="en-US" altLang="ko-KR" sz="1400" dirty="0"/>
              <a:t>   </a:t>
            </a:r>
            <a:r>
              <a:rPr lang="en-US" altLang="ko-KR" sz="1400" kern="1200" dirty="0">
                <a:solidFill>
                  <a:srgbClr val="0000FF"/>
                </a:solidFill>
              </a:rPr>
              <a:t>install   </a:t>
            </a:r>
            <a:r>
              <a:rPr lang="en-US" altLang="ko-KR" sz="1400" kern="1200" dirty="0">
                <a:solidFill>
                  <a:srgbClr val="00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express </a:t>
            </a:r>
          </a:p>
          <a:p>
            <a:pPr lvl="0"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kern="1200" dirty="0">
                <a:solidFill>
                  <a:srgbClr val="000000"/>
                </a:solidFill>
              </a:rPr>
              <a:t>$</a:t>
            </a:r>
            <a:r>
              <a:rPr lang="en-US" altLang="ko-KR" sz="1400" kern="1200" dirty="0">
                <a:solidFill>
                  <a:srgbClr val="FF0000"/>
                </a:solidFill>
              </a:rPr>
              <a:t> </a:t>
            </a:r>
            <a:r>
              <a:rPr lang="en-US" altLang="ko-KR" sz="1400" kern="1200" dirty="0" err="1">
                <a:solidFill>
                  <a:srgbClr val="000000"/>
                </a:solidFill>
              </a:rPr>
              <a:t>npm</a:t>
            </a:r>
            <a:r>
              <a:rPr lang="en-US" altLang="ko-KR" sz="1400" kern="1200" dirty="0">
                <a:solidFill>
                  <a:srgbClr val="000000"/>
                </a:solidFill>
              </a:rPr>
              <a:t>   </a:t>
            </a:r>
            <a:r>
              <a:rPr lang="en-US" altLang="ko-KR" sz="1400" kern="1200" dirty="0">
                <a:solidFill>
                  <a:srgbClr val="0000FF"/>
                </a:solidFill>
              </a:rPr>
              <a:t>install</a:t>
            </a:r>
            <a:r>
              <a:rPr lang="en-US" altLang="ko-KR" sz="1400" kern="1200" dirty="0">
                <a:solidFill>
                  <a:srgbClr val="000000"/>
                </a:solidFill>
              </a:rPr>
              <a:t>  </a:t>
            </a:r>
            <a:r>
              <a:rPr lang="en-US" altLang="ko-KR" sz="1400" kern="1200" dirty="0">
                <a:solidFill>
                  <a:srgbClr val="FF0000"/>
                </a:solidFill>
              </a:rPr>
              <a:t>  cookie-parser</a:t>
            </a:r>
          </a:p>
          <a:p>
            <a:pPr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/>
              <a:t>$ </a:t>
            </a:r>
            <a:r>
              <a:rPr lang="en-US" altLang="ko-KR" sz="1400" dirty="0" err="1"/>
              <a:t>npm</a:t>
            </a:r>
            <a:r>
              <a:rPr lang="en-US" altLang="ko-KR" sz="1400" dirty="0"/>
              <a:t>   </a:t>
            </a:r>
            <a:r>
              <a:rPr lang="en-US" altLang="ko-KR" sz="1400" kern="1200" dirty="0">
                <a:solidFill>
                  <a:srgbClr val="0000FF"/>
                </a:solidFill>
              </a:rPr>
              <a:t>install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/>
              <a:t>   </a:t>
            </a:r>
            <a:r>
              <a:rPr lang="en-US" altLang="ko-KR" sz="1400" dirty="0">
                <a:solidFill>
                  <a:srgbClr val="FF0000"/>
                </a:solidFill>
              </a:rPr>
              <a:t>body-parser</a:t>
            </a:r>
          </a:p>
          <a:p>
            <a:pPr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kern="1200" dirty="0">
                <a:solidFill>
                  <a:srgbClr val="000000"/>
                </a:solidFill>
              </a:rPr>
              <a:t>$</a:t>
            </a:r>
            <a:r>
              <a:rPr lang="en-US" altLang="ko-KR" sz="1400" kern="1200" dirty="0">
                <a:solidFill>
                  <a:srgbClr val="FF0000"/>
                </a:solidFill>
              </a:rPr>
              <a:t> </a:t>
            </a:r>
            <a:r>
              <a:rPr lang="en-US" altLang="ko-KR" sz="1400" kern="1200" dirty="0" err="1">
                <a:solidFill>
                  <a:srgbClr val="000000"/>
                </a:solidFill>
              </a:rPr>
              <a:t>npm</a:t>
            </a:r>
            <a:r>
              <a:rPr lang="en-US" altLang="ko-KR" sz="1400" kern="1200" dirty="0">
                <a:solidFill>
                  <a:srgbClr val="000000"/>
                </a:solidFill>
              </a:rPr>
              <a:t>   </a:t>
            </a:r>
            <a:r>
              <a:rPr lang="en-US" altLang="ko-KR" sz="1400" kern="1200" dirty="0">
                <a:solidFill>
                  <a:srgbClr val="0000FF"/>
                </a:solidFill>
              </a:rPr>
              <a:t>install</a:t>
            </a:r>
            <a:r>
              <a:rPr lang="en-US" altLang="ko-KR" sz="1400" kern="1200" dirty="0">
                <a:solidFill>
                  <a:srgbClr val="000000"/>
                </a:solidFill>
              </a:rPr>
              <a:t>    </a:t>
            </a:r>
            <a:r>
              <a:rPr lang="en-US" altLang="ko-KR" sz="1400" kern="1200" dirty="0">
                <a:solidFill>
                  <a:srgbClr val="FF0000"/>
                </a:solidFill>
              </a:rPr>
              <a:t>express-session</a:t>
            </a:r>
          </a:p>
          <a:p>
            <a:pPr lvl="0"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dirty="0"/>
              <a:t>$ </a:t>
            </a:r>
            <a:r>
              <a:rPr lang="en-US" altLang="ko-KR" sz="1400" dirty="0" err="1"/>
              <a:t>npm</a:t>
            </a:r>
            <a:r>
              <a:rPr lang="en-US" altLang="ko-KR" sz="1400" dirty="0"/>
              <a:t>  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kern="1200" dirty="0" err="1">
                <a:solidFill>
                  <a:srgbClr val="0000FF"/>
                </a:solidFill>
              </a:rPr>
              <a:t>nstall</a:t>
            </a:r>
            <a:r>
              <a:rPr lang="en-US" altLang="ko-KR" sz="1400" kern="1200" dirty="0">
                <a:solidFill>
                  <a:srgbClr val="000000"/>
                </a:solidFill>
              </a:rPr>
              <a:t>     </a:t>
            </a:r>
            <a:r>
              <a:rPr lang="en-US" altLang="ko-KR" sz="1400" dirty="0" err="1">
                <a:solidFill>
                  <a:srgbClr val="FF0000"/>
                </a:solidFill>
              </a:rPr>
              <a:t>mysql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kern="1200" dirty="0">
                <a:solidFill>
                  <a:srgbClr val="000000"/>
                </a:solidFill>
              </a:rPr>
              <a:t>$</a:t>
            </a:r>
            <a:r>
              <a:rPr lang="en-US" altLang="ko-KR" sz="1400" kern="1200" dirty="0">
                <a:solidFill>
                  <a:srgbClr val="FF0000"/>
                </a:solidFill>
              </a:rPr>
              <a:t> </a:t>
            </a:r>
            <a:r>
              <a:rPr lang="en-US" altLang="ko-KR" sz="1400" kern="1200" dirty="0" err="1">
                <a:solidFill>
                  <a:srgbClr val="000000"/>
                </a:solidFill>
              </a:rPr>
              <a:t>npm</a:t>
            </a:r>
            <a:r>
              <a:rPr lang="en-US" altLang="ko-KR" sz="1400" kern="1200" dirty="0">
                <a:solidFill>
                  <a:srgbClr val="000000"/>
                </a:solidFill>
              </a:rPr>
              <a:t>   </a:t>
            </a:r>
            <a:r>
              <a:rPr lang="en-US" altLang="ko-KR" sz="1400" kern="1200" dirty="0">
                <a:solidFill>
                  <a:srgbClr val="0000FF"/>
                </a:solidFill>
              </a:rPr>
              <a:t>install</a:t>
            </a:r>
            <a:r>
              <a:rPr lang="en-US" altLang="ko-KR" sz="1400" kern="1200" dirty="0">
                <a:solidFill>
                  <a:srgbClr val="000000"/>
                </a:solidFill>
              </a:rPr>
              <a:t>    </a:t>
            </a:r>
            <a:r>
              <a:rPr lang="en-US" altLang="ko-KR" sz="1400" kern="1200" dirty="0" err="1">
                <a:solidFill>
                  <a:srgbClr val="FF0000"/>
                </a:solidFill>
              </a:rPr>
              <a:t>multer</a:t>
            </a:r>
            <a:endParaRPr lang="en-US" altLang="ko-KR" sz="1400" kern="1200" dirty="0">
              <a:solidFill>
                <a:srgbClr val="FF0000"/>
              </a:solidFill>
            </a:endParaRPr>
          </a:p>
          <a:p>
            <a:pPr lvl="0" algn="l" defTabSz="914400" eaLnBrk="0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dirty="0"/>
              <a:t>$ </a:t>
            </a:r>
            <a:r>
              <a:rPr lang="en-US" altLang="ko-KR" sz="1400" dirty="0" err="1"/>
              <a:t>npm</a:t>
            </a:r>
            <a:r>
              <a:rPr lang="en-US" altLang="ko-KR" sz="1400" dirty="0"/>
              <a:t>  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kern="1200" dirty="0" err="1">
                <a:solidFill>
                  <a:srgbClr val="0000FF"/>
                </a:solidFill>
              </a:rPr>
              <a:t>nstall</a:t>
            </a:r>
            <a:r>
              <a:rPr lang="en-US" altLang="ko-KR" sz="1400" kern="1200" dirty="0">
                <a:solidFill>
                  <a:srgbClr val="000000"/>
                </a:solidFill>
              </a:rPr>
              <a:t>     </a:t>
            </a:r>
            <a:r>
              <a:rPr lang="en-US" altLang="ko-KR" sz="1400" dirty="0">
                <a:solidFill>
                  <a:srgbClr val="FF0000"/>
                </a:solidFill>
              </a:rPr>
              <a:t>http-errors</a:t>
            </a:r>
            <a:endParaRPr lang="en-US" altLang="ko-KR" sz="1400" b="1" dirty="0">
              <a:solidFill>
                <a:srgbClr val="0000FF"/>
              </a:solidFill>
            </a:endParaRP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HY헤드라인M" panose="02030600000101010101" pitchFamily="18" charset="-127"/>
              </a:rPr>
              <a:t> …. </a:t>
            </a:r>
          </a:p>
        </p:txBody>
      </p:sp>
      <p:sp>
        <p:nvSpPr>
          <p:cNvPr id="16" name="TextBox 66"/>
          <p:cNvSpPr txBox="1">
            <a:spLocks noChangeArrowheads="1"/>
          </p:cNvSpPr>
          <p:nvPr/>
        </p:nvSpPr>
        <p:spPr bwMode="auto">
          <a:xfrm>
            <a:off x="4971625" y="3172720"/>
            <a:ext cx="11224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 dirty="0">
                <a:solidFill>
                  <a:srgbClr val="FF00FF"/>
                </a:solidFill>
                <a:sym typeface="Wingdings 3" panose="05040102010807070707" pitchFamily="18" charset="2"/>
              </a:rPr>
              <a:t>/home/t25308</a:t>
            </a:r>
          </a:p>
        </p:txBody>
      </p:sp>
      <p:cxnSp>
        <p:nvCxnSpPr>
          <p:cNvPr id="17" name="직선 연결선 67"/>
          <p:cNvCxnSpPr>
            <a:cxnSpLocks noChangeShapeType="1"/>
          </p:cNvCxnSpPr>
          <p:nvPr/>
        </p:nvCxnSpPr>
        <p:spPr bwMode="auto">
          <a:xfrm>
            <a:off x="6908045" y="3695594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직사각형 71"/>
          <p:cNvSpPr>
            <a:spLocks noChangeArrowheads="1"/>
          </p:cNvSpPr>
          <p:nvPr/>
        </p:nvSpPr>
        <p:spPr bwMode="auto">
          <a:xfrm>
            <a:off x="4840167" y="3094359"/>
            <a:ext cx="3692273" cy="280127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721039" y="2792735"/>
            <a:ext cx="1909762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 3" panose="05040102010807070707" pitchFamily="18" charset="2"/>
              </a:rPr>
              <a:t>Local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 3" panose="05040102010807070707" pitchFamily="18" charset="2"/>
              </a:rPr>
              <a:t>설치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 3" panose="05040102010807070707" pitchFamily="18" charset="2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 3" panose="05040102010807070707" pitchFamily="18" charset="2"/>
              </a:rPr>
              <a:t>디렉터리 위치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358389" y="3140968"/>
            <a:ext cx="11112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100" dirty="0" err="1">
                <a:solidFill>
                  <a:srgbClr val="FF0000"/>
                </a:solidFill>
              </a:rPr>
              <a:t>node_modules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1" name="직사각형 23"/>
          <p:cNvSpPr>
            <a:spLocks noChangeArrowheads="1"/>
          </p:cNvSpPr>
          <p:nvPr/>
        </p:nvSpPr>
        <p:spPr bwMode="auto">
          <a:xfrm>
            <a:off x="7091743" y="3373573"/>
            <a:ext cx="721672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>
                <a:solidFill>
                  <a:srgbClr val="0000FF"/>
                </a:solidFill>
                <a:sym typeface="Wingdings 3" panose="05040102010807070707" pitchFamily="18" charset="2"/>
              </a:rPr>
              <a:t>express</a:t>
            </a:r>
          </a:p>
        </p:txBody>
      </p:sp>
      <p:cxnSp>
        <p:nvCxnSpPr>
          <p:cNvPr id="22" name="직선 연결선 21"/>
          <p:cNvCxnSpPr>
            <a:cxnSpLocks/>
          </p:cNvCxnSpPr>
          <p:nvPr/>
        </p:nvCxnSpPr>
        <p:spPr>
          <a:xfrm flipH="1">
            <a:off x="6084168" y="3284929"/>
            <a:ext cx="321709" cy="11108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직선 연결선 22"/>
          <p:cNvCxnSpPr>
            <a:cxnSpLocks/>
            <a:stCxn id="20" idx="2"/>
          </p:cNvCxnSpPr>
          <p:nvPr/>
        </p:nvCxnSpPr>
        <p:spPr>
          <a:xfrm>
            <a:off x="6914014" y="3402905"/>
            <a:ext cx="17105" cy="1290647"/>
          </a:xfrm>
          <a:prstGeom prst="line">
            <a:avLst/>
          </a:prstGeom>
          <a:noFill/>
          <a:ln w="9525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직사각형 23"/>
          <p:cNvSpPr>
            <a:spLocks noChangeArrowheads="1"/>
          </p:cNvSpPr>
          <p:nvPr/>
        </p:nvSpPr>
        <p:spPr bwMode="auto">
          <a:xfrm>
            <a:off x="7091743" y="3567168"/>
            <a:ext cx="380232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 err="1">
                <a:solidFill>
                  <a:srgbClr val="0000FF"/>
                </a:solidFill>
                <a:sym typeface="Wingdings 3" panose="05040102010807070707" pitchFamily="18" charset="2"/>
              </a:rPr>
              <a:t>ejs</a:t>
            </a:r>
            <a:endParaRPr lang="en-US" altLang="ko-KR" sz="1200" dirty="0">
              <a:solidFill>
                <a:srgbClr val="0000FF"/>
              </a:solidFill>
              <a:sym typeface="Wingdings 3" panose="05040102010807070707" pitchFamily="18" charset="2"/>
            </a:endParaRPr>
          </a:p>
        </p:txBody>
      </p:sp>
      <p:cxnSp>
        <p:nvCxnSpPr>
          <p:cNvPr id="26" name="직선 연결선 67"/>
          <p:cNvCxnSpPr>
            <a:cxnSpLocks noChangeShapeType="1"/>
          </p:cNvCxnSpPr>
          <p:nvPr/>
        </p:nvCxnSpPr>
        <p:spPr bwMode="auto">
          <a:xfrm>
            <a:off x="6929190" y="3889189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직사각형 23"/>
          <p:cNvSpPr>
            <a:spLocks noChangeArrowheads="1"/>
          </p:cNvSpPr>
          <p:nvPr/>
        </p:nvSpPr>
        <p:spPr bwMode="auto">
          <a:xfrm>
            <a:off x="7112888" y="3760763"/>
            <a:ext cx="1292341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>
                <a:solidFill>
                  <a:srgbClr val="0000FF"/>
                </a:solidFill>
                <a:sym typeface="Wingdings 3" panose="05040102010807070707" pitchFamily="18" charset="2"/>
              </a:rPr>
              <a:t>express-session</a:t>
            </a:r>
          </a:p>
        </p:txBody>
      </p:sp>
      <p:cxnSp>
        <p:nvCxnSpPr>
          <p:cNvPr id="28" name="직선 연결선 67"/>
          <p:cNvCxnSpPr>
            <a:cxnSpLocks noChangeShapeType="1"/>
          </p:cNvCxnSpPr>
          <p:nvPr/>
        </p:nvCxnSpPr>
        <p:spPr bwMode="auto">
          <a:xfrm>
            <a:off x="6914675" y="4081548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직사각형 23"/>
          <p:cNvSpPr>
            <a:spLocks noChangeArrowheads="1"/>
          </p:cNvSpPr>
          <p:nvPr/>
        </p:nvSpPr>
        <p:spPr bwMode="auto">
          <a:xfrm>
            <a:off x="7098373" y="3953122"/>
            <a:ext cx="1002197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>
                <a:solidFill>
                  <a:srgbClr val="0000FF"/>
                </a:solidFill>
                <a:sym typeface="Wingdings 3" panose="05040102010807070707" pitchFamily="18" charset="2"/>
              </a:rPr>
              <a:t>body-parser</a:t>
            </a:r>
          </a:p>
        </p:txBody>
      </p:sp>
      <p:cxnSp>
        <p:nvCxnSpPr>
          <p:cNvPr id="30" name="직선 연결선 67"/>
          <p:cNvCxnSpPr>
            <a:cxnSpLocks noChangeShapeType="1"/>
          </p:cNvCxnSpPr>
          <p:nvPr/>
        </p:nvCxnSpPr>
        <p:spPr bwMode="auto">
          <a:xfrm>
            <a:off x="6935820" y="4275143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직사각형 23"/>
          <p:cNvSpPr>
            <a:spLocks noChangeArrowheads="1"/>
          </p:cNvSpPr>
          <p:nvPr/>
        </p:nvSpPr>
        <p:spPr bwMode="auto">
          <a:xfrm>
            <a:off x="7119518" y="4146717"/>
            <a:ext cx="1112805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>
                <a:solidFill>
                  <a:srgbClr val="0000FF"/>
                </a:solidFill>
                <a:sym typeface="Wingdings 3" panose="05040102010807070707" pitchFamily="18" charset="2"/>
              </a:rPr>
              <a:t>cookie-parser</a:t>
            </a:r>
          </a:p>
        </p:txBody>
      </p:sp>
      <p:cxnSp>
        <p:nvCxnSpPr>
          <p:cNvPr id="32" name="직선 연결선 67"/>
          <p:cNvCxnSpPr>
            <a:cxnSpLocks noChangeShapeType="1"/>
          </p:cNvCxnSpPr>
          <p:nvPr/>
        </p:nvCxnSpPr>
        <p:spPr bwMode="auto">
          <a:xfrm>
            <a:off x="6937891" y="4467502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직선 연결선 67"/>
          <p:cNvCxnSpPr>
            <a:cxnSpLocks noChangeShapeType="1"/>
          </p:cNvCxnSpPr>
          <p:nvPr/>
        </p:nvCxnSpPr>
        <p:spPr bwMode="auto">
          <a:xfrm>
            <a:off x="6959036" y="4661097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직사각형 23"/>
          <p:cNvSpPr>
            <a:spLocks noChangeArrowheads="1"/>
          </p:cNvSpPr>
          <p:nvPr/>
        </p:nvSpPr>
        <p:spPr bwMode="auto">
          <a:xfrm>
            <a:off x="7142734" y="4532671"/>
            <a:ext cx="338554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>
                <a:solidFill>
                  <a:srgbClr val="0000FF"/>
                </a:solidFill>
                <a:sym typeface="Wingdings 3" panose="05040102010807070707" pitchFamily="18" charset="2"/>
              </a:rPr>
              <a:t>…</a:t>
            </a:r>
          </a:p>
        </p:txBody>
      </p:sp>
      <p:sp>
        <p:nvSpPr>
          <p:cNvPr id="35" name="직사각형 23"/>
          <p:cNvSpPr>
            <a:spLocks noChangeArrowheads="1"/>
          </p:cNvSpPr>
          <p:nvPr/>
        </p:nvSpPr>
        <p:spPr bwMode="auto">
          <a:xfrm>
            <a:off x="7121783" y="4335634"/>
            <a:ext cx="585417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 dirty="0" err="1">
                <a:solidFill>
                  <a:srgbClr val="0000FF"/>
                </a:solidFill>
                <a:sym typeface="Wingdings 3" panose="05040102010807070707" pitchFamily="18" charset="2"/>
              </a:rPr>
              <a:t>mysql</a:t>
            </a:r>
            <a:endParaRPr lang="en-US" altLang="ko-KR" sz="1200" dirty="0">
              <a:solidFill>
                <a:srgbClr val="0000FF"/>
              </a:solidFill>
              <a:sym typeface="Wingdings 3" panose="05040102010807070707" pitchFamily="18" charset="2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11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cxnSp>
        <p:nvCxnSpPr>
          <p:cNvPr id="4" name="직선 연결선 67">
            <a:extLst>
              <a:ext uri="{FF2B5EF4-FFF2-40B4-BE49-F238E27FC236}">
                <a16:creationId xmlns:a16="http://schemas.microsoft.com/office/drawing/2014/main" id="{BF8D937D-2FF2-5536-8681-B4E732C849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08045" y="3533733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5BA07E-5FAC-5552-BCB7-30B1A5DC5426}"/>
              </a:ext>
            </a:extLst>
          </p:cNvPr>
          <p:cNvSpPr txBox="1"/>
          <p:nvPr/>
        </p:nvSpPr>
        <p:spPr>
          <a:xfrm>
            <a:off x="3215984" y="3228584"/>
            <a:ext cx="1440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각 팀별마다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예</a:t>
            </a:r>
            <a:r>
              <a:rPr lang="en-US" altLang="ko-KR" sz="1100" dirty="0">
                <a:solidFill>
                  <a:srgbClr val="FF0000"/>
                </a:solidFill>
              </a:rPr>
              <a:t>) 8</a:t>
            </a:r>
            <a:r>
              <a:rPr lang="ko-KR" altLang="en-US" sz="1100" dirty="0">
                <a:solidFill>
                  <a:srgbClr val="FF0000"/>
                </a:solidFill>
              </a:rPr>
              <a:t>팀의 경우</a:t>
            </a: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05D88E11-FF3B-B363-A595-7E9AD880C98E}"/>
              </a:ext>
            </a:extLst>
          </p:cNvPr>
          <p:cNvSpPr/>
          <p:nvPr/>
        </p:nvSpPr>
        <p:spPr>
          <a:xfrm>
            <a:off x="2067567" y="3363556"/>
            <a:ext cx="1148417" cy="351076"/>
          </a:xfrm>
          <a:custGeom>
            <a:avLst/>
            <a:gdLst>
              <a:gd name="connsiteX0" fmla="*/ 1148417 w 1148417"/>
              <a:gd name="connsiteY0" fmla="*/ 4384 h 351076"/>
              <a:gd name="connsiteX1" fmla="*/ 741054 w 1148417"/>
              <a:gd name="connsiteY1" fmla="*/ 60721 h 351076"/>
              <a:gd name="connsiteX2" fmla="*/ 567708 w 1148417"/>
              <a:gd name="connsiteY2" fmla="*/ 4384 h 351076"/>
              <a:gd name="connsiteX3" fmla="*/ 589376 w 1148417"/>
              <a:gd name="connsiteY3" fmla="*/ 112725 h 351076"/>
              <a:gd name="connsiteX4" fmla="*/ 485368 w 1148417"/>
              <a:gd name="connsiteY4" fmla="*/ 17385 h 351076"/>
              <a:gd name="connsiteX5" fmla="*/ 498369 w 1148417"/>
              <a:gd name="connsiteY5" fmla="*/ 121392 h 351076"/>
              <a:gd name="connsiteX6" fmla="*/ 437698 w 1148417"/>
              <a:gd name="connsiteY6" fmla="*/ 50 h 351076"/>
              <a:gd name="connsiteX7" fmla="*/ 459366 w 1148417"/>
              <a:gd name="connsiteY7" fmla="*/ 138727 h 351076"/>
              <a:gd name="connsiteX8" fmla="*/ 325023 w 1148417"/>
              <a:gd name="connsiteY8" fmla="*/ 13051 h 351076"/>
              <a:gd name="connsiteX9" fmla="*/ 0 w 1148417"/>
              <a:gd name="connsiteY9" fmla="*/ 351076 h 351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8417" h="351076">
                <a:moveTo>
                  <a:pt x="1148417" y="4384"/>
                </a:moveTo>
                <a:cubicBezTo>
                  <a:pt x="993128" y="32552"/>
                  <a:pt x="837839" y="60721"/>
                  <a:pt x="741054" y="60721"/>
                </a:cubicBezTo>
                <a:cubicBezTo>
                  <a:pt x="644269" y="60721"/>
                  <a:pt x="592988" y="-4283"/>
                  <a:pt x="567708" y="4384"/>
                </a:cubicBezTo>
                <a:cubicBezTo>
                  <a:pt x="542428" y="13051"/>
                  <a:pt x="603099" y="110558"/>
                  <a:pt x="589376" y="112725"/>
                </a:cubicBezTo>
                <a:cubicBezTo>
                  <a:pt x="575653" y="114892"/>
                  <a:pt x="500536" y="15941"/>
                  <a:pt x="485368" y="17385"/>
                </a:cubicBezTo>
                <a:cubicBezTo>
                  <a:pt x="470200" y="18830"/>
                  <a:pt x="506314" y="124281"/>
                  <a:pt x="498369" y="121392"/>
                </a:cubicBezTo>
                <a:cubicBezTo>
                  <a:pt x="490424" y="118503"/>
                  <a:pt x="444198" y="-2839"/>
                  <a:pt x="437698" y="50"/>
                </a:cubicBezTo>
                <a:cubicBezTo>
                  <a:pt x="431197" y="2939"/>
                  <a:pt x="478145" y="136560"/>
                  <a:pt x="459366" y="138727"/>
                </a:cubicBezTo>
                <a:cubicBezTo>
                  <a:pt x="440587" y="140894"/>
                  <a:pt x="401584" y="-22340"/>
                  <a:pt x="325023" y="13051"/>
                </a:cubicBezTo>
                <a:cubicBezTo>
                  <a:pt x="248462" y="48442"/>
                  <a:pt x="124231" y="199759"/>
                  <a:pt x="0" y="351076"/>
                </a:cubicBezTo>
              </a:path>
            </a:pathLst>
          </a:custGeom>
          <a:noFill/>
          <a:ln w="31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D9A5A6-2FCE-4DC6-9025-D56B84A786DC}"/>
              </a:ext>
            </a:extLst>
          </p:cNvPr>
          <p:cNvSpPr txBox="1">
            <a:spLocks/>
          </p:cNvSpPr>
          <p:nvPr/>
        </p:nvSpPr>
        <p:spPr bwMode="auto">
          <a:xfrm>
            <a:off x="311910" y="962367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Node.js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프레임워크 사용시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학과서버에 </a:t>
            </a:r>
            <a:r>
              <a:rPr lang="en-US" altLang="ko-KR" sz="1400" b="1" dirty="0" err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nodejs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이미 설치되어 있음</a:t>
            </a:r>
            <a:endParaRPr lang="en-US" altLang="ko-KR" sz="1400" b="1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buClr>
                <a:srgbClr val="4F81BD"/>
              </a:buClr>
            </a:pP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팀이 해야 할 일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6700" lvl="1" indent="0">
              <a:buClr>
                <a:srgbClr val="4F81BD"/>
              </a:buClr>
              <a:buNone/>
            </a:pP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en-US" altLang="ko-KR" sz="140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npm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패키지를 아래 디렉터리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홈디렉터리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별도로 설치하되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marL="266700" lvl="1" indent="0">
              <a:buClr>
                <a:srgbClr val="4F81BD"/>
              </a:buClr>
              <a:buNone/>
            </a:pP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 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중복설치는 하지 말 것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BE4943CB-4786-A4EE-584D-84A78D0E442C}"/>
              </a:ext>
            </a:extLst>
          </p:cNvPr>
          <p:cNvSpPr/>
          <p:nvPr/>
        </p:nvSpPr>
        <p:spPr>
          <a:xfrm>
            <a:off x="6557818" y="2666550"/>
            <a:ext cx="175491" cy="544946"/>
          </a:xfrm>
          <a:custGeom>
            <a:avLst/>
            <a:gdLst>
              <a:gd name="connsiteX0" fmla="*/ 0 w 175491"/>
              <a:gd name="connsiteY0" fmla="*/ 0 h 544946"/>
              <a:gd name="connsiteX1" fmla="*/ 129309 w 175491"/>
              <a:gd name="connsiteY1" fmla="*/ 249382 h 544946"/>
              <a:gd name="connsiteX2" fmla="*/ 175491 w 175491"/>
              <a:gd name="connsiteY2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491" h="544946">
                <a:moveTo>
                  <a:pt x="0" y="0"/>
                </a:moveTo>
                <a:cubicBezTo>
                  <a:pt x="50030" y="79279"/>
                  <a:pt x="100061" y="158558"/>
                  <a:pt x="129309" y="249382"/>
                </a:cubicBezTo>
                <a:cubicBezTo>
                  <a:pt x="158557" y="340206"/>
                  <a:pt x="167024" y="442576"/>
                  <a:pt x="175491" y="544946"/>
                </a:cubicBezTo>
              </a:path>
            </a:pathLst>
          </a:custGeom>
          <a:noFill/>
          <a:ln w="12700">
            <a:solidFill>
              <a:srgbClr val="FF006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67">
            <a:extLst>
              <a:ext uri="{FF2B5EF4-FFF2-40B4-BE49-F238E27FC236}">
                <a16:creationId xmlns:a16="http://schemas.microsoft.com/office/drawing/2014/main" id="{89671011-276D-3D42-8301-54DAE959F7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8184" y="5179799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직사각형 23">
            <a:extLst>
              <a:ext uri="{FF2B5EF4-FFF2-40B4-BE49-F238E27FC236}">
                <a16:creationId xmlns:a16="http://schemas.microsoft.com/office/drawing/2014/main" id="{918D6D03-06CA-ADFB-FDE2-D009F0C3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882" y="4857778"/>
            <a:ext cx="6799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>
                <a:solidFill>
                  <a:srgbClr val="0000FF"/>
                </a:solidFill>
                <a:sym typeface="Wingdings 3" panose="05040102010807070707" pitchFamily="18" charset="2"/>
              </a:rPr>
              <a:t>v0.5src</a:t>
            </a:r>
            <a:endParaRPr lang="en-US" altLang="ko-KR" sz="1200" dirty="0">
              <a:solidFill>
                <a:srgbClr val="0000FF"/>
              </a:solidFill>
              <a:sym typeface="Wingdings 3" panose="05040102010807070707" pitchFamily="18" charset="2"/>
            </a:endParaRPr>
          </a:p>
        </p:txBody>
      </p:sp>
      <p:sp>
        <p:nvSpPr>
          <p:cNvPr id="10" name="직사각형 23">
            <a:extLst>
              <a:ext uri="{FF2B5EF4-FFF2-40B4-BE49-F238E27FC236}">
                <a16:creationId xmlns:a16="http://schemas.microsoft.com/office/drawing/2014/main" id="{46D891B6-A366-75C3-2EEA-73766504F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882" y="5051373"/>
            <a:ext cx="6799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>
                <a:solidFill>
                  <a:srgbClr val="0000FF"/>
                </a:solidFill>
                <a:sym typeface="Wingdings 3" panose="05040102010807070707" pitchFamily="18" charset="2"/>
              </a:rPr>
              <a:t>v0.9src</a:t>
            </a:r>
            <a:endParaRPr lang="en-US" altLang="ko-KR" sz="1200" dirty="0">
              <a:solidFill>
                <a:srgbClr val="0000FF"/>
              </a:solidFill>
              <a:sym typeface="Wingdings 3" panose="05040102010807070707" pitchFamily="18" charset="2"/>
            </a:endParaRPr>
          </a:p>
        </p:txBody>
      </p:sp>
      <p:cxnSp>
        <p:nvCxnSpPr>
          <p:cNvPr id="11" name="직선 연결선 67">
            <a:extLst>
              <a:ext uri="{FF2B5EF4-FFF2-40B4-BE49-F238E27FC236}">
                <a16:creationId xmlns:a16="http://schemas.microsoft.com/office/drawing/2014/main" id="{D32EC585-7A26-26FE-5F27-C72F50C632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49329" y="5373394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직선 연결선 67">
            <a:extLst>
              <a:ext uri="{FF2B5EF4-FFF2-40B4-BE49-F238E27FC236}">
                <a16:creationId xmlns:a16="http://schemas.microsoft.com/office/drawing/2014/main" id="{2E7D91ED-EAD7-7EA2-ED3C-5C798B5C8B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8184" y="5017938"/>
            <a:ext cx="18369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직사각형 23">
            <a:extLst>
              <a:ext uri="{FF2B5EF4-FFF2-40B4-BE49-F238E27FC236}">
                <a16:creationId xmlns:a16="http://schemas.microsoft.com/office/drawing/2014/main" id="{09661055-8078-A2B4-6DDA-24F058BF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817" y="5240233"/>
            <a:ext cx="6799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pPr algn="l"/>
            <a:r>
              <a:rPr lang="en-US" altLang="ko-KR" sz="1200">
                <a:solidFill>
                  <a:srgbClr val="0000FF"/>
                </a:solidFill>
                <a:sym typeface="Wingdings 3" panose="05040102010807070707" pitchFamily="18" charset="2"/>
              </a:rPr>
              <a:t>v1.0src</a:t>
            </a:r>
            <a:endParaRPr lang="en-US" altLang="ko-KR" sz="1200" dirty="0">
              <a:solidFill>
                <a:srgbClr val="0000FF"/>
              </a:solidFill>
              <a:sym typeface="Wingdings 3" panose="05040102010807070707" pitchFamily="18" charset="2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90449DC-846F-22FC-0F26-25D7A27CAA32}"/>
              </a:ext>
            </a:extLst>
          </p:cNvPr>
          <p:cNvCxnSpPr/>
          <p:nvPr/>
        </p:nvCxnSpPr>
        <p:spPr>
          <a:xfrm>
            <a:off x="6245022" y="3308062"/>
            <a:ext cx="0" cy="205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>
            <a:extLst>
              <a:ext uri="{FF2B5EF4-FFF2-40B4-BE49-F238E27FC236}">
                <a16:creationId xmlns:a16="http://schemas.microsoft.com/office/drawing/2014/main" id="{3B8FA508-45D5-FE36-600D-546703B55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088805"/>
            <a:ext cx="2763880" cy="11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웹 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12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D9A5A6-2FCE-4DC6-9025-D56B84A786DC}"/>
              </a:ext>
            </a:extLst>
          </p:cNvPr>
          <p:cNvSpPr txBox="1">
            <a:spLocks/>
          </p:cNvSpPr>
          <p:nvPr/>
        </p:nvSpPr>
        <p:spPr bwMode="auto">
          <a:xfrm>
            <a:off x="311910" y="962367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SpringBoot </a:t>
            </a:r>
            <a:r>
              <a:rPr lang="ko-KR" altLang="en-US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프레임워크 사용시</a:t>
            </a:r>
            <a:endParaRPr lang="en-US" altLang="ko-KR" sz="2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학과서버에 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SpringBoot 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이미 설치되어 있음</a:t>
            </a:r>
            <a:endParaRPr lang="en-US" altLang="ko-KR" sz="1400" b="1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B4EBBA1-F6D6-1A60-FC9E-3BBBFF0B235E}"/>
              </a:ext>
            </a:extLst>
          </p:cNvPr>
          <p:cNvSpPr txBox="1">
            <a:spLocks/>
          </p:cNvSpPr>
          <p:nvPr/>
        </p:nvSpPr>
        <p:spPr bwMode="auto">
          <a:xfrm>
            <a:off x="330199" y="4471568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팀이 해야 할 일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(</a:t>
            </a:r>
            <a:r>
              <a:rPr lang="en-US" altLang="ko-KR" sz="140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nodejs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처럼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지정된 디렉터리 구조로 소스를 생성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저장할 것</a:t>
            </a:r>
            <a:r>
              <a:rPr lang="en-US" alt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5A529-FB8F-6A8D-F049-6BBF2D973BB8}"/>
              </a:ext>
            </a:extLst>
          </p:cNvPr>
          <p:cNvSpPr txBox="1"/>
          <p:nvPr/>
        </p:nvSpPr>
        <p:spPr>
          <a:xfrm>
            <a:off x="683568" y="3890625"/>
            <a:ext cx="4325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 현재 </a:t>
            </a:r>
            <a:r>
              <a:rPr lang="ko-KR" altLang="en-US" sz="1400" dirty="0"/>
              <a:t>설치된 </a:t>
            </a:r>
            <a:r>
              <a:rPr lang="en-US" altLang="ko-KR" sz="1400" err="1"/>
              <a:t>SpringBoot</a:t>
            </a:r>
            <a:r>
              <a:rPr lang="ko-KR" altLang="en-US" sz="1400"/>
              <a:t> 버전을 그대로 </a:t>
            </a:r>
            <a:r>
              <a:rPr lang="ko-KR" altLang="en-US" sz="1400" dirty="0"/>
              <a:t>활용 할 </a:t>
            </a:r>
            <a:r>
              <a:rPr lang="ko-KR" altLang="en-US" sz="1400"/>
              <a:t>것</a:t>
            </a:r>
            <a:r>
              <a:rPr lang="en-US" altLang="ko-KR" sz="1400"/>
              <a:t>.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4D8DED-D9A6-B541-7103-74806716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036934"/>
            <a:ext cx="8019124" cy="18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7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827584" y="2304848"/>
            <a:ext cx="6696745" cy="40764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0000CC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웹 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1" y="2576369"/>
            <a:ext cx="1415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/home/t25300</a:t>
            </a:r>
            <a:endParaRPr lang="ko-KR" altLang="en-US" sz="1400" b="1" dirty="0"/>
          </a:p>
        </p:txBody>
      </p:sp>
      <p:cxnSp>
        <p:nvCxnSpPr>
          <p:cNvPr id="18" name="직선 연결선 17"/>
          <p:cNvCxnSpPr>
            <a:cxnSpLocks/>
          </p:cNvCxnSpPr>
          <p:nvPr/>
        </p:nvCxnSpPr>
        <p:spPr>
          <a:xfrm>
            <a:off x="2339753" y="2736896"/>
            <a:ext cx="648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38910" y="4797152"/>
            <a:ext cx="776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v0.9src</a:t>
            </a:r>
            <a:endParaRPr lang="ko-KR" altLang="en-US" sz="1400" b="1" dirty="0"/>
          </a:p>
        </p:txBody>
      </p:sp>
      <p:sp>
        <p:nvSpPr>
          <p:cNvPr id="35" name="TextBox 94"/>
          <p:cNvSpPr txBox="1">
            <a:spLocks noChangeArrowheads="1"/>
          </p:cNvSpPr>
          <p:nvPr/>
        </p:nvSpPr>
        <p:spPr bwMode="auto">
          <a:xfrm>
            <a:off x="6190000" y="4270272"/>
            <a:ext cx="7564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 dirty="0">
                <a:solidFill>
                  <a:srgbClr val="008000"/>
                </a:solidFill>
              </a:rPr>
              <a:t>server.js</a:t>
            </a:r>
          </a:p>
        </p:txBody>
      </p:sp>
      <p:sp>
        <p:nvSpPr>
          <p:cNvPr id="36" name="TextBox 96"/>
          <p:cNvSpPr txBox="1">
            <a:spLocks noChangeArrowheads="1"/>
          </p:cNvSpPr>
          <p:nvPr/>
        </p:nvSpPr>
        <p:spPr bwMode="auto">
          <a:xfrm>
            <a:off x="6134208" y="4878458"/>
            <a:ext cx="6270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 public</a:t>
            </a:r>
          </a:p>
        </p:txBody>
      </p:sp>
      <p:sp>
        <p:nvSpPr>
          <p:cNvPr id="37" name="TextBox 98"/>
          <p:cNvSpPr txBox="1">
            <a:spLocks noChangeArrowheads="1"/>
          </p:cNvSpPr>
          <p:nvPr/>
        </p:nvSpPr>
        <p:spPr bwMode="auto">
          <a:xfrm>
            <a:off x="6148495" y="4466353"/>
            <a:ext cx="6543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 dirty="0">
                <a:solidFill>
                  <a:srgbClr val="FF0000"/>
                </a:solidFill>
              </a:rPr>
              <a:t> routes</a:t>
            </a:r>
          </a:p>
        </p:txBody>
      </p:sp>
      <p:sp>
        <p:nvSpPr>
          <p:cNvPr id="38" name="TextBox 102"/>
          <p:cNvSpPr txBox="1">
            <a:spLocks noChangeArrowheads="1"/>
          </p:cNvSpPr>
          <p:nvPr/>
        </p:nvSpPr>
        <p:spPr bwMode="auto">
          <a:xfrm>
            <a:off x="6134208" y="4682377"/>
            <a:ext cx="6110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>
                <a:solidFill>
                  <a:srgbClr val="0000FF"/>
                </a:solidFill>
              </a:rPr>
              <a:t> views</a:t>
            </a:r>
          </a:p>
        </p:txBody>
      </p:sp>
      <p:cxnSp>
        <p:nvCxnSpPr>
          <p:cNvPr id="43" name="직선 연결선 21"/>
          <p:cNvCxnSpPr>
            <a:cxnSpLocks noChangeShapeType="1"/>
          </p:cNvCxnSpPr>
          <p:nvPr/>
        </p:nvCxnSpPr>
        <p:spPr bwMode="auto">
          <a:xfrm>
            <a:off x="5652954" y="4224127"/>
            <a:ext cx="528137" cy="854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직선 연결선 10"/>
          <p:cNvCxnSpPr/>
          <p:nvPr/>
        </p:nvCxnSpPr>
        <p:spPr>
          <a:xfrm>
            <a:off x="3714827" y="4957741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3714827" y="4957741"/>
            <a:ext cx="288032" cy="450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4139953" y="5015119"/>
            <a:ext cx="0" cy="331897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13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3" name="TextBox 81">
            <a:extLst>
              <a:ext uri="{FF2B5EF4-FFF2-40B4-BE49-F238E27FC236}">
                <a16:creationId xmlns:a16="http://schemas.microsoft.com/office/drawing/2014/main" id="{CD9F7C07-D0F9-3271-2384-48ACE9E2A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760" y="2552326"/>
            <a:ext cx="14959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 b="1" dirty="0"/>
              <a:t> </a:t>
            </a:r>
            <a:r>
              <a:rPr lang="en-US" altLang="ko-KR" sz="1400" b="1" dirty="0" err="1"/>
              <a:t>node_modules</a:t>
            </a:r>
            <a:endParaRPr lang="en-US" altLang="ko-KR" sz="1400" b="1" dirty="0"/>
          </a:p>
        </p:txBody>
      </p:sp>
      <p:sp>
        <p:nvSpPr>
          <p:cNvPr id="57" name="TextBox 94">
            <a:extLst>
              <a:ext uri="{FF2B5EF4-FFF2-40B4-BE49-F238E27FC236}">
                <a16:creationId xmlns:a16="http://schemas.microsoft.com/office/drawing/2014/main" id="{11358948-4D3F-E631-B86E-D54B48118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743" y="3809677"/>
            <a:ext cx="11881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node_modules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5B764-0A37-6706-A180-29302E66FC75}"/>
              </a:ext>
            </a:extLst>
          </p:cNvPr>
          <p:cNvSpPr txBox="1"/>
          <p:nvPr/>
        </p:nvSpPr>
        <p:spPr>
          <a:xfrm>
            <a:off x="2897846" y="5733793"/>
            <a:ext cx="776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v1.0src</a:t>
            </a:r>
            <a:endParaRPr lang="ko-KR" altLang="en-US" sz="1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4330AE1-0BCC-0626-8F5A-16D30B2E69B9}"/>
              </a:ext>
            </a:extLst>
          </p:cNvPr>
          <p:cNvCxnSpPr/>
          <p:nvPr/>
        </p:nvCxnSpPr>
        <p:spPr>
          <a:xfrm>
            <a:off x="3661872" y="5876387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5BA585F-76E9-1B86-4EBB-AF7396043973}"/>
              </a:ext>
            </a:extLst>
          </p:cNvPr>
          <p:cNvCxnSpPr/>
          <p:nvPr/>
        </p:nvCxnSpPr>
        <p:spPr>
          <a:xfrm>
            <a:off x="3661872" y="5876387"/>
            <a:ext cx="288032" cy="450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E59666E-7057-A7CB-5A95-63711836A22F}"/>
              </a:ext>
            </a:extLst>
          </p:cNvPr>
          <p:cNvCxnSpPr/>
          <p:nvPr/>
        </p:nvCxnSpPr>
        <p:spPr>
          <a:xfrm>
            <a:off x="4087725" y="5887681"/>
            <a:ext cx="0" cy="331897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461F2C1F-BA78-9276-8751-AF5941E98D13}"/>
              </a:ext>
            </a:extLst>
          </p:cNvPr>
          <p:cNvSpPr txBox="1">
            <a:spLocks/>
          </p:cNvSpPr>
          <p:nvPr/>
        </p:nvSpPr>
        <p:spPr bwMode="auto">
          <a:xfrm>
            <a:off x="283994" y="825092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소스 디렉터리 구조 </a:t>
            </a:r>
            <a:r>
              <a:rPr lang="en-US" altLang="ko-KR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필수 준수</a:t>
            </a:r>
            <a:r>
              <a:rPr lang="en-US" altLang="ko-KR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!!)</a:t>
            </a: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buClr>
                <a:srgbClr val="4F81BD"/>
              </a:buClr>
            </a:pP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아래의 디렉터리 구조를 반드시 따라야 합니다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>
              <a:buClr>
                <a:srgbClr val="4F81BD"/>
              </a:buClr>
            </a:pP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완료발표용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진도점검은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반드시 서버에서 모든 소스를 통합후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시연과 검사를 받아야 합니다</a:t>
            </a:r>
            <a:r>
              <a:rPr lang="en-US" altLang="ko-KR" sz="1400" b="1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8819DC2-CDDE-B9BB-4817-D7190C707BD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385660" y="2730257"/>
            <a:ext cx="575758" cy="8975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75EA5D2-E7B2-0899-D579-683718BF16A7}"/>
              </a:ext>
            </a:extLst>
          </p:cNvPr>
          <p:cNvSpPr txBox="1"/>
          <p:nvPr/>
        </p:nvSpPr>
        <p:spPr>
          <a:xfrm>
            <a:off x="2961418" y="3473929"/>
            <a:ext cx="776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v0.5src</a:t>
            </a:r>
            <a:endParaRPr lang="ko-KR" altLang="en-US" sz="1400" b="1" dirty="0"/>
          </a:p>
        </p:txBody>
      </p:sp>
      <p:sp>
        <p:nvSpPr>
          <p:cNvPr id="29" name="TextBox 80">
            <a:extLst>
              <a:ext uri="{FF2B5EF4-FFF2-40B4-BE49-F238E27FC236}">
                <a16:creationId xmlns:a16="http://schemas.microsoft.com/office/drawing/2014/main" id="{C7AC29DC-77B3-0FFC-52E2-796C34744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478" y="3750172"/>
            <a:ext cx="7120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mobile</a:t>
            </a:r>
            <a:endParaRPr lang="ko-KR" altLang="en-US" sz="1400" dirty="0"/>
          </a:p>
        </p:txBody>
      </p:sp>
      <p:cxnSp>
        <p:nvCxnSpPr>
          <p:cNvPr id="30" name="직선 연결선 6">
            <a:extLst>
              <a:ext uri="{FF2B5EF4-FFF2-40B4-BE49-F238E27FC236}">
                <a16:creationId xmlns:a16="http://schemas.microsoft.com/office/drawing/2014/main" id="{0963D3A8-4FE5-937C-1A61-2E9F86E3FD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44628" y="3654049"/>
            <a:ext cx="3238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직선 연결선 82">
            <a:extLst>
              <a:ext uri="{FF2B5EF4-FFF2-40B4-BE49-F238E27FC236}">
                <a16:creationId xmlns:a16="http://schemas.microsoft.com/office/drawing/2014/main" id="{7741B794-66DD-7E0C-91CD-8584081845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42047" y="3658800"/>
            <a:ext cx="326431" cy="2255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80">
            <a:extLst>
              <a:ext uri="{FF2B5EF4-FFF2-40B4-BE49-F238E27FC236}">
                <a16:creationId xmlns:a16="http://schemas.microsoft.com/office/drawing/2014/main" id="{576470DB-F7AD-4A02-9957-F09700E27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940" y="3474348"/>
            <a:ext cx="3241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ai</a:t>
            </a:r>
            <a:endParaRPr lang="ko-KR" altLang="en-US" sz="1400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039E26E-AB35-9814-9A5D-C88745A9A7B7}"/>
              </a:ext>
            </a:extLst>
          </p:cNvPr>
          <p:cNvCxnSpPr>
            <a:cxnSpLocks/>
            <a:stCxn id="16" idx="3"/>
            <a:endCxn id="60" idx="1"/>
          </p:cNvCxnSpPr>
          <p:nvPr/>
        </p:nvCxnSpPr>
        <p:spPr>
          <a:xfrm>
            <a:off x="2387373" y="2730258"/>
            <a:ext cx="578369" cy="383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80">
            <a:extLst>
              <a:ext uri="{FF2B5EF4-FFF2-40B4-BE49-F238E27FC236}">
                <a16:creationId xmlns:a16="http://schemas.microsoft.com/office/drawing/2014/main" id="{F9761B3B-1408-6D24-2B89-AD3C4552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5742" y="2959932"/>
            <a:ext cx="70083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 b="1" dirty="0" err="1"/>
              <a:t>aidata</a:t>
            </a:r>
            <a:endParaRPr lang="ko-KR" altLang="en-US" sz="1400" b="1" dirty="0"/>
          </a:p>
        </p:txBody>
      </p:sp>
      <p:cxnSp>
        <p:nvCxnSpPr>
          <p:cNvPr id="62" name="직선 연결선 82">
            <a:extLst>
              <a:ext uri="{FF2B5EF4-FFF2-40B4-BE49-F238E27FC236}">
                <a16:creationId xmlns:a16="http://schemas.microsoft.com/office/drawing/2014/main" id="{01ECA33A-E101-8B3A-408F-53B7D14337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58284" y="3667396"/>
            <a:ext cx="328397" cy="49395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Box 80">
            <a:extLst>
              <a:ext uri="{FF2B5EF4-FFF2-40B4-BE49-F238E27FC236}">
                <a16:creationId xmlns:a16="http://schemas.microsoft.com/office/drawing/2014/main" id="{1B477E1A-16F3-4538-CFDA-2DCA553EB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638" y="4039693"/>
            <a:ext cx="51328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web</a:t>
            </a:r>
            <a:endParaRPr lang="ko-KR" altLang="en-US" sz="1400" dirty="0"/>
          </a:p>
        </p:txBody>
      </p:sp>
      <p:cxnSp>
        <p:nvCxnSpPr>
          <p:cNvPr id="69" name="직선 연결선 21">
            <a:extLst>
              <a:ext uri="{FF2B5EF4-FFF2-40B4-BE49-F238E27FC236}">
                <a16:creationId xmlns:a16="http://schemas.microsoft.com/office/drawing/2014/main" id="{FE61A8A3-0989-4721-343D-D44F36D31D39}"/>
              </a:ext>
            </a:extLst>
          </p:cNvPr>
          <p:cNvCxnSpPr>
            <a:cxnSpLocks noChangeShapeType="1"/>
            <a:endCxn id="35" idx="1"/>
          </p:cNvCxnSpPr>
          <p:nvPr/>
        </p:nvCxnSpPr>
        <p:spPr bwMode="auto">
          <a:xfrm>
            <a:off x="5717675" y="4198691"/>
            <a:ext cx="472325" cy="21008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직선 연결선 21">
            <a:extLst>
              <a:ext uri="{FF2B5EF4-FFF2-40B4-BE49-F238E27FC236}">
                <a16:creationId xmlns:a16="http://schemas.microsoft.com/office/drawing/2014/main" id="{994C28A5-8D15-F69E-ADBF-28FBE71D5064}"/>
              </a:ext>
            </a:extLst>
          </p:cNvPr>
          <p:cNvCxnSpPr>
            <a:cxnSpLocks noChangeShapeType="1"/>
            <a:endCxn id="37" idx="1"/>
          </p:cNvCxnSpPr>
          <p:nvPr/>
        </p:nvCxnSpPr>
        <p:spPr bwMode="auto">
          <a:xfrm>
            <a:off x="5750998" y="4216579"/>
            <a:ext cx="397497" cy="38827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직선 연결선 21">
            <a:extLst>
              <a:ext uri="{FF2B5EF4-FFF2-40B4-BE49-F238E27FC236}">
                <a16:creationId xmlns:a16="http://schemas.microsoft.com/office/drawing/2014/main" id="{0453DB18-551A-8400-1024-D7315874E00C}"/>
              </a:ext>
            </a:extLst>
          </p:cNvPr>
          <p:cNvCxnSpPr>
            <a:cxnSpLocks noChangeShapeType="1"/>
            <a:endCxn id="38" idx="1"/>
          </p:cNvCxnSpPr>
          <p:nvPr/>
        </p:nvCxnSpPr>
        <p:spPr bwMode="auto">
          <a:xfrm>
            <a:off x="5747845" y="4215035"/>
            <a:ext cx="386363" cy="60584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직선 연결선 21">
            <a:extLst>
              <a:ext uri="{FF2B5EF4-FFF2-40B4-BE49-F238E27FC236}">
                <a16:creationId xmlns:a16="http://schemas.microsoft.com/office/drawing/2014/main" id="{4A3219D2-DC6D-B430-4749-EA600282958B}"/>
              </a:ext>
            </a:extLst>
          </p:cNvPr>
          <p:cNvCxnSpPr>
            <a:cxnSpLocks noChangeShapeType="1"/>
            <a:endCxn id="36" idx="1"/>
          </p:cNvCxnSpPr>
          <p:nvPr/>
        </p:nvCxnSpPr>
        <p:spPr bwMode="auto">
          <a:xfrm>
            <a:off x="5750998" y="4226559"/>
            <a:ext cx="383210" cy="79039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FD4D98F-85A6-6584-D9B4-F29D8E96C8A1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2387373" y="2730258"/>
            <a:ext cx="551537" cy="2220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76EF84A-00B7-8169-BD1D-65C5C4046F1B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>
            <a:off x="2387373" y="2730258"/>
            <a:ext cx="510473" cy="3157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5AAB1FE-6326-0A78-F71C-C155624107EC}"/>
              </a:ext>
            </a:extLst>
          </p:cNvPr>
          <p:cNvSpPr txBox="1"/>
          <p:nvPr/>
        </p:nvSpPr>
        <p:spPr>
          <a:xfrm>
            <a:off x="1056601" y="3590122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1</a:t>
            </a:r>
            <a:r>
              <a:rPr lang="ko-KR" altLang="en-US" sz="14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차 진도점검용</a:t>
            </a:r>
            <a:endParaRPr lang="en-US" altLang="ko-KR" sz="1400" b="1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r>
              <a:rPr lang="ko-KR" altLang="en-US" sz="1400" b="1" dirty="0" err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통합후</a:t>
            </a:r>
            <a:r>
              <a:rPr lang="ko-KR" altLang="en-US" sz="140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시연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5EFE55-ABD1-0D18-F4C4-10CBE8720B6D}"/>
              </a:ext>
            </a:extLst>
          </p:cNvPr>
          <p:cNvSpPr txBox="1"/>
          <p:nvPr/>
        </p:nvSpPr>
        <p:spPr>
          <a:xfrm>
            <a:off x="987005" y="4661664"/>
            <a:ext cx="1319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2</a:t>
            </a:r>
            <a:r>
              <a:rPr lang="ko-KR" altLang="en-US" sz="1400" b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차 진도점검용</a:t>
            </a:r>
            <a:endParaRPr lang="en-US" altLang="ko-KR" sz="1400" b="1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r>
              <a:rPr lang="ko-KR" altLang="en-US" sz="1400" b="1" dirty="0" err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통합후</a:t>
            </a:r>
            <a:r>
              <a:rPr lang="ko-KR" altLang="en-US" sz="140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시연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10B28D-1682-D32E-9E3B-8EA894149C9E}"/>
              </a:ext>
            </a:extLst>
          </p:cNvPr>
          <p:cNvSpPr txBox="1"/>
          <p:nvPr/>
        </p:nvSpPr>
        <p:spPr>
          <a:xfrm>
            <a:off x="990033" y="5497166"/>
            <a:ext cx="1067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완료발표용</a:t>
            </a:r>
            <a:endParaRPr lang="en-US" altLang="ko-KR" sz="1400" b="1" dirty="0">
              <a:latin typeface="경기천년바탕 Bold" panose="02020803020101020101" pitchFamily="18" charset="-127"/>
              <a:ea typeface="경기천년바탕 Bold" panose="02020803020101020101" pitchFamily="18" charset="-127"/>
            </a:endParaRPr>
          </a:p>
          <a:p>
            <a:r>
              <a:rPr lang="ko-KR" altLang="en-US" sz="1400" b="1" dirty="0" err="1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통합후</a:t>
            </a:r>
            <a:r>
              <a:rPr lang="ko-KR" altLang="en-US" sz="1400" b="1" dirty="0">
                <a:latin typeface="경기천년바탕 Bold" panose="02020803020101020101" pitchFamily="18" charset="-127"/>
                <a:ea typeface="경기천년바탕 Bold" panose="02020803020101020101" pitchFamily="18" charset="-127"/>
              </a:rPr>
              <a:t> 시연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EE842D8F-8C10-C19C-2EE6-C21CB6728038}"/>
              </a:ext>
            </a:extLst>
          </p:cNvPr>
          <p:cNvCxnSpPr>
            <a:cxnSpLocks/>
          </p:cNvCxnSpPr>
          <p:nvPr/>
        </p:nvCxnSpPr>
        <p:spPr>
          <a:xfrm flipV="1">
            <a:off x="2208329" y="3771556"/>
            <a:ext cx="779496" cy="2027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3860F8FE-774E-51E2-B75D-8CB6AECEDD6A}"/>
              </a:ext>
            </a:extLst>
          </p:cNvPr>
          <p:cNvCxnSpPr>
            <a:cxnSpLocks/>
          </p:cNvCxnSpPr>
          <p:nvPr/>
        </p:nvCxnSpPr>
        <p:spPr>
          <a:xfrm flipV="1">
            <a:off x="2278713" y="4720738"/>
            <a:ext cx="734042" cy="6676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84D69C7-A077-B622-6684-E846E7C1ADDE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2057954" y="5649577"/>
            <a:ext cx="801958" cy="1091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80B94C6-B642-FCAC-F18F-A494A845AEAB}"/>
              </a:ext>
            </a:extLst>
          </p:cNvPr>
          <p:cNvSpPr txBox="1"/>
          <p:nvPr/>
        </p:nvSpPr>
        <p:spPr>
          <a:xfrm>
            <a:off x="7576915" y="227687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학과서버</a:t>
            </a:r>
          </a:p>
        </p:txBody>
      </p:sp>
      <p:sp>
        <p:nvSpPr>
          <p:cNvPr id="4" name="TextBox 80">
            <a:extLst>
              <a:ext uri="{FF2B5EF4-FFF2-40B4-BE49-F238E27FC236}">
                <a16:creationId xmlns:a16="http://schemas.microsoft.com/office/drawing/2014/main" id="{72422A2A-1A37-CB3D-D622-EBCFBAF4E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32" y="3486252"/>
            <a:ext cx="6719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>
                <a:solidFill>
                  <a:schemeClr val="bg1">
                    <a:lumMod val="65000"/>
                  </a:schemeClr>
                </a:solidFill>
              </a:rPr>
              <a:t>aidata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직선 연결선 6">
            <a:extLst>
              <a:ext uri="{FF2B5EF4-FFF2-40B4-BE49-F238E27FC236}">
                <a16:creationId xmlns:a16="http://schemas.microsoft.com/office/drawing/2014/main" id="{6BC5059D-F23A-585C-E63D-389F70BB9D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76068" y="3652085"/>
            <a:ext cx="27045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F159EE1-C47F-8E2B-DC63-5910C7705608}"/>
              </a:ext>
            </a:extLst>
          </p:cNvPr>
          <p:cNvSpPr/>
          <p:nvPr/>
        </p:nvSpPr>
        <p:spPr>
          <a:xfrm>
            <a:off x="4378036" y="2733964"/>
            <a:ext cx="3227069" cy="1224812"/>
          </a:xfrm>
          <a:custGeom>
            <a:avLst/>
            <a:gdLst>
              <a:gd name="connsiteX0" fmla="*/ 1902691 w 2108225"/>
              <a:gd name="connsiteY0" fmla="*/ 1431636 h 1431636"/>
              <a:gd name="connsiteX1" fmla="*/ 2078182 w 2108225"/>
              <a:gd name="connsiteY1" fmla="*/ 1348509 h 1431636"/>
              <a:gd name="connsiteX2" fmla="*/ 2032000 w 2108225"/>
              <a:gd name="connsiteY2" fmla="*/ 979054 h 1431636"/>
              <a:gd name="connsiteX3" fmla="*/ 1357746 w 2108225"/>
              <a:gd name="connsiteY3" fmla="*/ 350981 h 1431636"/>
              <a:gd name="connsiteX4" fmla="*/ 0 w 2108225"/>
              <a:gd name="connsiteY4" fmla="*/ 0 h 1431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8225" h="1431636">
                <a:moveTo>
                  <a:pt x="1902691" y="1431636"/>
                </a:moveTo>
                <a:cubicBezTo>
                  <a:pt x="1979661" y="1427787"/>
                  <a:pt x="2056631" y="1423939"/>
                  <a:pt x="2078182" y="1348509"/>
                </a:cubicBezTo>
                <a:cubicBezTo>
                  <a:pt x="2099734" y="1273079"/>
                  <a:pt x="2152073" y="1145308"/>
                  <a:pt x="2032000" y="979054"/>
                </a:cubicBezTo>
                <a:cubicBezTo>
                  <a:pt x="1911927" y="812800"/>
                  <a:pt x="1696412" y="514157"/>
                  <a:pt x="1357746" y="350981"/>
                </a:cubicBezTo>
                <a:cubicBezTo>
                  <a:pt x="1019080" y="187805"/>
                  <a:pt x="509540" y="93902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97A103-A379-2565-6992-5398157BE3E9}"/>
              </a:ext>
            </a:extLst>
          </p:cNvPr>
          <p:cNvSpPr txBox="1"/>
          <p:nvPr/>
        </p:nvSpPr>
        <p:spPr>
          <a:xfrm>
            <a:off x="5868144" y="2701844"/>
            <a:ext cx="993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rgbClr val="FF0000"/>
                </a:solidFill>
              </a:rPr>
              <a:t>심볼릭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</a:rPr>
              <a:t>링크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6889B0-4CB8-52E0-E034-5C7F14D197D0}"/>
              </a:ext>
            </a:extLst>
          </p:cNvPr>
          <p:cNvSpPr txBox="1"/>
          <p:nvPr/>
        </p:nvSpPr>
        <p:spPr>
          <a:xfrm>
            <a:off x="4075752" y="2995569"/>
            <a:ext cx="993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solidFill>
                  <a:srgbClr val="FF0000"/>
                </a:solidFill>
              </a:rPr>
              <a:t>심볼릭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ko-KR" altLang="en-US" sz="1100" b="1" dirty="0">
                <a:solidFill>
                  <a:srgbClr val="FF0000"/>
                </a:solidFill>
              </a:rPr>
              <a:t>링크</a:t>
            </a: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C67A4DB8-E747-AF53-2A19-2930B2C835BA}"/>
              </a:ext>
            </a:extLst>
          </p:cNvPr>
          <p:cNvSpPr/>
          <p:nvPr/>
        </p:nvSpPr>
        <p:spPr>
          <a:xfrm>
            <a:off x="3602182" y="3140364"/>
            <a:ext cx="1874129" cy="489527"/>
          </a:xfrm>
          <a:custGeom>
            <a:avLst/>
            <a:gdLst>
              <a:gd name="connsiteX0" fmla="*/ 1690254 w 1874129"/>
              <a:gd name="connsiteY0" fmla="*/ 489527 h 489527"/>
              <a:gd name="connsiteX1" fmla="*/ 1865745 w 1874129"/>
              <a:gd name="connsiteY1" fmla="*/ 424872 h 489527"/>
              <a:gd name="connsiteX2" fmla="*/ 1791854 w 1874129"/>
              <a:gd name="connsiteY2" fmla="*/ 314036 h 489527"/>
              <a:gd name="connsiteX3" fmla="*/ 1330036 w 1874129"/>
              <a:gd name="connsiteY3" fmla="*/ 147781 h 489527"/>
              <a:gd name="connsiteX4" fmla="*/ 0 w 1874129"/>
              <a:gd name="connsiteY4" fmla="*/ 0 h 48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129" h="489527">
                <a:moveTo>
                  <a:pt x="1690254" y="489527"/>
                </a:moveTo>
                <a:cubicBezTo>
                  <a:pt x="1769533" y="471823"/>
                  <a:pt x="1848812" y="454120"/>
                  <a:pt x="1865745" y="424872"/>
                </a:cubicBezTo>
                <a:cubicBezTo>
                  <a:pt x="1882678" y="395624"/>
                  <a:pt x="1881139" y="360218"/>
                  <a:pt x="1791854" y="314036"/>
                </a:cubicBezTo>
                <a:cubicBezTo>
                  <a:pt x="1702569" y="267854"/>
                  <a:pt x="1628678" y="200120"/>
                  <a:pt x="1330036" y="147781"/>
                </a:cubicBezTo>
                <a:cubicBezTo>
                  <a:pt x="1031394" y="95442"/>
                  <a:pt x="515697" y="47721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B48D1-4702-4949-AC2C-1BC4BF01118A}"/>
              </a:ext>
            </a:extLst>
          </p:cNvPr>
          <p:cNvSpPr txBox="1"/>
          <p:nvPr/>
        </p:nvSpPr>
        <p:spPr>
          <a:xfrm>
            <a:off x="6716439" y="5179795"/>
            <a:ext cx="2063385" cy="110799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ko-KR" altLang="en-US" sz="1100"/>
              <a:t>공통적으로 사용되는</a:t>
            </a:r>
            <a:endParaRPr lang="en-US" altLang="ko-KR" sz="1100"/>
          </a:p>
          <a:p>
            <a:r>
              <a:rPr lang="ko-KR" altLang="en-US" sz="1100"/>
              <a:t>데이터 또는 모듈들을</a:t>
            </a:r>
            <a:endParaRPr lang="en-US" altLang="ko-KR" sz="1100"/>
          </a:p>
          <a:p>
            <a:r>
              <a:rPr lang="ko-KR" altLang="en-US" sz="1100"/>
              <a:t>중복해서 저장하지 말고</a:t>
            </a:r>
            <a:r>
              <a:rPr lang="en-US" altLang="ko-KR" sz="1100"/>
              <a:t>,</a:t>
            </a:r>
          </a:p>
          <a:p>
            <a:endParaRPr lang="en-US" altLang="ko-KR" sz="1100"/>
          </a:p>
          <a:p>
            <a:r>
              <a:rPr lang="en-US" altLang="ko-KR" sz="1100"/>
              <a:t>(</a:t>
            </a:r>
            <a:r>
              <a:rPr lang="ko-KR" altLang="en-US" sz="1100"/>
              <a:t>메모리공간의 효율성을 위해</a:t>
            </a:r>
            <a:r>
              <a:rPr lang="en-US" altLang="ko-KR" sz="1100"/>
              <a:t>)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심볼릭링크</a:t>
            </a:r>
            <a:r>
              <a:rPr lang="ko-KR" altLang="en-US" sz="1100"/>
              <a:t>로 사용하여야 함</a:t>
            </a:r>
            <a:r>
              <a:rPr lang="en-US" altLang="ko-KR" sz="1100"/>
              <a:t>.</a:t>
            </a:r>
            <a:endParaRPr lang="ko-KR" altLang="en-US" sz="1100"/>
          </a:p>
        </p:txBody>
      </p:sp>
      <p:cxnSp>
        <p:nvCxnSpPr>
          <p:cNvPr id="6" name="직선 연결선 6">
            <a:extLst>
              <a:ext uri="{FF2B5EF4-FFF2-40B4-BE49-F238E27FC236}">
                <a16:creationId xmlns:a16="http://schemas.microsoft.com/office/drawing/2014/main" id="{818ACF22-4257-19DC-3C76-BDDF4DC406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66920" y="4221088"/>
            <a:ext cx="27045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6">
            <a:extLst>
              <a:ext uri="{FF2B5EF4-FFF2-40B4-BE49-F238E27FC236}">
                <a16:creationId xmlns:a16="http://schemas.microsoft.com/office/drawing/2014/main" id="{04B7C107-C3FC-4122-0B6C-1DD5C6E2A9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46525" y="4221088"/>
            <a:ext cx="190852" cy="53038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80">
            <a:extLst>
              <a:ext uri="{FF2B5EF4-FFF2-40B4-BE49-F238E27FC236}">
                <a16:creationId xmlns:a16="http://schemas.microsoft.com/office/drawing/2014/main" id="{48C0B941-9361-E7B4-E0CB-965D74B0E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3561" y="4052315"/>
            <a:ext cx="86113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backend</a:t>
            </a:r>
            <a:endParaRPr lang="ko-KR" altLang="en-US" sz="1400" dirty="0"/>
          </a:p>
        </p:txBody>
      </p:sp>
      <p:sp>
        <p:nvSpPr>
          <p:cNvPr id="26" name="TextBox 80">
            <a:extLst>
              <a:ext uri="{FF2B5EF4-FFF2-40B4-BE49-F238E27FC236}">
                <a16:creationId xmlns:a16="http://schemas.microsoft.com/office/drawing/2014/main" id="{B514AE1C-09B6-2330-5997-D093997DF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472" y="4541803"/>
            <a:ext cx="840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400"/>
              <a:t>frontend</a:t>
            </a:r>
            <a:endParaRPr lang="ko-KR" altLang="en-US" sz="1400" dirty="0"/>
          </a:p>
        </p:txBody>
      </p:sp>
      <p:cxnSp>
        <p:nvCxnSpPr>
          <p:cNvPr id="31" name="직선 연결선 21">
            <a:extLst>
              <a:ext uri="{FF2B5EF4-FFF2-40B4-BE49-F238E27FC236}">
                <a16:creationId xmlns:a16="http://schemas.microsoft.com/office/drawing/2014/main" id="{F60D7807-9F87-8334-3BDF-BB6AB68C78BB}"/>
              </a:ext>
            </a:extLst>
          </p:cNvPr>
          <p:cNvCxnSpPr>
            <a:cxnSpLocks noChangeShapeType="1"/>
            <a:endCxn id="57" idx="1"/>
          </p:cNvCxnSpPr>
          <p:nvPr/>
        </p:nvCxnSpPr>
        <p:spPr bwMode="auto">
          <a:xfrm flipV="1">
            <a:off x="5756124" y="3948177"/>
            <a:ext cx="414619" cy="26024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96">
            <a:extLst>
              <a:ext uri="{FF2B5EF4-FFF2-40B4-BE49-F238E27FC236}">
                <a16:creationId xmlns:a16="http://schemas.microsoft.com/office/drawing/2014/main" id="{53621501-9AB7-D20C-3D2E-AF2AB206D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996" y="4060827"/>
            <a:ext cx="4651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</a:defRPr>
            </a:lvl9pPr>
          </a:lstStyle>
          <a:p>
            <a:r>
              <a:rPr lang="en-US" altLang="ko-KR" sz="1200"/>
              <a:t>logs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0AEF9-9015-37B7-8ED3-8B4F5EA5EACA}"/>
              </a:ext>
            </a:extLst>
          </p:cNvPr>
          <p:cNvSpPr txBox="1"/>
          <p:nvPr/>
        </p:nvSpPr>
        <p:spPr>
          <a:xfrm rot="21173499">
            <a:off x="3931045" y="3372310"/>
            <a:ext cx="9931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>
                <a:solidFill>
                  <a:srgbClr val="FF0000"/>
                </a:solidFill>
              </a:rPr>
              <a:t>Python</a:t>
            </a:r>
            <a:r>
              <a:rPr lang="ko-KR" altLang="en-US" sz="700" b="1">
                <a:solidFill>
                  <a:srgbClr val="FF0000"/>
                </a:solidFill>
              </a:rPr>
              <a:t> </a:t>
            </a:r>
            <a:r>
              <a:rPr lang="en-US" altLang="ko-KR" sz="700" b="1">
                <a:solidFill>
                  <a:srgbClr val="FF0000"/>
                </a:solidFill>
              </a:rPr>
              <a:t>codes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E1033-47E1-2442-AD07-1013602AE562}"/>
              </a:ext>
            </a:extLst>
          </p:cNvPr>
          <p:cNvSpPr txBox="1"/>
          <p:nvPr/>
        </p:nvSpPr>
        <p:spPr>
          <a:xfrm>
            <a:off x="919015" y="2264087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예시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20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14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74C456-75D1-B962-737E-304613A9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052736"/>
            <a:ext cx="7784305" cy="348990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074A59D1-B330-1A6D-4ED5-479B265C3ECE}"/>
              </a:ext>
            </a:extLst>
          </p:cNvPr>
          <p:cNvSpPr/>
          <p:nvPr/>
        </p:nvSpPr>
        <p:spPr>
          <a:xfrm>
            <a:off x="4283968" y="2065410"/>
            <a:ext cx="936104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2235608-18B4-169D-BE49-E808E1A0F6CF}"/>
              </a:ext>
            </a:extLst>
          </p:cNvPr>
          <p:cNvSpPr/>
          <p:nvPr/>
        </p:nvSpPr>
        <p:spPr>
          <a:xfrm>
            <a:off x="5871864" y="2071861"/>
            <a:ext cx="936104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5603ED8-2DD1-BA6F-E505-CAE026E4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321" y="4035835"/>
            <a:ext cx="4242434" cy="22784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7C66E6FD-F14C-964C-152F-AAA50DAB51ED}"/>
              </a:ext>
            </a:extLst>
          </p:cNvPr>
          <p:cNvSpPr/>
          <p:nvPr/>
        </p:nvSpPr>
        <p:spPr>
          <a:xfrm>
            <a:off x="4863366" y="4542643"/>
            <a:ext cx="1724858" cy="2545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BF96790-CF79-0C63-5E39-D0296606A207}"/>
              </a:ext>
            </a:extLst>
          </p:cNvPr>
          <p:cNvSpPr/>
          <p:nvPr/>
        </p:nvSpPr>
        <p:spPr>
          <a:xfrm>
            <a:off x="4866071" y="5857358"/>
            <a:ext cx="1290105" cy="2545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42B596-D704-1F95-6F86-7785345F4280}"/>
              </a:ext>
            </a:extLst>
          </p:cNvPr>
          <p:cNvSpPr txBox="1"/>
          <p:nvPr/>
        </p:nvSpPr>
        <p:spPr>
          <a:xfrm>
            <a:off x="1983432" y="6025218"/>
            <a:ext cx="2520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/>
              <a:t>http://ceprj.gachon.ac.kr/inner-guide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372563524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15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2F9F4-34C1-FB25-3925-EBD694887602}"/>
              </a:ext>
            </a:extLst>
          </p:cNvPr>
          <p:cNvSpPr txBox="1"/>
          <p:nvPr/>
        </p:nvSpPr>
        <p:spPr>
          <a:xfrm>
            <a:off x="2411760" y="2951946"/>
            <a:ext cx="4068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학과서버 활용</a:t>
            </a:r>
            <a:endParaRPr lang="en-US" altLang="ko-KR" sz="2800" b="1" dirty="0"/>
          </a:p>
          <a:p>
            <a:pPr algn="ctr"/>
            <a:r>
              <a:rPr lang="en-US" altLang="ko-KR" sz="2800" b="1" dirty="0"/>
              <a:t>(DB </a:t>
            </a:r>
            <a:r>
              <a:rPr lang="ko-KR" altLang="en-US" sz="2800" b="1" dirty="0" err="1"/>
              <a:t>사용편</a:t>
            </a:r>
            <a:r>
              <a:rPr lang="en-US" altLang="ko-KR" sz="2800" b="1" dirty="0"/>
              <a:t>)</a:t>
            </a:r>
          </a:p>
          <a:p>
            <a:pPr algn="ctr"/>
            <a:r>
              <a:rPr lang="en-US" altLang="ko-KR" sz="2800" b="1" dirty="0"/>
              <a:t>MariaDB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72452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(DB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16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78E53-DD9E-3CCB-28D8-84BDC7C08ED2}"/>
              </a:ext>
            </a:extLst>
          </p:cNvPr>
          <p:cNvSpPr txBox="1"/>
          <p:nvPr/>
        </p:nvSpPr>
        <p:spPr>
          <a:xfrm>
            <a:off x="5024771" y="2086370"/>
            <a:ext cx="61925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3</a:t>
            </a:r>
            <a:r>
              <a:rPr lang="ko-KR" altLang="en-US" sz="1100" b="1" dirty="0">
                <a:solidFill>
                  <a:srgbClr val="FF0000"/>
                </a:solidFill>
              </a:rPr>
              <a:t>학년</a:t>
            </a:r>
            <a:r>
              <a:rPr lang="en-US" altLang="ko-KR" sz="1100" b="1" dirty="0">
                <a:solidFill>
                  <a:srgbClr val="FF0000"/>
                </a:solidFill>
              </a:rPr>
              <a:t>(P-</a:t>
            </a:r>
            <a:r>
              <a:rPr lang="ko-KR" altLang="en-US" sz="1100" b="1" dirty="0">
                <a:solidFill>
                  <a:srgbClr val="FF0000"/>
                </a:solidFill>
              </a:rPr>
              <a:t>실무프로젝트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팀이 사용하여야 함 </a:t>
            </a:r>
            <a:r>
              <a:rPr lang="en-US" altLang="ko-KR" sz="1100" b="1" dirty="0">
                <a:solidFill>
                  <a:srgbClr val="FF0000"/>
                </a:solidFill>
              </a:rPr>
              <a:t>! (</a:t>
            </a:r>
            <a:r>
              <a:rPr lang="en-US" altLang="ko-KR" sz="1100" b="1" dirty="0" err="1">
                <a:solidFill>
                  <a:srgbClr val="FF0000"/>
                </a:solidFill>
              </a:rPr>
              <a:t>ceprj</a:t>
            </a:r>
            <a:r>
              <a:rPr lang="en-US" altLang="ko-KR" sz="1100" b="1" dirty="0">
                <a:solidFill>
                  <a:srgbClr val="FF0000"/>
                </a:solidFill>
              </a:rPr>
              <a:t>. ceprj2)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70F19D5-31E9-D7C5-A7C6-411E4EE53D12}"/>
              </a:ext>
            </a:extLst>
          </p:cNvPr>
          <p:cNvSpPr/>
          <p:nvPr/>
        </p:nvSpPr>
        <p:spPr>
          <a:xfrm>
            <a:off x="2039338" y="2833505"/>
            <a:ext cx="172819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5EC9FB-1DB9-1BBD-A58D-FA1D364B85DB}"/>
              </a:ext>
            </a:extLst>
          </p:cNvPr>
          <p:cNvSpPr txBox="1"/>
          <p:nvPr/>
        </p:nvSpPr>
        <p:spPr>
          <a:xfrm>
            <a:off x="2098930" y="2795876"/>
            <a:ext cx="1217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>
                <a:latin typeface="+mn-ea"/>
              </a:rPr>
              <a:t>ceprj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서버 </a:t>
            </a:r>
            <a:endParaRPr lang="ko-KR" altLang="en-US" sz="1600" b="1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E30B8A-1270-E4FD-33F0-4F1CD9A7FD45}"/>
              </a:ext>
            </a:extLst>
          </p:cNvPr>
          <p:cNvSpPr/>
          <p:nvPr/>
        </p:nvSpPr>
        <p:spPr>
          <a:xfrm>
            <a:off x="5733819" y="2818557"/>
            <a:ext cx="172819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BEF44-11BA-9DC5-149B-AC9E59EA7D5C}"/>
              </a:ext>
            </a:extLst>
          </p:cNvPr>
          <p:cNvSpPr txBox="1"/>
          <p:nvPr/>
        </p:nvSpPr>
        <p:spPr>
          <a:xfrm>
            <a:off x="5793411" y="2780928"/>
            <a:ext cx="1263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CC"/>
                </a:solidFill>
                <a:latin typeface="+mn-ea"/>
              </a:rPr>
              <a:t>ceprj2 </a:t>
            </a:r>
            <a:r>
              <a:rPr lang="ko-KR" altLang="en-US" sz="1600" b="1" dirty="0">
                <a:solidFill>
                  <a:srgbClr val="0000CC"/>
                </a:solidFill>
                <a:latin typeface="+mn-ea"/>
              </a:rPr>
              <a:t>서버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2026E21-BBF0-39C6-C342-E8766F8EBA9D}"/>
              </a:ext>
            </a:extLst>
          </p:cNvPr>
          <p:cNvCxnSpPr>
            <a:cxnSpLocks/>
          </p:cNvCxnSpPr>
          <p:nvPr/>
        </p:nvCxnSpPr>
        <p:spPr>
          <a:xfrm>
            <a:off x="2098930" y="3435939"/>
            <a:ext cx="15245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1792181-2065-7FAE-FBF5-50AD35DBB8A8}"/>
              </a:ext>
            </a:extLst>
          </p:cNvPr>
          <p:cNvCxnSpPr>
            <a:cxnSpLocks/>
          </p:cNvCxnSpPr>
          <p:nvPr/>
        </p:nvCxnSpPr>
        <p:spPr>
          <a:xfrm>
            <a:off x="2546086" y="3200273"/>
            <a:ext cx="0" cy="1350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A51EF5B-646C-67A5-DC6F-E4020249F0BD}"/>
              </a:ext>
            </a:extLst>
          </p:cNvPr>
          <p:cNvSpPr txBox="1"/>
          <p:nvPr/>
        </p:nvSpPr>
        <p:spPr>
          <a:xfrm>
            <a:off x="2046916" y="3449880"/>
            <a:ext cx="3930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...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3C809F-1699-E988-5E1E-F90662BA9706}"/>
              </a:ext>
            </a:extLst>
          </p:cNvPr>
          <p:cNvSpPr txBox="1"/>
          <p:nvPr/>
        </p:nvSpPr>
        <p:spPr>
          <a:xfrm>
            <a:off x="1897661" y="31318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팀번호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C770FE-7D9F-F3CA-2F88-1301722ACEB9}"/>
              </a:ext>
            </a:extLst>
          </p:cNvPr>
          <p:cNvSpPr txBox="1"/>
          <p:nvPr/>
        </p:nvSpPr>
        <p:spPr>
          <a:xfrm>
            <a:off x="2747356" y="3121564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DB</a:t>
            </a:r>
            <a:r>
              <a:rPr lang="ko-KR" altLang="en-US" sz="1400" dirty="0"/>
              <a:t>명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EF0AD5-A26A-EBAD-1D26-04538DD008DF}"/>
              </a:ext>
            </a:extLst>
          </p:cNvPr>
          <p:cNvSpPr txBox="1"/>
          <p:nvPr/>
        </p:nvSpPr>
        <p:spPr>
          <a:xfrm>
            <a:off x="2483768" y="3442538"/>
            <a:ext cx="9925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 db25308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db25309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…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db25320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15C8099-41D5-9F5E-FE28-C68631CDD6B0}"/>
              </a:ext>
            </a:extLst>
          </p:cNvPr>
          <p:cNvCxnSpPr>
            <a:cxnSpLocks/>
          </p:cNvCxnSpPr>
          <p:nvPr/>
        </p:nvCxnSpPr>
        <p:spPr>
          <a:xfrm>
            <a:off x="5776843" y="3409457"/>
            <a:ext cx="15245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46C2938-6AF4-8389-D1FC-1BF498A52233}"/>
              </a:ext>
            </a:extLst>
          </p:cNvPr>
          <p:cNvCxnSpPr>
            <a:cxnSpLocks/>
          </p:cNvCxnSpPr>
          <p:nvPr/>
        </p:nvCxnSpPr>
        <p:spPr>
          <a:xfrm>
            <a:off x="6223999" y="3173791"/>
            <a:ext cx="0" cy="1350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9868727-7B5D-0630-4195-BF9561D6715C}"/>
              </a:ext>
            </a:extLst>
          </p:cNvPr>
          <p:cNvSpPr txBox="1"/>
          <p:nvPr/>
        </p:nvSpPr>
        <p:spPr>
          <a:xfrm>
            <a:off x="5724829" y="3423398"/>
            <a:ext cx="3930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22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...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651493-AECA-B3E0-2EC4-195C18EB7002}"/>
              </a:ext>
            </a:extLst>
          </p:cNvPr>
          <p:cNvSpPr txBox="1"/>
          <p:nvPr/>
        </p:nvSpPr>
        <p:spPr>
          <a:xfrm>
            <a:off x="5797479" y="311154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팀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CECF64-DEDD-883F-3DB3-E45D382DB64D}"/>
              </a:ext>
            </a:extLst>
          </p:cNvPr>
          <p:cNvSpPr txBox="1"/>
          <p:nvPr/>
        </p:nvSpPr>
        <p:spPr>
          <a:xfrm>
            <a:off x="6425269" y="3095082"/>
            <a:ext cx="596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DB</a:t>
            </a:r>
            <a:r>
              <a:rPr lang="ko-KR" altLang="en-US" sz="1400" dirty="0"/>
              <a:t>명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1716177-3D24-6B0F-E9A1-485793B8E73C}"/>
              </a:ext>
            </a:extLst>
          </p:cNvPr>
          <p:cNvSpPr txBox="1"/>
          <p:nvPr/>
        </p:nvSpPr>
        <p:spPr>
          <a:xfrm>
            <a:off x="6161681" y="3416056"/>
            <a:ext cx="9925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 db25321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db25322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…</a:t>
            </a:r>
          </a:p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altLang="ko-KR" sz="1400" b="1" dirty="0">
                <a:solidFill>
                  <a:srgbClr val="FF00FF"/>
                </a:solidFill>
              </a:rPr>
              <a:t>db25342</a:t>
            </a:r>
          </a:p>
        </p:txBody>
      </p:sp>
      <p:sp>
        <p:nvSpPr>
          <p:cNvPr id="1038" name="원통 12">
            <a:extLst>
              <a:ext uri="{FF2B5EF4-FFF2-40B4-BE49-F238E27FC236}">
                <a16:creationId xmlns:a16="http://schemas.microsoft.com/office/drawing/2014/main" id="{6DCCAE02-3C11-A878-2409-2532EF0DB886}"/>
              </a:ext>
            </a:extLst>
          </p:cNvPr>
          <p:cNvSpPr/>
          <p:nvPr/>
        </p:nvSpPr>
        <p:spPr>
          <a:xfrm>
            <a:off x="4197834" y="4865853"/>
            <a:ext cx="1427605" cy="936104"/>
          </a:xfrm>
          <a:prstGeom prst="can">
            <a:avLst>
              <a:gd name="adj" fmla="val 16269"/>
            </a:avLst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00147F00-7AD8-861C-E19E-EA01CB9DDE05}"/>
              </a:ext>
            </a:extLst>
          </p:cNvPr>
          <p:cNvSpPr/>
          <p:nvPr/>
        </p:nvSpPr>
        <p:spPr>
          <a:xfrm>
            <a:off x="4579524" y="5303486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0" name="직사각형 1039">
            <a:extLst>
              <a:ext uri="{FF2B5EF4-FFF2-40B4-BE49-F238E27FC236}">
                <a16:creationId xmlns:a16="http://schemas.microsoft.com/office/drawing/2014/main" id="{323BCB1E-E47B-92CC-C1A1-45017D86ACA8}"/>
              </a:ext>
            </a:extLst>
          </p:cNvPr>
          <p:cNvSpPr/>
          <p:nvPr/>
        </p:nvSpPr>
        <p:spPr>
          <a:xfrm>
            <a:off x="4518209" y="5201244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828206F8-7CF8-0371-8116-D7A8959DB070}"/>
              </a:ext>
            </a:extLst>
          </p:cNvPr>
          <p:cNvSpPr/>
          <p:nvPr/>
        </p:nvSpPr>
        <p:spPr>
          <a:xfrm>
            <a:off x="4401879" y="5095033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FA8A2531-5A3D-E469-5F90-A9D4A6ECB7E6}"/>
              </a:ext>
            </a:extLst>
          </p:cNvPr>
          <p:cNvSpPr/>
          <p:nvPr/>
        </p:nvSpPr>
        <p:spPr>
          <a:xfrm>
            <a:off x="512017" y="4826201"/>
            <a:ext cx="13681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  DB</a:t>
            </a:r>
            <a:r>
              <a:rPr lang="ko-KR" altLang="en-US" sz="1600" dirty="0"/>
              <a:t>계정</a:t>
            </a:r>
            <a:r>
              <a:rPr lang="en-US" altLang="ko-KR" sz="1600" dirty="0"/>
              <a:t>ID  </a:t>
            </a:r>
            <a:endParaRPr lang="en-US" altLang="ko-KR" sz="1600" dirty="0">
              <a:solidFill>
                <a:srgbClr val="0000CC"/>
              </a:solidFill>
            </a:endParaRPr>
          </a:p>
          <a:p>
            <a:r>
              <a:rPr lang="en-US" altLang="ko-KR" sz="1600" dirty="0"/>
              <a:t>DB</a:t>
            </a:r>
            <a:r>
              <a:rPr lang="ko-KR" altLang="en-US" sz="1600" dirty="0"/>
              <a:t>계정암호</a:t>
            </a:r>
            <a:endParaRPr lang="ko-KR" altLang="en-US" sz="1600" dirty="0">
              <a:solidFill>
                <a:srgbClr val="FF0066"/>
              </a:solidFill>
            </a:endParaRPr>
          </a:p>
        </p:txBody>
      </p:sp>
      <p:sp>
        <p:nvSpPr>
          <p:cNvPr id="1043" name="타원 1042">
            <a:extLst>
              <a:ext uri="{FF2B5EF4-FFF2-40B4-BE49-F238E27FC236}">
                <a16:creationId xmlns:a16="http://schemas.microsoft.com/office/drawing/2014/main" id="{86CEBAF1-58F4-DDAF-5B7A-DF1AE1B71C84}"/>
              </a:ext>
            </a:extLst>
          </p:cNvPr>
          <p:cNvSpPr/>
          <p:nvPr/>
        </p:nvSpPr>
        <p:spPr>
          <a:xfrm>
            <a:off x="2821128" y="5106696"/>
            <a:ext cx="1212194" cy="109667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4" name="원통 12">
            <a:extLst>
              <a:ext uri="{FF2B5EF4-FFF2-40B4-BE49-F238E27FC236}">
                <a16:creationId xmlns:a16="http://schemas.microsoft.com/office/drawing/2014/main" id="{F5FD027B-22DD-E04A-684E-5E26DAF9B943}"/>
              </a:ext>
            </a:extLst>
          </p:cNvPr>
          <p:cNvSpPr/>
          <p:nvPr/>
        </p:nvSpPr>
        <p:spPr>
          <a:xfrm>
            <a:off x="4643081" y="5108387"/>
            <a:ext cx="1427605" cy="936104"/>
          </a:xfrm>
          <a:prstGeom prst="can">
            <a:avLst>
              <a:gd name="adj" fmla="val 16269"/>
            </a:avLst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E652B371-020D-9EF0-9F8C-05556230A5F7}"/>
              </a:ext>
            </a:extLst>
          </p:cNvPr>
          <p:cNvSpPr/>
          <p:nvPr/>
        </p:nvSpPr>
        <p:spPr>
          <a:xfrm>
            <a:off x="5024771" y="5546020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6" name="직사각형 1045">
            <a:extLst>
              <a:ext uri="{FF2B5EF4-FFF2-40B4-BE49-F238E27FC236}">
                <a16:creationId xmlns:a16="http://schemas.microsoft.com/office/drawing/2014/main" id="{F3EEFBCA-C9C5-8092-19AE-078B7F24CEBC}"/>
              </a:ext>
            </a:extLst>
          </p:cNvPr>
          <p:cNvSpPr/>
          <p:nvPr/>
        </p:nvSpPr>
        <p:spPr>
          <a:xfrm>
            <a:off x="4963456" y="5443778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408F3037-CA4A-1C11-A9EA-5BE84959FD15}"/>
              </a:ext>
            </a:extLst>
          </p:cNvPr>
          <p:cNvSpPr/>
          <p:nvPr/>
        </p:nvSpPr>
        <p:spPr>
          <a:xfrm>
            <a:off x="4847126" y="5337567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2" name="원통 12">
            <a:extLst>
              <a:ext uri="{FF2B5EF4-FFF2-40B4-BE49-F238E27FC236}">
                <a16:creationId xmlns:a16="http://schemas.microsoft.com/office/drawing/2014/main" id="{A7157098-E86C-4B11-F969-EAB3657DD21D}"/>
              </a:ext>
            </a:extLst>
          </p:cNvPr>
          <p:cNvSpPr/>
          <p:nvPr/>
        </p:nvSpPr>
        <p:spPr>
          <a:xfrm>
            <a:off x="6716002" y="5517232"/>
            <a:ext cx="1427605" cy="936104"/>
          </a:xfrm>
          <a:prstGeom prst="can">
            <a:avLst>
              <a:gd name="adj" fmla="val 16269"/>
            </a:avLst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686F7D4D-8F5C-5117-E614-23EFB427995B}"/>
              </a:ext>
            </a:extLst>
          </p:cNvPr>
          <p:cNvSpPr/>
          <p:nvPr/>
        </p:nvSpPr>
        <p:spPr>
          <a:xfrm>
            <a:off x="7097692" y="5954865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40F0EBA8-2EFA-560F-F3A8-18AB01FE3DFA}"/>
              </a:ext>
            </a:extLst>
          </p:cNvPr>
          <p:cNvSpPr/>
          <p:nvPr/>
        </p:nvSpPr>
        <p:spPr>
          <a:xfrm>
            <a:off x="7036377" y="5852623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75FF6B3A-8A55-5EB9-194B-4892ACBB4235}"/>
              </a:ext>
            </a:extLst>
          </p:cNvPr>
          <p:cNvSpPr/>
          <p:nvPr/>
        </p:nvSpPr>
        <p:spPr>
          <a:xfrm>
            <a:off x="6920047" y="5746412"/>
            <a:ext cx="864094" cy="39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자유형: 도형 1055">
            <a:extLst>
              <a:ext uri="{FF2B5EF4-FFF2-40B4-BE49-F238E27FC236}">
                <a16:creationId xmlns:a16="http://schemas.microsoft.com/office/drawing/2014/main" id="{43322795-273B-41CA-5162-55ED48DAD963}"/>
              </a:ext>
            </a:extLst>
          </p:cNvPr>
          <p:cNvSpPr/>
          <p:nvPr/>
        </p:nvSpPr>
        <p:spPr>
          <a:xfrm>
            <a:off x="1569939" y="5381018"/>
            <a:ext cx="1200727" cy="284065"/>
          </a:xfrm>
          <a:custGeom>
            <a:avLst/>
            <a:gdLst>
              <a:gd name="connsiteX0" fmla="*/ 0 w 1200727"/>
              <a:gd name="connsiteY0" fmla="*/ 0 h 409605"/>
              <a:gd name="connsiteX1" fmla="*/ 323272 w 1200727"/>
              <a:gd name="connsiteY1" fmla="*/ 360218 h 409605"/>
              <a:gd name="connsiteX2" fmla="*/ 1200727 w 1200727"/>
              <a:gd name="connsiteY2" fmla="*/ 397164 h 409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0727" h="409605">
                <a:moveTo>
                  <a:pt x="0" y="0"/>
                </a:moveTo>
                <a:cubicBezTo>
                  <a:pt x="61575" y="147012"/>
                  <a:pt x="123151" y="294024"/>
                  <a:pt x="323272" y="360218"/>
                </a:cubicBezTo>
                <a:cubicBezTo>
                  <a:pt x="523393" y="426412"/>
                  <a:pt x="862060" y="411788"/>
                  <a:pt x="1200727" y="397164"/>
                </a:cubicBezTo>
              </a:path>
            </a:pathLst>
          </a:custGeom>
          <a:noFill/>
          <a:ln w="9525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9848CB4A-3CF1-82CF-1F0C-A622F216577A}"/>
              </a:ext>
            </a:extLst>
          </p:cNvPr>
          <p:cNvSpPr txBox="1"/>
          <p:nvPr/>
        </p:nvSpPr>
        <p:spPr>
          <a:xfrm>
            <a:off x="5102154" y="4576729"/>
            <a:ext cx="1503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FF"/>
                </a:solidFill>
              </a:rPr>
              <a:t>db25201</a:t>
            </a:r>
            <a:endParaRPr lang="ko-KR" altLang="en-US" sz="1200" b="1" dirty="0">
              <a:solidFill>
                <a:srgbClr val="FF00FF"/>
              </a:solidFill>
            </a:endParaRP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99037D94-1BE0-7AE1-794C-3E5B1FE1B61F}"/>
              </a:ext>
            </a:extLst>
          </p:cNvPr>
          <p:cNvSpPr txBox="1"/>
          <p:nvPr/>
        </p:nvSpPr>
        <p:spPr>
          <a:xfrm>
            <a:off x="5813694" y="4904436"/>
            <a:ext cx="15035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FF"/>
                </a:solidFill>
              </a:rPr>
              <a:t>db25202</a:t>
            </a:r>
            <a:endParaRPr lang="ko-KR" altLang="en-US" sz="1200" b="1" dirty="0">
              <a:solidFill>
                <a:srgbClr val="FF00FF"/>
              </a:solidFill>
            </a:endParaRP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483CB8D4-6224-70F9-26A5-A48C74143F46}"/>
              </a:ext>
            </a:extLst>
          </p:cNvPr>
          <p:cNvSpPr txBox="1"/>
          <p:nvPr/>
        </p:nvSpPr>
        <p:spPr>
          <a:xfrm>
            <a:off x="7506261" y="5272477"/>
            <a:ext cx="8391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FF"/>
                </a:solidFill>
              </a:rPr>
              <a:t>db25345</a:t>
            </a:r>
            <a:endParaRPr lang="ko-KR" altLang="en-US" sz="1200" b="1" dirty="0">
              <a:solidFill>
                <a:srgbClr val="FF00FF"/>
              </a:solidFill>
            </a:endParaRP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45FF19-A577-67B0-3897-DD7655A13387}"/>
              </a:ext>
            </a:extLst>
          </p:cNvPr>
          <p:cNvSpPr txBox="1"/>
          <p:nvPr/>
        </p:nvSpPr>
        <p:spPr>
          <a:xfrm>
            <a:off x="2886996" y="5470366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MariaDB</a:t>
            </a:r>
            <a:endParaRPr lang="ko-KR" altLang="en-US" dirty="0"/>
          </a:p>
        </p:txBody>
      </p:sp>
      <p:sp>
        <p:nvSpPr>
          <p:cNvPr id="1062" name="타원 1061">
            <a:extLst>
              <a:ext uri="{FF2B5EF4-FFF2-40B4-BE49-F238E27FC236}">
                <a16:creationId xmlns:a16="http://schemas.microsoft.com/office/drawing/2014/main" id="{E86D4614-006B-2FDF-89C5-10DDABFF82A2}"/>
              </a:ext>
            </a:extLst>
          </p:cNvPr>
          <p:cNvSpPr/>
          <p:nvPr/>
        </p:nvSpPr>
        <p:spPr>
          <a:xfrm>
            <a:off x="2770666" y="5602645"/>
            <a:ext cx="116330" cy="1062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6" name="직선 연결선 1065">
            <a:extLst>
              <a:ext uri="{FF2B5EF4-FFF2-40B4-BE49-F238E27FC236}">
                <a16:creationId xmlns:a16="http://schemas.microsoft.com/office/drawing/2014/main" id="{A271F8C1-C0A0-63A4-4E2D-42BFE5DD4D97}"/>
              </a:ext>
            </a:extLst>
          </p:cNvPr>
          <p:cNvCxnSpPr>
            <a:cxnSpLocks/>
          </p:cNvCxnSpPr>
          <p:nvPr/>
        </p:nvCxnSpPr>
        <p:spPr>
          <a:xfrm>
            <a:off x="6206343" y="6172759"/>
            <a:ext cx="327838" cy="151346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7ADEF38-9331-A252-D5B2-B418AEBEEF36}"/>
              </a:ext>
            </a:extLst>
          </p:cNvPr>
          <p:cNvSpPr txBox="1">
            <a:spLocks/>
          </p:cNvSpPr>
          <p:nvPr/>
        </p:nvSpPr>
        <p:spPr bwMode="auto">
          <a:xfrm>
            <a:off x="354434" y="795923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학과서버에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MariaDB 10.11.11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설치되어 있으며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그것을 반드시 사용합니다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원격으로 직접 접속하면 안됩니다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웹서버만을 통해서만 로컬로 접속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!,  DB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tool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사용금지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암호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dbid253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</a:rPr>
              <a:t>   /  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dbpass253</a:t>
            </a:r>
          </a:p>
          <a:p>
            <a:pPr marL="266700" lvl="1" indent="0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  <a:buNone/>
            </a:pPr>
            <a:endParaRPr lang="en-US" altLang="ko-KR" sz="1400" b="1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lang="en-US" altLang="ko-KR" sz="1400" b="1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D1F98-883E-3158-8E74-5AB040331AFC}"/>
              </a:ext>
            </a:extLst>
          </p:cNvPr>
          <p:cNvSpPr txBox="1"/>
          <p:nvPr/>
        </p:nvSpPr>
        <p:spPr>
          <a:xfrm>
            <a:off x="1619456" y="5734960"/>
            <a:ext cx="931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+mj-ea"/>
              </a:rPr>
              <a:t>dbid253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dbpass253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E4CBFF04-0C07-1CC6-F00B-3D84868A93FB}"/>
              </a:ext>
            </a:extLst>
          </p:cNvPr>
          <p:cNvSpPr/>
          <p:nvPr/>
        </p:nvSpPr>
        <p:spPr>
          <a:xfrm>
            <a:off x="4235526" y="2013111"/>
            <a:ext cx="785091" cy="151563"/>
          </a:xfrm>
          <a:custGeom>
            <a:avLst/>
            <a:gdLst>
              <a:gd name="connsiteX0" fmla="*/ 785091 w 785091"/>
              <a:gd name="connsiteY0" fmla="*/ 105381 h 151563"/>
              <a:gd name="connsiteX1" fmla="*/ 415637 w 785091"/>
              <a:gd name="connsiteY1" fmla="*/ 3781 h 151563"/>
              <a:gd name="connsiteX2" fmla="*/ 240146 w 785091"/>
              <a:gd name="connsiteY2" fmla="*/ 31490 h 151563"/>
              <a:gd name="connsiteX3" fmla="*/ 415637 w 785091"/>
              <a:gd name="connsiteY3" fmla="*/ 123854 h 151563"/>
              <a:gd name="connsiteX4" fmla="*/ 0 w 785091"/>
              <a:gd name="connsiteY4" fmla="*/ 151563 h 15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091" h="151563">
                <a:moveTo>
                  <a:pt x="785091" y="105381"/>
                </a:moveTo>
                <a:cubicBezTo>
                  <a:pt x="645776" y="60738"/>
                  <a:pt x="506461" y="16096"/>
                  <a:pt x="415637" y="3781"/>
                </a:cubicBezTo>
                <a:cubicBezTo>
                  <a:pt x="324813" y="-8534"/>
                  <a:pt x="240146" y="11478"/>
                  <a:pt x="240146" y="31490"/>
                </a:cubicBezTo>
                <a:cubicBezTo>
                  <a:pt x="240146" y="51502"/>
                  <a:pt x="455661" y="103842"/>
                  <a:pt x="415637" y="123854"/>
                </a:cubicBezTo>
                <a:cubicBezTo>
                  <a:pt x="375613" y="143866"/>
                  <a:pt x="187806" y="147714"/>
                  <a:pt x="0" y="151563"/>
                </a:cubicBezTo>
              </a:path>
            </a:pathLst>
          </a:custGeom>
          <a:noFill/>
          <a:ln w="9525">
            <a:solidFill>
              <a:srgbClr val="FF006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31418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11CAAE-AF0C-F98E-A381-D7D88399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00" y="1098811"/>
            <a:ext cx="4829060" cy="5626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0788" y="917754"/>
            <a:ext cx="8429684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DB </a:t>
            </a:r>
            <a:r>
              <a:rPr lang="ko-KR" altLang="en-US" sz="2400" b="1" dirty="0">
                <a:latin typeface="+mj-ea"/>
                <a:ea typeface="+mj-ea"/>
              </a:rPr>
              <a:t>사용방법</a:t>
            </a:r>
            <a:endParaRPr lang="en-US" altLang="ko-KR" sz="2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ea"/>
                <a:ea typeface="+mj-ea"/>
              </a:rPr>
              <a:t>  </a:t>
            </a:r>
            <a:r>
              <a:rPr lang="en-US" altLang="ko-KR" sz="2400" b="1">
                <a:latin typeface="+mj-ea"/>
                <a:ea typeface="+mj-ea"/>
              </a:rPr>
              <a:t>(</a:t>
            </a:r>
            <a:r>
              <a:rPr lang="ko-KR" altLang="en-US" sz="2400" b="1">
                <a:solidFill>
                  <a:srgbClr val="FF0000"/>
                </a:solidFill>
                <a:latin typeface="+mj-ea"/>
                <a:ea typeface="+mj-ea"/>
              </a:rPr>
              <a:t>예시</a:t>
            </a:r>
            <a:r>
              <a:rPr lang="en-US" altLang="ko-KR" sz="2400" b="1">
                <a:latin typeface="+mj-ea"/>
                <a:ea typeface="+mj-ea"/>
              </a:rPr>
              <a:t>)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(DB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7593" y="860578"/>
            <a:ext cx="84510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DB</a:t>
            </a:r>
            <a:r>
              <a:rPr lang="ko-KR" altLang="en-US" sz="1200" dirty="0">
                <a:solidFill>
                  <a:srgbClr val="FF00FF"/>
                </a:solidFill>
              </a:rPr>
              <a:t>계정</a:t>
            </a:r>
            <a:r>
              <a:rPr lang="en-US" altLang="ko-KR" sz="1200" dirty="0">
                <a:solidFill>
                  <a:srgbClr val="FF00FF"/>
                </a:solidFill>
              </a:rPr>
              <a:t>ID</a:t>
            </a:r>
            <a:endParaRPr lang="ko-KR" altLang="en-US" sz="1200" dirty="0">
              <a:solidFill>
                <a:srgbClr val="FF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50864" y="1632237"/>
            <a:ext cx="1055097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FF"/>
                </a:solidFill>
              </a:rPr>
              <a:t>DB</a:t>
            </a:r>
            <a:r>
              <a:rPr lang="ko-KR" altLang="en-US" sz="1200" dirty="0">
                <a:solidFill>
                  <a:srgbClr val="FF00FF"/>
                </a:solidFill>
              </a:rPr>
              <a:t>계정 암호</a:t>
            </a:r>
          </a:p>
        </p:txBody>
      </p:sp>
      <p:cxnSp>
        <p:nvCxnSpPr>
          <p:cNvPr id="25" name="직선 화살표 연결선 24"/>
          <p:cNvCxnSpPr>
            <a:cxnSpLocks/>
          </p:cNvCxnSpPr>
          <p:nvPr/>
        </p:nvCxnSpPr>
        <p:spPr>
          <a:xfrm flipH="1">
            <a:off x="5100098" y="1004109"/>
            <a:ext cx="1492091" cy="192643"/>
          </a:xfrm>
          <a:prstGeom prst="straightConnector1">
            <a:avLst/>
          </a:prstGeom>
          <a:ln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 flipH="1" flipV="1">
            <a:off x="4047701" y="1415493"/>
            <a:ext cx="2611657" cy="33827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17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689E32-F027-14F2-2DB7-39F258391421}"/>
              </a:ext>
            </a:extLst>
          </p:cNvPr>
          <p:cNvSpPr txBox="1"/>
          <p:nvPr/>
        </p:nvSpPr>
        <p:spPr>
          <a:xfrm>
            <a:off x="6661751" y="2492711"/>
            <a:ext cx="107433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FF"/>
                </a:solidFill>
              </a:rPr>
              <a:t>예</a:t>
            </a:r>
            <a:r>
              <a:rPr lang="en-US" altLang="ko-KR" sz="1200" dirty="0">
                <a:solidFill>
                  <a:srgbClr val="FF00FF"/>
                </a:solidFill>
              </a:rPr>
              <a:t>, 0</a:t>
            </a:r>
            <a:r>
              <a:rPr lang="ko-KR" altLang="en-US" sz="1200" dirty="0">
                <a:solidFill>
                  <a:srgbClr val="FF00FF"/>
                </a:solidFill>
              </a:rPr>
              <a:t>팀 </a:t>
            </a:r>
            <a:r>
              <a:rPr lang="en-US" altLang="ko-KR" sz="1200" dirty="0">
                <a:solidFill>
                  <a:srgbClr val="FF00FF"/>
                </a:solidFill>
              </a:rPr>
              <a:t>DB</a:t>
            </a:r>
            <a:r>
              <a:rPr lang="ko-KR" altLang="en-US" sz="1200" dirty="0">
                <a:solidFill>
                  <a:srgbClr val="FF00FF"/>
                </a:solidFill>
              </a:rPr>
              <a:t>명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3C5F86B-4BEB-9B7F-8118-A97B6B28C61B}"/>
              </a:ext>
            </a:extLst>
          </p:cNvPr>
          <p:cNvCxnSpPr>
            <a:cxnSpLocks/>
          </p:cNvCxnSpPr>
          <p:nvPr/>
        </p:nvCxnSpPr>
        <p:spPr>
          <a:xfrm flipH="1">
            <a:off x="3563888" y="2614243"/>
            <a:ext cx="3095470" cy="16719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971BAE6-8213-D75B-CD2F-6E10AB612FB2}"/>
              </a:ext>
            </a:extLst>
          </p:cNvPr>
          <p:cNvCxnSpPr>
            <a:cxnSpLocks/>
          </p:cNvCxnSpPr>
          <p:nvPr/>
        </p:nvCxnSpPr>
        <p:spPr>
          <a:xfrm flipH="1">
            <a:off x="4572000" y="2682395"/>
            <a:ext cx="2078864" cy="98612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EC0B2F4-FD6B-B99E-F5DA-33EEF5FEF99A}"/>
              </a:ext>
            </a:extLst>
          </p:cNvPr>
          <p:cNvSpPr txBox="1"/>
          <p:nvPr/>
        </p:nvSpPr>
        <p:spPr>
          <a:xfrm>
            <a:off x="6175174" y="4402863"/>
            <a:ext cx="1523174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FF"/>
                </a:solidFill>
              </a:rPr>
              <a:t>예</a:t>
            </a:r>
            <a:r>
              <a:rPr lang="en-US" altLang="ko-KR" sz="1200" dirty="0">
                <a:solidFill>
                  <a:srgbClr val="FF00FF"/>
                </a:solidFill>
              </a:rPr>
              <a:t>, member </a:t>
            </a:r>
            <a:r>
              <a:rPr lang="ko-KR" altLang="en-US" sz="1200" dirty="0">
                <a:solidFill>
                  <a:srgbClr val="FF00FF"/>
                </a:solidFill>
              </a:rPr>
              <a:t>테이블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6E1DBA8-CF00-2AFC-619B-E98367B6679F}"/>
              </a:ext>
            </a:extLst>
          </p:cNvPr>
          <p:cNvCxnSpPr>
            <a:cxnSpLocks/>
          </p:cNvCxnSpPr>
          <p:nvPr/>
        </p:nvCxnSpPr>
        <p:spPr>
          <a:xfrm flipH="1">
            <a:off x="3532568" y="4581128"/>
            <a:ext cx="2642606" cy="14167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6079B8D-A061-024B-5D49-7FD42356ADEF}"/>
              </a:ext>
            </a:extLst>
          </p:cNvPr>
          <p:cNvCxnSpPr>
            <a:cxnSpLocks/>
          </p:cNvCxnSpPr>
          <p:nvPr/>
        </p:nvCxnSpPr>
        <p:spPr>
          <a:xfrm flipH="1">
            <a:off x="4863366" y="4632083"/>
            <a:ext cx="1311808" cy="100121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8547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18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2F9F4-34C1-FB25-3925-EBD694887602}"/>
              </a:ext>
            </a:extLst>
          </p:cNvPr>
          <p:cNvSpPr txBox="1"/>
          <p:nvPr/>
        </p:nvSpPr>
        <p:spPr>
          <a:xfrm>
            <a:off x="2411760" y="2951946"/>
            <a:ext cx="4068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학과서버 활용</a:t>
            </a:r>
            <a:endParaRPr lang="en-US" altLang="ko-KR" sz="2800" b="1"/>
          </a:p>
          <a:p>
            <a:pPr algn="ctr"/>
            <a:r>
              <a:rPr lang="en-US" altLang="ko-KR" sz="2800" b="1"/>
              <a:t>(AI </a:t>
            </a:r>
            <a:r>
              <a:rPr lang="ko-KR" altLang="en-US" sz="2800" b="1"/>
              <a:t>사용편</a:t>
            </a:r>
            <a:r>
              <a:rPr lang="en-US" altLang="ko-KR" sz="28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41868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BF9A-B60D-48DA-8912-4911CC147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84CBD169-B0BC-A6F3-E382-99CC49123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>
            <a:extLst>
              <a:ext uri="{FF2B5EF4-FFF2-40B4-BE49-F238E27FC236}">
                <a16:creationId xmlns:a16="http://schemas.microsoft.com/office/drawing/2014/main" id="{89D3A649-D3D2-1013-2BBB-FDAA31BB4D98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19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C48AD1D-D67F-D6CB-C1BB-D9C6C42A2C5D}"/>
              </a:ext>
            </a:extLst>
          </p:cNvPr>
          <p:cNvSpPr txBox="1">
            <a:spLocks/>
          </p:cNvSpPr>
          <p:nvPr/>
        </p:nvSpPr>
        <p:spPr bwMode="auto">
          <a:xfrm>
            <a:off x="283994" y="825092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2200" dirty="0" err="1">
                <a:solidFill>
                  <a:srgbClr val="FF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ceprj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하드웨어 환경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그림 참조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빨강색 선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GPU : NVIDIA  RTX  4500 Ada x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</a:t>
            </a:r>
            <a:endParaRPr lang="en-US" altLang="ko-KR" sz="1400" b="1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F870EC-0089-8C67-1A0F-50DE9C808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57408"/>
            <a:ext cx="6864703" cy="412136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0ED597C-F00A-1E9A-B385-4649DC2CC281}"/>
              </a:ext>
            </a:extLst>
          </p:cNvPr>
          <p:cNvSpPr/>
          <p:nvPr/>
        </p:nvSpPr>
        <p:spPr>
          <a:xfrm>
            <a:off x="683568" y="3527183"/>
            <a:ext cx="4807768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23C1DB-1F79-85CF-2747-71ADDECEEC4A}"/>
              </a:ext>
            </a:extLst>
          </p:cNvPr>
          <p:cNvSpPr/>
          <p:nvPr/>
        </p:nvSpPr>
        <p:spPr>
          <a:xfrm>
            <a:off x="3127718" y="2591776"/>
            <a:ext cx="4756650" cy="406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4523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20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ADE46E3-29AB-C8A4-F041-FB659E5E0C08}"/>
              </a:ext>
            </a:extLst>
          </p:cNvPr>
          <p:cNvSpPr txBox="1">
            <a:spLocks/>
          </p:cNvSpPr>
          <p:nvPr/>
        </p:nvSpPr>
        <p:spPr bwMode="auto">
          <a:xfrm>
            <a:off x="283994" y="825092"/>
            <a:ext cx="8832090" cy="949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 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2200" dirty="0" err="1">
                <a:solidFill>
                  <a:srgbClr val="FF00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cecloud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하드웨어 환경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그림 참조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빨강색 선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표시</a:t>
            </a: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4F81BD"/>
              </a:buClr>
            </a:pPr>
            <a:r>
              <a:rPr lang="en-US" altLang="ko-KR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GPU : NVIDIA  RTX  A5000 2</a:t>
            </a:r>
            <a:r>
              <a:rPr lang="ko-KR" altLang="en-US" sz="1400" b="1" dirty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endParaRPr lang="en-US" altLang="ko-KR" sz="1400" b="1" dirty="0">
              <a:solidFill>
                <a:srgbClr val="0000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1175C8-834E-5FAA-0A50-25301B9B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142665"/>
            <a:ext cx="6591639" cy="425471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52F5E6-26B8-4EC4-CCE4-3314D0249F38}"/>
              </a:ext>
            </a:extLst>
          </p:cNvPr>
          <p:cNvSpPr/>
          <p:nvPr/>
        </p:nvSpPr>
        <p:spPr>
          <a:xfrm>
            <a:off x="1022311" y="3609000"/>
            <a:ext cx="4807768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206E1F-18A0-31E1-6381-1694E47597D4}"/>
              </a:ext>
            </a:extLst>
          </p:cNvPr>
          <p:cNvSpPr/>
          <p:nvPr/>
        </p:nvSpPr>
        <p:spPr>
          <a:xfrm>
            <a:off x="3631774" y="2673593"/>
            <a:ext cx="4396610" cy="406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0830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21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F203A4-B465-42A9-C16C-3AF12AA67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9" y="1746841"/>
            <a:ext cx="5339583" cy="2529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0A1E63-146F-96BA-4408-4F305628DFFA}"/>
              </a:ext>
            </a:extLst>
          </p:cNvPr>
          <p:cNvSpPr txBox="1"/>
          <p:nvPr/>
        </p:nvSpPr>
        <p:spPr>
          <a:xfrm>
            <a:off x="611560" y="1419319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$ nvtop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52C56CD-5A70-1F19-417D-562998DB3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717" y="4775864"/>
            <a:ext cx="5399870" cy="18934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05B23F-10BB-94A5-9625-7C6F7D21AB9A}"/>
              </a:ext>
            </a:extLst>
          </p:cNvPr>
          <p:cNvSpPr txBox="1"/>
          <p:nvPr/>
        </p:nvSpPr>
        <p:spPr>
          <a:xfrm>
            <a:off x="2554069" y="4448342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$ htop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A5086E71-2606-6A4C-620D-AACE93013A85}"/>
              </a:ext>
            </a:extLst>
          </p:cNvPr>
          <p:cNvSpPr/>
          <p:nvPr/>
        </p:nvSpPr>
        <p:spPr>
          <a:xfrm>
            <a:off x="6007960" y="1871112"/>
            <a:ext cx="148216" cy="1656184"/>
          </a:xfrm>
          <a:prstGeom prst="rightBrace">
            <a:avLst>
              <a:gd name="adj1" fmla="val 552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699D7-B0D7-B3B0-B225-A471787F0496}"/>
              </a:ext>
            </a:extLst>
          </p:cNvPr>
          <p:cNvSpPr txBox="1"/>
          <p:nvPr/>
        </p:nvSpPr>
        <p:spPr>
          <a:xfrm>
            <a:off x="6084524" y="2468371"/>
            <a:ext cx="2199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CC"/>
                </a:solidFill>
              </a:rPr>
              <a:t>GPU, GPU</a:t>
            </a:r>
            <a:r>
              <a:rPr lang="ko-KR" altLang="en-US" b="1" dirty="0">
                <a:solidFill>
                  <a:srgbClr val="0000CC"/>
                </a:solidFill>
              </a:rPr>
              <a:t>메모리</a:t>
            </a:r>
            <a:endParaRPr lang="en-US" altLang="ko-KR" b="1" dirty="0">
              <a:solidFill>
                <a:srgbClr val="0000CC"/>
              </a:solidFill>
            </a:endParaRPr>
          </a:p>
          <a:p>
            <a:r>
              <a:rPr lang="ko-KR" altLang="en-US" b="1" dirty="0" err="1">
                <a:solidFill>
                  <a:srgbClr val="0000CC"/>
                </a:solidFill>
              </a:rPr>
              <a:t>부하챠트</a:t>
            </a:r>
            <a:endParaRPr lang="ko-KR" altLang="en-US" b="1" dirty="0">
              <a:solidFill>
                <a:srgbClr val="0000CC"/>
              </a:solidFill>
            </a:endParaRP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D6E5A823-E240-A22A-3714-79D4009F4622}"/>
              </a:ext>
            </a:extLst>
          </p:cNvPr>
          <p:cNvSpPr/>
          <p:nvPr/>
        </p:nvSpPr>
        <p:spPr>
          <a:xfrm>
            <a:off x="8084864" y="4967456"/>
            <a:ext cx="74108" cy="792088"/>
          </a:xfrm>
          <a:prstGeom prst="rightBrace">
            <a:avLst>
              <a:gd name="adj1" fmla="val 552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FE4D15-DB6F-79B5-AE8E-BCD9EE4E85D5}"/>
              </a:ext>
            </a:extLst>
          </p:cNvPr>
          <p:cNvSpPr txBox="1"/>
          <p:nvPr/>
        </p:nvSpPr>
        <p:spPr>
          <a:xfrm>
            <a:off x="8100392" y="5132667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66"/>
                </a:solidFill>
              </a:rPr>
              <a:t>CPU</a:t>
            </a:r>
          </a:p>
          <a:p>
            <a:r>
              <a:rPr lang="ko-KR" altLang="en-US" b="1" dirty="0" err="1">
                <a:solidFill>
                  <a:srgbClr val="FF0066"/>
                </a:solidFill>
              </a:rPr>
              <a:t>부하챠트</a:t>
            </a:r>
            <a:endParaRPr lang="ko-KR" altLang="en-US" b="1" dirty="0">
              <a:solidFill>
                <a:srgbClr val="FF0066"/>
              </a:solidFill>
            </a:endParaRP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96D8EC42-6E16-7AF4-349A-85A94B792376}"/>
              </a:ext>
            </a:extLst>
          </p:cNvPr>
          <p:cNvSpPr/>
          <p:nvPr/>
        </p:nvSpPr>
        <p:spPr>
          <a:xfrm>
            <a:off x="6045014" y="3710039"/>
            <a:ext cx="45719" cy="465329"/>
          </a:xfrm>
          <a:prstGeom prst="rightBrace">
            <a:avLst>
              <a:gd name="adj1" fmla="val 5527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92AC43-9BBF-7E62-0A84-4C6A660FDCAE}"/>
              </a:ext>
            </a:extLst>
          </p:cNvPr>
          <p:cNvSpPr txBox="1"/>
          <p:nvPr/>
        </p:nvSpPr>
        <p:spPr>
          <a:xfrm>
            <a:off x="6058807" y="3762039"/>
            <a:ext cx="22256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GPU </a:t>
            </a:r>
            <a:r>
              <a:rPr lang="ko-KR" altLang="en-US" sz="1200"/>
              <a:t>사용프로세스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D6941BB-E1FF-2BE5-39B7-4D3E7786FDDE}"/>
              </a:ext>
            </a:extLst>
          </p:cNvPr>
          <p:cNvCxnSpPr/>
          <p:nvPr/>
        </p:nvCxnSpPr>
        <p:spPr>
          <a:xfrm>
            <a:off x="1403648" y="4434034"/>
            <a:ext cx="0" cy="499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5509021-B31D-9F64-8189-830FA7930283}"/>
              </a:ext>
            </a:extLst>
          </p:cNvPr>
          <p:cNvCxnSpPr>
            <a:cxnSpLocks/>
          </p:cNvCxnSpPr>
          <p:nvPr/>
        </p:nvCxnSpPr>
        <p:spPr>
          <a:xfrm flipH="1">
            <a:off x="1907704" y="5183480"/>
            <a:ext cx="49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2E2F90-1B89-19E3-C102-5605E1F05E94}"/>
              </a:ext>
            </a:extLst>
          </p:cNvPr>
          <p:cNvSpPr txBox="1"/>
          <p:nvPr/>
        </p:nvSpPr>
        <p:spPr>
          <a:xfrm>
            <a:off x="1208146" y="4989533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q </a:t>
            </a:r>
            <a:r>
              <a:rPr lang="ko-KR" altLang="en-US" sz="1200" b="1"/>
              <a:t>종료</a:t>
            </a:r>
          </a:p>
        </p:txBody>
      </p:sp>
      <p:sp>
        <p:nvSpPr>
          <p:cNvPr id="29" name="별: 꼭짓점 32개 28">
            <a:extLst>
              <a:ext uri="{FF2B5EF4-FFF2-40B4-BE49-F238E27FC236}">
                <a16:creationId xmlns:a16="http://schemas.microsoft.com/office/drawing/2014/main" id="{2D77B43B-B2D1-3BE0-65E8-4C8D3A97A58E}"/>
              </a:ext>
            </a:extLst>
          </p:cNvPr>
          <p:cNvSpPr/>
          <p:nvPr/>
        </p:nvSpPr>
        <p:spPr>
          <a:xfrm>
            <a:off x="7724705" y="882011"/>
            <a:ext cx="1093548" cy="1008112"/>
          </a:xfrm>
          <a:prstGeom prst="star32">
            <a:avLst>
              <a:gd name="adj" fmla="val 4566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3A2CA-98E7-ABAD-F7EA-C1828B6EFE8D}"/>
              </a:ext>
            </a:extLst>
          </p:cNvPr>
          <p:cNvSpPr txBox="1"/>
          <p:nvPr/>
        </p:nvSpPr>
        <p:spPr>
          <a:xfrm>
            <a:off x="7813046" y="1170623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프로그램</a:t>
            </a:r>
            <a:endParaRPr lang="en-US" altLang="ko-KR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미실행시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20815B3-BEAC-69CA-CFEF-6237FA529CF3}"/>
              </a:ext>
            </a:extLst>
          </p:cNvPr>
          <p:cNvSpPr txBox="1">
            <a:spLocks/>
          </p:cNvSpPr>
          <p:nvPr/>
        </p:nvSpPr>
        <p:spPr bwMode="auto">
          <a:xfrm>
            <a:off x="283994" y="825093"/>
            <a:ext cx="3855958" cy="513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</a:t>
            </a:r>
            <a:endParaRPr lang="en-US" altLang="ko-KR" sz="2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2246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3EA91ACE-EC4F-983C-87A0-BFAD46B2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88" y="1703190"/>
            <a:ext cx="5117796" cy="4984832"/>
          </a:xfrm>
          <a:prstGeom prst="rect">
            <a:avLst/>
          </a:prstGeom>
        </p:spPr>
      </p:pic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22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A1E63-146F-96BA-4408-4F305628DFFA}"/>
              </a:ext>
            </a:extLst>
          </p:cNvPr>
          <p:cNvSpPr txBox="1"/>
          <p:nvPr/>
        </p:nvSpPr>
        <p:spPr>
          <a:xfrm>
            <a:off x="488244" y="1393031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$ nvtop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38DFC83-DE9E-0519-C910-20FF5769E841}"/>
              </a:ext>
            </a:extLst>
          </p:cNvPr>
          <p:cNvSpPr/>
          <p:nvPr/>
        </p:nvSpPr>
        <p:spPr>
          <a:xfrm>
            <a:off x="4716016" y="1916832"/>
            <a:ext cx="1008112" cy="1728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EEB8DA4C-D12C-89AC-C72C-9E1C9EAB0B72}"/>
              </a:ext>
            </a:extLst>
          </p:cNvPr>
          <p:cNvSpPr/>
          <p:nvPr/>
        </p:nvSpPr>
        <p:spPr>
          <a:xfrm>
            <a:off x="5724129" y="4437112"/>
            <a:ext cx="118088" cy="2016224"/>
          </a:xfrm>
          <a:prstGeom prst="rightBrace">
            <a:avLst>
              <a:gd name="adj1" fmla="val 159305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E9959-9DB4-B7E0-95B1-CEA38C92AB99}"/>
              </a:ext>
            </a:extLst>
          </p:cNvPr>
          <p:cNvSpPr txBox="1"/>
          <p:nvPr/>
        </p:nvSpPr>
        <p:spPr>
          <a:xfrm>
            <a:off x="5842216" y="5142383"/>
            <a:ext cx="2036007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FF0000"/>
                </a:solidFill>
              </a:rPr>
              <a:t>AI</a:t>
            </a:r>
            <a:r>
              <a:rPr lang="ko-KR" altLang="en-US" sz="1200">
                <a:solidFill>
                  <a:srgbClr val="FF0000"/>
                </a:solidFill>
              </a:rPr>
              <a:t>학습프로그램을 </a:t>
            </a:r>
            <a:endParaRPr lang="en-US" altLang="ko-KR" sz="1200">
              <a:solidFill>
                <a:srgbClr val="FF0000"/>
              </a:solidFill>
            </a:endParaRPr>
          </a:p>
          <a:p>
            <a:r>
              <a:rPr lang="ko-KR" altLang="en-US" sz="1200">
                <a:solidFill>
                  <a:srgbClr val="FF0000"/>
                </a:solidFill>
              </a:rPr>
              <a:t>실행시키면</a:t>
            </a:r>
            <a:r>
              <a:rPr lang="en-US" altLang="ko-KR" sz="1200">
                <a:solidFill>
                  <a:srgbClr val="FF0000"/>
                </a:solidFill>
              </a:rPr>
              <a:t>, </a:t>
            </a:r>
          </a:p>
          <a:p>
            <a:endParaRPr lang="en-US" altLang="ko-KR" sz="1200">
              <a:solidFill>
                <a:srgbClr val="FF0000"/>
              </a:solidFill>
            </a:endParaRPr>
          </a:p>
          <a:p>
            <a:r>
              <a:rPr lang="ko-KR" altLang="en-US" sz="1200">
                <a:solidFill>
                  <a:srgbClr val="FF0000"/>
                </a:solidFill>
              </a:rPr>
              <a:t>예</a:t>
            </a:r>
            <a:r>
              <a:rPr lang="en-US" altLang="ko-KR" sz="1200">
                <a:solidFill>
                  <a:srgbClr val="FF0000"/>
                </a:solidFill>
              </a:rPr>
              <a:t>)  </a:t>
            </a:r>
            <a:r>
              <a:rPr lang="en-US" altLang="ko-KR" sz="1200">
                <a:solidFill>
                  <a:srgbClr val="0000CC"/>
                </a:solidFill>
              </a:rPr>
              <a:t>$ python  aiProject.py</a:t>
            </a:r>
            <a:endParaRPr lang="ko-KR" altLang="en-US" sz="1200">
              <a:solidFill>
                <a:srgbClr val="0000CC"/>
              </a:solidFill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A017986-EAAC-82AA-8138-45CD2E7430A8}"/>
              </a:ext>
            </a:extLst>
          </p:cNvPr>
          <p:cNvSpPr/>
          <p:nvPr/>
        </p:nvSpPr>
        <p:spPr>
          <a:xfrm>
            <a:off x="5735819" y="2991020"/>
            <a:ext cx="1896545" cy="2486504"/>
          </a:xfrm>
          <a:custGeom>
            <a:avLst/>
            <a:gdLst>
              <a:gd name="connsiteX0" fmla="*/ 1499443 w 2310644"/>
              <a:gd name="connsiteY0" fmla="*/ 2478848 h 2491640"/>
              <a:gd name="connsiteX1" fmla="*/ 2236163 w 2310644"/>
              <a:gd name="connsiteY1" fmla="*/ 2396508 h 2491640"/>
              <a:gd name="connsiteX2" fmla="*/ 2032482 w 2310644"/>
              <a:gd name="connsiteY2" fmla="*/ 1772463 h 2491640"/>
              <a:gd name="connsiteX3" fmla="*/ 0 w 2310644"/>
              <a:gd name="connsiteY3" fmla="*/ 0 h 24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0644" h="2491640">
                <a:moveTo>
                  <a:pt x="1499443" y="2478848"/>
                </a:moveTo>
                <a:cubicBezTo>
                  <a:pt x="1823383" y="2496543"/>
                  <a:pt x="2147323" y="2514239"/>
                  <a:pt x="2236163" y="2396508"/>
                </a:cubicBezTo>
                <a:cubicBezTo>
                  <a:pt x="2325003" y="2278777"/>
                  <a:pt x="2405176" y="2171881"/>
                  <a:pt x="2032482" y="1772463"/>
                </a:cubicBezTo>
                <a:cubicBezTo>
                  <a:pt x="1659788" y="1373045"/>
                  <a:pt x="829894" y="686522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35647-0664-DA35-AE03-30B3BA6A63D4}"/>
              </a:ext>
            </a:extLst>
          </p:cNvPr>
          <p:cNvSpPr txBox="1"/>
          <p:nvPr/>
        </p:nvSpPr>
        <p:spPr>
          <a:xfrm>
            <a:off x="6006457" y="2040482"/>
            <a:ext cx="2343911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GPU</a:t>
            </a:r>
            <a:r>
              <a:rPr lang="ko-KR" altLang="en-US" sz="1200" dirty="0">
                <a:solidFill>
                  <a:srgbClr val="FF0000"/>
                </a:solidFill>
              </a:rPr>
              <a:t>와 </a:t>
            </a:r>
            <a:r>
              <a:rPr lang="en-US" altLang="ko-KR" sz="1200" dirty="0">
                <a:solidFill>
                  <a:srgbClr val="FF0000"/>
                </a:solidFill>
              </a:rPr>
              <a:t>GPU MEM </a:t>
            </a:r>
            <a:r>
              <a:rPr lang="ko-KR" altLang="en-US" sz="1200" dirty="0">
                <a:solidFill>
                  <a:srgbClr val="FF0000"/>
                </a:solidFill>
              </a:rPr>
              <a:t>부하가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올라가야 정상임</a:t>
            </a:r>
            <a:r>
              <a:rPr lang="en-US" altLang="ko-KR" sz="1200" dirty="0">
                <a:solidFill>
                  <a:srgbClr val="FF0000"/>
                </a:solidFill>
              </a:rPr>
              <a:t>!!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만약 </a:t>
            </a:r>
            <a:r>
              <a:rPr lang="en-US" altLang="ko-KR" sz="1200" dirty="0">
                <a:solidFill>
                  <a:srgbClr val="FF0000"/>
                </a:solidFill>
              </a:rPr>
              <a:t>GPU</a:t>
            </a:r>
            <a:r>
              <a:rPr lang="ko-KR" altLang="en-US" sz="1200" dirty="0">
                <a:solidFill>
                  <a:srgbClr val="FF0000"/>
                </a:solidFill>
              </a:rPr>
              <a:t>부하가 올라가지 않고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CPU</a:t>
            </a:r>
            <a:r>
              <a:rPr lang="ko-KR" altLang="en-US" sz="1200" dirty="0">
                <a:solidFill>
                  <a:srgbClr val="FF0000"/>
                </a:solidFill>
              </a:rPr>
              <a:t>부하가 올라가면 안됨</a:t>
            </a:r>
            <a:r>
              <a:rPr lang="en-US" altLang="ko-KR" sz="1200" dirty="0">
                <a:solidFill>
                  <a:srgbClr val="FF0000"/>
                </a:solidFill>
              </a:rPr>
              <a:t>!!! 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프로그램을 수정하기 바람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6306C24-28B3-9005-B449-7380C1141D12}"/>
              </a:ext>
            </a:extLst>
          </p:cNvPr>
          <p:cNvSpPr/>
          <p:nvPr/>
        </p:nvSpPr>
        <p:spPr>
          <a:xfrm>
            <a:off x="2246718" y="1938080"/>
            <a:ext cx="384934" cy="3535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DFDDD7A-1E4F-ABBC-DCA1-97C4C575488A}"/>
              </a:ext>
            </a:extLst>
          </p:cNvPr>
          <p:cNvSpPr/>
          <p:nvPr/>
        </p:nvSpPr>
        <p:spPr>
          <a:xfrm>
            <a:off x="3419872" y="1900886"/>
            <a:ext cx="1152128" cy="3535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별: 꼭짓점 32개 28">
            <a:extLst>
              <a:ext uri="{FF2B5EF4-FFF2-40B4-BE49-F238E27FC236}">
                <a16:creationId xmlns:a16="http://schemas.microsoft.com/office/drawing/2014/main" id="{E9C856FE-E177-1875-CD79-38EC735BFD14}"/>
              </a:ext>
            </a:extLst>
          </p:cNvPr>
          <p:cNvSpPr/>
          <p:nvPr/>
        </p:nvSpPr>
        <p:spPr>
          <a:xfrm>
            <a:off x="7724705" y="882011"/>
            <a:ext cx="1093548" cy="1008112"/>
          </a:xfrm>
          <a:prstGeom prst="star32">
            <a:avLst>
              <a:gd name="adj" fmla="val 4566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FE171F-6D10-C980-E821-A4E6F425FCB4}"/>
              </a:ext>
            </a:extLst>
          </p:cNvPr>
          <p:cNvSpPr txBox="1"/>
          <p:nvPr/>
        </p:nvSpPr>
        <p:spPr>
          <a:xfrm>
            <a:off x="7831294" y="1203789"/>
            <a:ext cx="8803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>
                <a:solidFill>
                  <a:srgbClr val="FF0000"/>
                </a:solidFill>
              </a:rPr>
              <a:t>AI</a:t>
            </a:r>
            <a:r>
              <a:rPr lang="ko-KR" altLang="en-US" sz="1100">
                <a:solidFill>
                  <a:srgbClr val="FF0000"/>
                </a:solidFill>
              </a:rPr>
              <a:t>프로그램</a:t>
            </a:r>
            <a:endParaRPr lang="en-US" altLang="ko-KR" sz="1100">
              <a:solidFill>
                <a:srgbClr val="FF0000"/>
              </a:solidFill>
            </a:endParaRPr>
          </a:p>
          <a:p>
            <a:pPr algn="ctr"/>
            <a:r>
              <a:rPr lang="ko-KR" altLang="en-US" sz="1100">
                <a:solidFill>
                  <a:srgbClr val="FF0000"/>
                </a:solidFill>
              </a:rPr>
              <a:t>실행시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7AA0EDA-75E2-590C-EB13-3B83DEDC1C3D}"/>
              </a:ext>
            </a:extLst>
          </p:cNvPr>
          <p:cNvSpPr txBox="1">
            <a:spLocks/>
          </p:cNvSpPr>
          <p:nvPr/>
        </p:nvSpPr>
        <p:spPr bwMode="auto">
          <a:xfrm>
            <a:off x="283994" y="754950"/>
            <a:ext cx="3855958" cy="513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200"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</a:t>
            </a:r>
            <a:endParaRPr lang="en-US" altLang="ko-KR" sz="2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99C0D4EF-16BB-2CDD-EDD5-532B94DCB8CD}"/>
              </a:ext>
            </a:extLst>
          </p:cNvPr>
          <p:cNvSpPr/>
          <p:nvPr/>
        </p:nvSpPr>
        <p:spPr>
          <a:xfrm>
            <a:off x="5107709" y="3722254"/>
            <a:ext cx="2272146" cy="1016000"/>
          </a:xfrm>
          <a:custGeom>
            <a:avLst/>
            <a:gdLst>
              <a:gd name="connsiteX0" fmla="*/ 2272146 w 2272146"/>
              <a:gd name="connsiteY0" fmla="*/ 1016000 h 1016000"/>
              <a:gd name="connsiteX1" fmla="*/ 2004291 w 2272146"/>
              <a:gd name="connsiteY1" fmla="*/ 701963 h 1016000"/>
              <a:gd name="connsiteX2" fmla="*/ 1560946 w 2272146"/>
              <a:gd name="connsiteY2" fmla="*/ 350982 h 1016000"/>
              <a:gd name="connsiteX3" fmla="*/ 0 w 2272146"/>
              <a:gd name="connsiteY3" fmla="*/ 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2146" h="1016000">
                <a:moveTo>
                  <a:pt x="2272146" y="1016000"/>
                </a:moveTo>
                <a:cubicBezTo>
                  <a:pt x="2197485" y="914399"/>
                  <a:pt x="2122824" y="812799"/>
                  <a:pt x="2004291" y="701963"/>
                </a:cubicBezTo>
                <a:cubicBezTo>
                  <a:pt x="1885758" y="591127"/>
                  <a:pt x="1894994" y="467976"/>
                  <a:pt x="1560946" y="350982"/>
                </a:cubicBezTo>
                <a:cubicBezTo>
                  <a:pt x="1226898" y="233988"/>
                  <a:pt x="613449" y="116994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0272A9F-6090-5A55-2E1A-EDA7E6716892}"/>
              </a:ext>
            </a:extLst>
          </p:cNvPr>
          <p:cNvSpPr/>
          <p:nvPr/>
        </p:nvSpPr>
        <p:spPr>
          <a:xfrm>
            <a:off x="3419872" y="3573016"/>
            <a:ext cx="1676146" cy="2487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18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23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96B95-774F-1EDC-CDDD-0088B508672B}"/>
              </a:ext>
            </a:extLst>
          </p:cNvPr>
          <p:cNvSpPr txBox="1"/>
          <p:nvPr/>
        </p:nvSpPr>
        <p:spPr>
          <a:xfrm>
            <a:off x="436244" y="841253"/>
            <a:ext cx="842493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1) AI</a:t>
            </a:r>
            <a:r>
              <a:rPr lang="ko-KR" altLang="en-US" sz="1800" dirty="0" err="1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할때</a:t>
            </a:r>
            <a:r>
              <a:rPr lang="en-US" altLang="ko-KR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  <a:cs typeface="굴림" panose="020B0600000101010101" pitchFamily="50" charset="-127"/>
              </a:rPr>
              <a:t>절대로</a:t>
            </a:r>
            <a:r>
              <a:rPr lang="en-US" altLang="ko-KR" sz="2400" dirty="0">
                <a:effectLst/>
                <a:latin typeface="HY헤드라인M" panose="02030600000101010101" pitchFamily="18" charset="-127"/>
                <a:ea typeface="HY헤드라인M" panose="02030600000101010101" pitchFamily="18" charset="-127"/>
                <a:cs typeface="굴림" panose="020B0600000101010101" pitchFamily="50" charset="-127"/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  <a:cs typeface="굴림" panose="020B0600000101010101" pitchFamily="50" charset="-127"/>
              </a:rPr>
              <a:t>가상환경을 사용하지 마세요 </a:t>
            </a:r>
            <a:r>
              <a:rPr lang="en-US" altLang="ko-KR" sz="2400" b="1" dirty="0">
                <a:solidFill>
                  <a:srgbClr val="FF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  <a:cs typeface="굴림" panose="020B0600000101010101" pitchFamily="50" charset="-127"/>
              </a:rPr>
              <a:t>!!!!!!!!</a:t>
            </a:r>
            <a:endParaRPr lang="en-US" altLang="ko-KR" sz="2000" b="1" dirty="0">
              <a:solidFill>
                <a:srgbClr val="FF0000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  <a:cs typeface="굴림" panose="020B0600000101010101" pitchFamily="50" charset="-127"/>
            </a:endParaRPr>
          </a:p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  </a:t>
            </a:r>
            <a:r>
              <a:rPr lang="en-US" altLang="ko-KR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(</a:t>
            </a:r>
            <a:r>
              <a:rPr lang="ko-KR" altLang="en-US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가상환경은 팀마다 똑 같은 패키지를 불필요하게 </a:t>
            </a:r>
            <a:r>
              <a:rPr lang="ko-KR" altLang="en-US" dirty="0" err="1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중복설치하게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되므로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endParaRPr lang="en-US" altLang="ko-KR" dirty="0">
              <a:latin typeface="돋움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   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학과서버의 용량낭비가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심해집니다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따라서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가상환경을 사용하지 마세요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!)</a:t>
            </a:r>
          </a:p>
          <a:p>
            <a:endParaRPr lang="en-US" altLang="ko-KR" sz="1800" dirty="0">
              <a:effectLst/>
              <a:latin typeface="돋움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2) (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현재 학과서버에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설치된 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pip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패키지 버전은 아래와 같으며</a:t>
            </a:r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</a:p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     </a:t>
            </a:r>
            <a:r>
              <a:rPr lang="ko-KR" altLang="en-US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설치된 버전에 맞도록 각 팀은 </a:t>
            </a:r>
            <a:r>
              <a:rPr lang="ko-KR" altLang="en-US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개발환경을 맞추기 바랍니다</a:t>
            </a:r>
            <a:r>
              <a:rPr lang="en-US" altLang="ko-KR" sz="1800" dirty="0">
                <a:effectLst/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</a:t>
            </a:r>
          </a:p>
          <a:p>
            <a:endParaRPr lang="ko-KR" altLang="ko-KR" sz="2800" b="1" dirty="0">
              <a:solidFill>
                <a:srgbClr val="FF0000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605486-09F8-68F9-CC8D-CB62E01FCF69}"/>
              </a:ext>
            </a:extLst>
          </p:cNvPr>
          <p:cNvSpPr txBox="1"/>
          <p:nvPr/>
        </p:nvSpPr>
        <p:spPr>
          <a:xfrm>
            <a:off x="827584" y="3876409"/>
            <a:ext cx="2432456" cy="27238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900" dirty="0"/>
              <a:t>[bmlee2@ceprj iris]$ pip  list</a:t>
            </a:r>
          </a:p>
          <a:p>
            <a:r>
              <a:rPr lang="en-US" altLang="ko-KR" sz="900" dirty="0"/>
              <a:t>Package                      Version</a:t>
            </a:r>
          </a:p>
          <a:p>
            <a:r>
              <a:rPr lang="en-US" altLang="ko-KR" sz="900" dirty="0"/>
              <a:t>---------------------------- ------------</a:t>
            </a:r>
          </a:p>
          <a:p>
            <a:r>
              <a:rPr lang="en-US" altLang="ko-KR" sz="900" dirty="0" err="1"/>
              <a:t>absl-py</a:t>
            </a:r>
            <a:r>
              <a:rPr lang="en-US" altLang="ko-KR" sz="900" dirty="0"/>
              <a:t>                      2.0.0</a:t>
            </a:r>
          </a:p>
          <a:p>
            <a:r>
              <a:rPr lang="en-US" altLang="ko-KR" sz="900" dirty="0"/>
              <a:t>accelerate                   0.29.3</a:t>
            </a:r>
          </a:p>
          <a:p>
            <a:r>
              <a:rPr lang="en-US" altLang="ko-KR" sz="900" dirty="0" err="1"/>
              <a:t>aiohttp</a:t>
            </a:r>
            <a:r>
              <a:rPr lang="en-US" altLang="ko-KR" sz="900" dirty="0"/>
              <a:t>                      3.9.5</a:t>
            </a:r>
          </a:p>
          <a:p>
            <a:r>
              <a:rPr lang="en-US" altLang="ko-KR" sz="900" dirty="0" err="1"/>
              <a:t>aiosignal</a:t>
            </a:r>
            <a:r>
              <a:rPr lang="en-US" altLang="ko-KR" sz="900" dirty="0"/>
              <a:t>                    1.3.1</a:t>
            </a:r>
          </a:p>
          <a:p>
            <a:r>
              <a:rPr lang="en-US" altLang="ko-KR" sz="900" dirty="0"/>
              <a:t>albert                       1.3.1</a:t>
            </a:r>
          </a:p>
          <a:p>
            <a:r>
              <a:rPr lang="en-US" altLang="ko-KR" sz="900" dirty="0"/>
              <a:t>aniso8601                    9.0.1</a:t>
            </a:r>
          </a:p>
          <a:p>
            <a:r>
              <a:rPr lang="en-US" altLang="ko-KR" sz="900" dirty="0"/>
              <a:t>annotated-types              0.6.0</a:t>
            </a:r>
          </a:p>
          <a:p>
            <a:r>
              <a:rPr lang="en-US" altLang="ko-KR" sz="900" dirty="0" err="1"/>
              <a:t>anyio</a:t>
            </a:r>
            <a:r>
              <a:rPr lang="en-US" altLang="ko-KR" sz="900" dirty="0"/>
              <a:t>                        4.3.0</a:t>
            </a:r>
          </a:p>
          <a:p>
            <a:r>
              <a:rPr lang="en-US" altLang="ko-KR" sz="900" dirty="0" err="1"/>
              <a:t>argcomplete</a:t>
            </a:r>
            <a:r>
              <a:rPr lang="en-US" altLang="ko-KR" sz="900" dirty="0"/>
              <a:t>                  1.12.0</a:t>
            </a:r>
          </a:p>
          <a:p>
            <a:r>
              <a:rPr lang="en-US" altLang="ko-KR" sz="900" dirty="0" err="1"/>
              <a:t>array_record</a:t>
            </a:r>
            <a:r>
              <a:rPr lang="en-US" altLang="ko-KR" sz="900" dirty="0"/>
              <a:t>                 0.5.1</a:t>
            </a:r>
          </a:p>
          <a:p>
            <a:r>
              <a:rPr lang="en-US" altLang="ko-KR" sz="900" dirty="0" err="1"/>
              <a:t>astunparse</a:t>
            </a:r>
            <a:r>
              <a:rPr lang="en-US" altLang="ko-KR" sz="900" dirty="0"/>
              <a:t>                   1.6.3</a:t>
            </a:r>
          </a:p>
          <a:p>
            <a:r>
              <a:rPr lang="en-US" altLang="ko-KR" sz="900" dirty="0"/>
              <a:t>async-timeout                4.0.3</a:t>
            </a:r>
          </a:p>
          <a:p>
            <a:r>
              <a:rPr lang="en-US" altLang="ko-KR" sz="900" dirty="0" err="1"/>
              <a:t>attrs</a:t>
            </a:r>
            <a:r>
              <a:rPr lang="en-US" altLang="ko-KR" sz="900" dirty="0"/>
              <a:t>                        23.2.0</a:t>
            </a:r>
          </a:p>
          <a:p>
            <a:r>
              <a:rPr lang="en-US" altLang="ko-KR" sz="900" dirty="0"/>
              <a:t>beautifulsoup4               4.12.3</a:t>
            </a:r>
          </a:p>
          <a:p>
            <a:r>
              <a:rPr lang="en-US" altLang="ko-KR" sz="900" dirty="0"/>
              <a:t>blinker                      1.8.1</a:t>
            </a:r>
          </a:p>
          <a:p>
            <a:r>
              <a:rPr lang="en-US" altLang="ko-KR" sz="900" dirty="0"/>
              <a:t>boto3                        1.34.80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EB4083-A827-BF16-EA21-5DA2D857AF0C}"/>
              </a:ext>
            </a:extLst>
          </p:cNvPr>
          <p:cNvSpPr txBox="1"/>
          <p:nvPr/>
        </p:nvSpPr>
        <p:spPr>
          <a:xfrm>
            <a:off x="6084168" y="3545375"/>
            <a:ext cx="2376264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900" dirty="0" err="1"/>
              <a:t>distlib</a:t>
            </a:r>
            <a:r>
              <a:rPr lang="en-US" altLang="ko-KR" sz="900" dirty="0"/>
              <a:t>                      0.3.2</a:t>
            </a:r>
          </a:p>
          <a:p>
            <a:r>
              <a:rPr lang="en-US" altLang="ko-KR" sz="900" dirty="0"/>
              <a:t>distro                       1.9.0</a:t>
            </a:r>
          </a:p>
          <a:p>
            <a:r>
              <a:rPr lang="en-US" altLang="ko-KR" sz="900" dirty="0"/>
              <a:t>dm-tree                      0.1.8</a:t>
            </a:r>
          </a:p>
          <a:p>
            <a:r>
              <a:rPr lang="en-US" altLang="ko-KR" sz="900" dirty="0" err="1"/>
              <a:t>dnspython</a:t>
            </a:r>
            <a:r>
              <a:rPr lang="en-US" altLang="ko-KR" sz="900" dirty="0"/>
              <a:t>                    2.6.1</a:t>
            </a:r>
          </a:p>
          <a:p>
            <a:r>
              <a:rPr lang="en-US" altLang="ko-KR" sz="900" dirty="0" err="1"/>
              <a:t>etils</a:t>
            </a:r>
            <a:r>
              <a:rPr lang="en-US" altLang="ko-KR" sz="900" dirty="0"/>
              <a:t>                        1.5.2</a:t>
            </a:r>
          </a:p>
          <a:p>
            <a:r>
              <a:rPr lang="en-US" altLang="ko-KR" sz="900" dirty="0" err="1"/>
              <a:t>exceptiongroup</a:t>
            </a:r>
            <a:r>
              <a:rPr lang="en-US" altLang="ko-KR" sz="900" dirty="0"/>
              <a:t>               1.2.0</a:t>
            </a:r>
          </a:p>
          <a:p>
            <a:r>
              <a:rPr lang="en-US" altLang="ko-KR" sz="900" dirty="0" err="1"/>
              <a:t>fastapi</a:t>
            </a:r>
            <a:r>
              <a:rPr lang="en-US" altLang="ko-KR" sz="900" dirty="0"/>
              <a:t>                      0.110.1</a:t>
            </a:r>
          </a:p>
          <a:p>
            <a:r>
              <a:rPr lang="en-US" altLang="ko-KR" sz="900" dirty="0"/>
              <a:t>file-magic                   0.4.0</a:t>
            </a:r>
          </a:p>
          <a:p>
            <a:r>
              <a:rPr lang="en-US" altLang="ko-KR" sz="900" dirty="0" err="1"/>
              <a:t>filelock</a:t>
            </a:r>
            <a:r>
              <a:rPr lang="en-US" altLang="ko-KR" sz="900" dirty="0"/>
              <a:t>                     3.7.1</a:t>
            </a:r>
          </a:p>
          <a:p>
            <a:r>
              <a:rPr lang="en-US" altLang="ko-KR" sz="900" dirty="0"/>
              <a:t>fire                         0.6.0</a:t>
            </a:r>
          </a:p>
          <a:p>
            <a:r>
              <a:rPr lang="en-US" altLang="ko-KR" sz="900" dirty="0"/>
              <a:t>Flask                        3.0.3</a:t>
            </a:r>
          </a:p>
          <a:p>
            <a:r>
              <a:rPr lang="en-US" altLang="ko-KR" sz="900" dirty="0"/>
              <a:t>Flask-</a:t>
            </a:r>
            <a:r>
              <a:rPr lang="en-US" altLang="ko-KR" sz="900" dirty="0" err="1"/>
              <a:t>Cors</a:t>
            </a:r>
            <a:r>
              <a:rPr lang="en-US" altLang="ko-KR" sz="900" dirty="0"/>
              <a:t>                   4.0.0</a:t>
            </a:r>
          </a:p>
          <a:p>
            <a:r>
              <a:rPr lang="en-US" altLang="ko-KR" sz="900" dirty="0"/>
              <a:t>flask-</a:t>
            </a:r>
            <a:r>
              <a:rPr lang="en-US" altLang="ko-KR" sz="900" dirty="0" err="1"/>
              <a:t>restx</a:t>
            </a:r>
            <a:r>
              <a:rPr lang="en-US" altLang="ko-KR" sz="900" dirty="0"/>
              <a:t>                  1.3.0</a:t>
            </a:r>
          </a:p>
          <a:p>
            <a:r>
              <a:rPr lang="en-US" altLang="ko-KR" sz="900" dirty="0" err="1"/>
              <a:t>flatbuffers</a:t>
            </a:r>
            <a:r>
              <a:rPr lang="en-US" altLang="ko-KR" sz="900" dirty="0"/>
              <a:t>                  23.5.26</a:t>
            </a:r>
          </a:p>
          <a:p>
            <a:r>
              <a:rPr lang="en-US" altLang="ko-KR" sz="900" dirty="0" err="1"/>
              <a:t>fluidsynth</a:t>
            </a:r>
            <a:r>
              <a:rPr lang="en-US" altLang="ko-KR" sz="900" dirty="0"/>
              <a:t>                   0.2</a:t>
            </a:r>
          </a:p>
          <a:p>
            <a:r>
              <a:rPr lang="en-US" altLang="ko-KR" sz="900" dirty="0" err="1"/>
              <a:t>fonttools</a:t>
            </a:r>
            <a:r>
              <a:rPr lang="en-US" altLang="ko-KR" sz="900" dirty="0"/>
              <a:t>                    4.46.0</a:t>
            </a:r>
          </a:p>
          <a:p>
            <a:r>
              <a:rPr lang="en-US" altLang="ko-KR" sz="900" dirty="0" err="1"/>
              <a:t>frozenlist</a:t>
            </a:r>
            <a:r>
              <a:rPr lang="en-US" altLang="ko-KR" sz="900" dirty="0"/>
              <a:t>                   1.4.1</a:t>
            </a:r>
          </a:p>
          <a:p>
            <a:r>
              <a:rPr lang="en-US" altLang="ko-KR" sz="900" dirty="0" err="1"/>
              <a:t>fsspec</a:t>
            </a:r>
            <a:r>
              <a:rPr lang="en-US" altLang="ko-KR" sz="900" dirty="0"/>
              <a:t>                       2023.12.2</a:t>
            </a:r>
          </a:p>
          <a:p>
            <a:r>
              <a:rPr lang="en-US" altLang="ko-KR" sz="900" dirty="0" err="1"/>
              <a:t>fuzzywuzzy</a:t>
            </a:r>
            <a:r>
              <a:rPr lang="en-US" altLang="ko-KR" sz="900" dirty="0"/>
              <a:t>                   0.18.0</a:t>
            </a:r>
          </a:p>
          <a:p>
            <a:r>
              <a:rPr lang="en-US" altLang="ko-KR" sz="900" dirty="0" err="1"/>
              <a:t>gast</a:t>
            </a:r>
            <a:r>
              <a:rPr lang="en-US" altLang="ko-KR" sz="900" dirty="0"/>
              <a:t>                         0.5.4</a:t>
            </a:r>
          </a:p>
          <a:p>
            <a:r>
              <a:rPr lang="en-US" altLang="ko-KR" sz="900" dirty="0" err="1"/>
              <a:t>gitdb</a:t>
            </a:r>
            <a:r>
              <a:rPr lang="en-US" altLang="ko-KR" sz="900" dirty="0"/>
              <a:t>                        4.0.11</a:t>
            </a:r>
          </a:p>
          <a:p>
            <a:r>
              <a:rPr lang="en-US" altLang="ko-KR" sz="900" dirty="0" err="1"/>
              <a:t>GitPython</a:t>
            </a:r>
            <a:r>
              <a:rPr lang="en-US" altLang="ko-KR" sz="900" dirty="0"/>
              <a:t>                    3.1.43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84B0B6-0D3D-0B55-77A3-515977462A44}"/>
              </a:ext>
            </a:extLst>
          </p:cNvPr>
          <p:cNvSpPr txBox="1"/>
          <p:nvPr/>
        </p:nvSpPr>
        <p:spPr>
          <a:xfrm>
            <a:off x="3419872" y="3861048"/>
            <a:ext cx="2432456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900" dirty="0" err="1"/>
              <a:t>botocore</a:t>
            </a:r>
            <a:r>
              <a:rPr lang="en-US" altLang="ko-KR" sz="900" dirty="0"/>
              <a:t>                     1.34.80</a:t>
            </a:r>
          </a:p>
          <a:p>
            <a:r>
              <a:rPr lang="en-US" altLang="ko-KR" sz="900" dirty="0" err="1"/>
              <a:t>Brlapi</a:t>
            </a:r>
            <a:r>
              <a:rPr lang="en-US" altLang="ko-KR" sz="900" dirty="0"/>
              <a:t>                       0.8.2</a:t>
            </a:r>
          </a:p>
          <a:p>
            <a:r>
              <a:rPr lang="en-US" altLang="ko-KR" sz="900" dirty="0" err="1"/>
              <a:t>cachetools</a:t>
            </a:r>
            <a:r>
              <a:rPr lang="en-US" altLang="ko-KR" sz="900" dirty="0"/>
              <a:t>                   5.3.2</a:t>
            </a:r>
          </a:p>
          <a:p>
            <a:r>
              <a:rPr lang="en-US" altLang="ko-KR" sz="900" dirty="0" err="1"/>
              <a:t>certifi</a:t>
            </a:r>
            <a:r>
              <a:rPr lang="en-US" altLang="ko-KR" sz="900" dirty="0"/>
              <a:t>                      2023.7.22</a:t>
            </a:r>
          </a:p>
          <a:p>
            <a:r>
              <a:rPr lang="en-US" altLang="ko-KR" sz="900" dirty="0" err="1"/>
              <a:t>cffi</a:t>
            </a:r>
            <a:r>
              <a:rPr lang="en-US" altLang="ko-KR" sz="900" dirty="0"/>
              <a:t>                         1.14.5</a:t>
            </a:r>
          </a:p>
          <a:p>
            <a:r>
              <a:rPr lang="en-US" altLang="ko-KR" sz="900" dirty="0" err="1"/>
              <a:t>chardet</a:t>
            </a:r>
            <a:r>
              <a:rPr lang="en-US" altLang="ko-KR" sz="900" dirty="0"/>
              <a:t>                      4.0.0</a:t>
            </a:r>
          </a:p>
          <a:p>
            <a:r>
              <a:rPr lang="en-US" altLang="ko-KR" sz="900" dirty="0"/>
              <a:t>charset-normalizer           3.3.2</a:t>
            </a:r>
          </a:p>
          <a:p>
            <a:r>
              <a:rPr lang="en-US" altLang="ko-KR" sz="900" dirty="0" err="1"/>
              <a:t>chromedriver-autoinstaller</a:t>
            </a:r>
            <a:r>
              <a:rPr lang="en-US" altLang="ko-KR" sz="900" dirty="0"/>
              <a:t>   0.6.4</a:t>
            </a:r>
          </a:p>
          <a:p>
            <a:r>
              <a:rPr lang="en-US" altLang="ko-KR" sz="900" dirty="0"/>
              <a:t>click                        8.1.7</a:t>
            </a:r>
          </a:p>
          <a:p>
            <a:r>
              <a:rPr lang="en-US" altLang="ko-KR" sz="900" dirty="0"/>
              <a:t>cockpit                      300.3</a:t>
            </a:r>
          </a:p>
          <a:p>
            <a:r>
              <a:rPr lang="en-US" altLang="ko-KR" sz="900" dirty="0" err="1"/>
              <a:t>colorama</a:t>
            </a:r>
            <a:r>
              <a:rPr lang="en-US" altLang="ko-KR" sz="900" dirty="0"/>
              <a:t>                     0.4.6</a:t>
            </a:r>
          </a:p>
          <a:p>
            <a:r>
              <a:rPr lang="en-US" altLang="ko-KR" sz="900" dirty="0" err="1"/>
              <a:t>contourpy</a:t>
            </a:r>
            <a:r>
              <a:rPr lang="en-US" altLang="ko-KR" sz="900" dirty="0"/>
              <a:t>                    1.2.0</a:t>
            </a:r>
          </a:p>
          <a:p>
            <a:r>
              <a:rPr lang="en-US" altLang="ko-KR" sz="900" dirty="0" err="1"/>
              <a:t>cupshelpers</a:t>
            </a:r>
            <a:r>
              <a:rPr lang="en-US" altLang="ko-KR" sz="900" dirty="0"/>
              <a:t>                  1.0</a:t>
            </a:r>
          </a:p>
          <a:p>
            <a:r>
              <a:rPr lang="en-US" altLang="ko-KR" sz="900" dirty="0"/>
              <a:t>cycler                       0.10.0</a:t>
            </a:r>
          </a:p>
          <a:p>
            <a:r>
              <a:rPr lang="en-US" altLang="ko-KR" sz="900" dirty="0" err="1"/>
              <a:t>Cython</a:t>
            </a:r>
            <a:r>
              <a:rPr lang="en-US" altLang="ko-KR" sz="900" dirty="0"/>
              <a:t>                       3.0.10</a:t>
            </a:r>
          </a:p>
          <a:p>
            <a:r>
              <a:rPr lang="en-US" altLang="ko-KR" sz="900" dirty="0" err="1"/>
              <a:t>dasbus</a:t>
            </a:r>
            <a:r>
              <a:rPr lang="en-US" altLang="ko-KR" sz="900" dirty="0"/>
              <a:t>                       1.4</a:t>
            </a:r>
          </a:p>
          <a:p>
            <a:r>
              <a:rPr lang="en-US" altLang="ko-KR" sz="900" dirty="0" err="1"/>
              <a:t>dataclasses-json</a:t>
            </a:r>
            <a:r>
              <a:rPr lang="en-US" altLang="ko-KR" sz="900" dirty="0"/>
              <a:t>             0.6.5</a:t>
            </a:r>
          </a:p>
          <a:p>
            <a:r>
              <a:rPr lang="en-US" altLang="ko-KR" sz="900" dirty="0"/>
              <a:t>datasets                     2.19.1</a:t>
            </a:r>
          </a:p>
          <a:p>
            <a:r>
              <a:rPr lang="en-US" altLang="ko-KR" sz="900" dirty="0" err="1"/>
              <a:t>dbus</a:t>
            </a:r>
            <a:r>
              <a:rPr lang="en-US" altLang="ko-KR" sz="900" dirty="0"/>
              <a:t>-python                  1.2.18</a:t>
            </a:r>
          </a:p>
          <a:p>
            <a:r>
              <a:rPr lang="en-US" altLang="ko-KR" sz="900" dirty="0"/>
              <a:t>dill                         0.3.8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DCDBA2-92B2-3CF9-7AE3-C8AABF11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701537"/>
            <a:ext cx="4414611" cy="10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726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eaLnBrk="0" latinLnBrk="0" hangingPunct="0">
              <a:spcBef>
                <a:spcPct val="50000"/>
              </a:spcBef>
            </a:pP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24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D6406-41F0-8850-7E26-F0E67A0A3FEE}"/>
              </a:ext>
            </a:extLst>
          </p:cNvPr>
          <p:cNvSpPr txBox="1"/>
          <p:nvPr/>
        </p:nvSpPr>
        <p:spPr>
          <a:xfrm>
            <a:off x="3210889" y="1628800"/>
            <a:ext cx="2729263" cy="4862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keras</a:t>
            </a:r>
            <a:r>
              <a:rPr lang="en-US" altLang="ko-KR" sz="1000" dirty="0"/>
              <a:t>-core                   0.1.7</a:t>
            </a:r>
          </a:p>
          <a:p>
            <a:r>
              <a:rPr lang="en-US" altLang="ko-KR" sz="1000" dirty="0" err="1"/>
              <a:t>keras</a:t>
            </a:r>
            <a:r>
              <a:rPr lang="en-US" altLang="ko-KR" sz="1000" dirty="0"/>
              <a:t>-cv                     0.9.0</a:t>
            </a:r>
          </a:p>
          <a:p>
            <a:r>
              <a:rPr lang="en-US" altLang="ko-KR" sz="1000" dirty="0" err="1"/>
              <a:t>kiwisolver</a:t>
            </a:r>
            <a:r>
              <a:rPr lang="en-US" altLang="ko-KR" sz="1000" dirty="0"/>
              <a:t>                   1.4.5</a:t>
            </a:r>
          </a:p>
          <a:p>
            <a:r>
              <a:rPr lang="en-US" altLang="ko-KR" sz="1000" dirty="0" err="1"/>
              <a:t>konlpy</a:t>
            </a:r>
            <a:r>
              <a:rPr lang="en-US" altLang="ko-KR" sz="1000" dirty="0"/>
              <a:t>                       0.6.0</a:t>
            </a:r>
          </a:p>
          <a:p>
            <a:r>
              <a:rPr lang="en-US" altLang="ko-KR" sz="1000" dirty="0" err="1"/>
              <a:t>langchain</a:t>
            </a:r>
            <a:r>
              <a:rPr lang="en-US" altLang="ko-KR" sz="1000" dirty="0"/>
              <a:t>                    0.1.16</a:t>
            </a:r>
          </a:p>
          <a:p>
            <a:r>
              <a:rPr lang="en-US" altLang="ko-KR" sz="1000" dirty="0" err="1"/>
              <a:t>langchain</a:t>
            </a:r>
            <a:r>
              <a:rPr lang="en-US" altLang="ko-KR" sz="1000" dirty="0"/>
              <a:t>-community          0.0.34</a:t>
            </a:r>
          </a:p>
          <a:p>
            <a:r>
              <a:rPr lang="en-US" altLang="ko-KR" sz="1000" dirty="0" err="1"/>
              <a:t>langchain</a:t>
            </a:r>
            <a:r>
              <a:rPr lang="en-US" altLang="ko-KR" sz="1000" dirty="0"/>
              <a:t>-core               0.1.46</a:t>
            </a:r>
          </a:p>
          <a:p>
            <a:r>
              <a:rPr lang="en-US" altLang="ko-KR" sz="1000" dirty="0" err="1"/>
              <a:t>langchain</a:t>
            </a:r>
            <a:r>
              <a:rPr lang="en-US" altLang="ko-KR" sz="1000" dirty="0"/>
              <a:t>-text-splitters     0.0.1</a:t>
            </a:r>
          </a:p>
          <a:p>
            <a:r>
              <a:rPr lang="en-US" altLang="ko-KR" sz="1000" dirty="0" err="1"/>
              <a:t>langsmith</a:t>
            </a:r>
            <a:r>
              <a:rPr lang="en-US" altLang="ko-KR" sz="1000" dirty="0"/>
              <a:t>                    0.1.52</a:t>
            </a:r>
          </a:p>
          <a:p>
            <a:r>
              <a:rPr lang="en-US" altLang="ko-KR" sz="1000" dirty="0" err="1"/>
              <a:t>libclang</a:t>
            </a:r>
            <a:r>
              <a:rPr lang="en-US" altLang="ko-KR" sz="1000" dirty="0"/>
              <a:t>                     16.0.6</a:t>
            </a:r>
          </a:p>
          <a:p>
            <a:r>
              <a:rPr lang="en-US" altLang="ko-KR" sz="1000" dirty="0" err="1"/>
              <a:t>libcomps</a:t>
            </a:r>
            <a:r>
              <a:rPr lang="en-US" altLang="ko-KR" sz="1000" dirty="0"/>
              <a:t>                     0.1.18</a:t>
            </a:r>
          </a:p>
          <a:p>
            <a:r>
              <a:rPr lang="en-US" altLang="ko-KR" sz="1000" dirty="0" err="1"/>
              <a:t>lxml</a:t>
            </a:r>
            <a:r>
              <a:rPr lang="en-US" altLang="ko-KR" sz="1000" dirty="0"/>
              <a:t>                         4.6.5</a:t>
            </a:r>
          </a:p>
          <a:p>
            <a:r>
              <a:rPr lang="en-US" altLang="ko-KR" sz="1000" dirty="0"/>
              <a:t>Markdown                     3.5.1</a:t>
            </a:r>
          </a:p>
          <a:p>
            <a:r>
              <a:rPr lang="en-US" altLang="ko-KR" sz="1000" dirty="0"/>
              <a:t>markdown-it-</a:t>
            </a:r>
            <a:r>
              <a:rPr lang="en-US" altLang="ko-KR" sz="1000" dirty="0" err="1"/>
              <a:t>py</a:t>
            </a:r>
            <a:r>
              <a:rPr lang="en-US" altLang="ko-KR" sz="1000" dirty="0"/>
              <a:t>               3.0.0</a:t>
            </a:r>
          </a:p>
          <a:p>
            <a:r>
              <a:rPr lang="en-US" altLang="ko-KR" sz="1000" dirty="0" err="1"/>
              <a:t>MarkupSafe</a:t>
            </a:r>
            <a:r>
              <a:rPr lang="en-US" altLang="ko-KR" sz="1000" dirty="0"/>
              <a:t>                   2.1.3</a:t>
            </a:r>
          </a:p>
          <a:p>
            <a:r>
              <a:rPr lang="en-US" altLang="ko-KR" sz="1000" dirty="0"/>
              <a:t>marshmallow                  3.21.1</a:t>
            </a:r>
          </a:p>
          <a:p>
            <a:r>
              <a:rPr lang="en-US" altLang="ko-KR" sz="1000" dirty="0"/>
              <a:t>matplotlib                   3.8.2</a:t>
            </a:r>
          </a:p>
          <a:p>
            <a:r>
              <a:rPr lang="en-US" altLang="ko-KR" sz="1000" dirty="0" err="1"/>
              <a:t>mdurl</a:t>
            </a:r>
            <a:r>
              <a:rPr lang="en-US" altLang="ko-KR" sz="1000" dirty="0"/>
              <a:t>                        0.1.2</a:t>
            </a:r>
          </a:p>
          <a:p>
            <a:r>
              <a:rPr lang="en-US" altLang="ko-KR" sz="1000" dirty="0"/>
              <a:t>ml-</a:t>
            </a:r>
            <a:r>
              <a:rPr lang="en-US" altLang="ko-KR" sz="1000" dirty="0" err="1"/>
              <a:t>dtypes</a:t>
            </a:r>
            <a:r>
              <a:rPr lang="en-US" altLang="ko-KR" sz="1000" dirty="0"/>
              <a:t>                    0.2.0</a:t>
            </a:r>
          </a:p>
          <a:p>
            <a:r>
              <a:rPr lang="en-US" altLang="ko-KR" sz="1000" dirty="0" err="1"/>
              <a:t>mpmath</a:t>
            </a:r>
            <a:r>
              <a:rPr lang="en-US" altLang="ko-KR" sz="1000" dirty="0"/>
              <a:t>                       1.3.0</a:t>
            </a:r>
          </a:p>
          <a:p>
            <a:r>
              <a:rPr lang="en-US" altLang="ko-KR" sz="1000" dirty="0" err="1"/>
              <a:t>multidict</a:t>
            </a:r>
            <a:r>
              <a:rPr lang="en-US" altLang="ko-KR" sz="1000" dirty="0"/>
              <a:t>                    6.0.5</a:t>
            </a:r>
          </a:p>
          <a:p>
            <a:r>
              <a:rPr lang="en-US" altLang="ko-KR" sz="1000" dirty="0" err="1"/>
              <a:t>multiprocess</a:t>
            </a:r>
            <a:r>
              <a:rPr lang="en-US" altLang="ko-KR" sz="1000" dirty="0"/>
              <a:t>                 0.70.16</a:t>
            </a:r>
          </a:p>
          <a:p>
            <a:r>
              <a:rPr lang="en-US" altLang="ko-KR" sz="1000" dirty="0" err="1"/>
              <a:t>mypy</a:t>
            </a:r>
            <a:r>
              <a:rPr lang="en-US" altLang="ko-KR" sz="1000" dirty="0"/>
              <a:t>-extensions              1.0.0</a:t>
            </a:r>
          </a:p>
          <a:p>
            <a:r>
              <a:rPr lang="en-US" altLang="ko-KR" sz="1000" dirty="0" err="1"/>
              <a:t>namex</a:t>
            </a:r>
            <a:r>
              <a:rPr lang="en-US" altLang="ko-KR" sz="1000" dirty="0"/>
              <a:t>                        0.0.8</a:t>
            </a:r>
          </a:p>
          <a:p>
            <a:r>
              <a:rPr lang="en-US" altLang="ko-KR" sz="1000" dirty="0" err="1"/>
              <a:t>networkx</a:t>
            </a:r>
            <a:r>
              <a:rPr lang="en-US" altLang="ko-KR" sz="1000" dirty="0"/>
              <a:t>                     3.2.1</a:t>
            </a:r>
          </a:p>
          <a:p>
            <a:r>
              <a:rPr lang="en-US" altLang="ko-KR" sz="1000" dirty="0" err="1"/>
              <a:t>nftables</a:t>
            </a:r>
            <a:r>
              <a:rPr lang="en-US" altLang="ko-KR" sz="1000" dirty="0"/>
              <a:t>                     0.1</a:t>
            </a:r>
          </a:p>
          <a:p>
            <a:r>
              <a:rPr lang="en-US" altLang="ko-KR" sz="1000" dirty="0" err="1"/>
              <a:t>NuMPI</a:t>
            </a:r>
            <a:r>
              <a:rPr lang="en-US" altLang="ko-KR" sz="1000" dirty="0"/>
              <a:t>                        0.3.1</a:t>
            </a:r>
          </a:p>
          <a:p>
            <a:r>
              <a:rPr lang="en-US" altLang="ko-KR" sz="1000" dirty="0" err="1"/>
              <a:t>numpy</a:t>
            </a:r>
            <a:r>
              <a:rPr lang="en-US" altLang="ko-KR" sz="1000" dirty="0"/>
              <a:t>                        1.26.2</a:t>
            </a:r>
          </a:p>
          <a:p>
            <a:r>
              <a:rPr lang="en-US" altLang="ko-KR" sz="1000" dirty="0"/>
              <a:t>nvidia-cublas-cu12           12.1.3.1</a:t>
            </a:r>
          </a:p>
          <a:p>
            <a:r>
              <a:rPr lang="en-US" altLang="ko-KR" sz="1000" dirty="0"/>
              <a:t>nvidia-cuda-cupti-cu12       12.1.105</a:t>
            </a:r>
          </a:p>
          <a:p>
            <a:r>
              <a:rPr lang="en-US" altLang="ko-KR" sz="1000" dirty="0"/>
              <a:t>nvidia-cuda-nvrtc-cu12       12.1.105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47633-3335-60E4-271B-B9149B4215BB}"/>
              </a:ext>
            </a:extLst>
          </p:cNvPr>
          <p:cNvSpPr txBox="1"/>
          <p:nvPr/>
        </p:nvSpPr>
        <p:spPr>
          <a:xfrm>
            <a:off x="6084168" y="1628801"/>
            <a:ext cx="2664296" cy="51125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ko-KR" sz="1000" dirty="0"/>
              <a:t>nvidia-cusparse-cu12         12.1.0.106</a:t>
            </a:r>
          </a:p>
          <a:p>
            <a:r>
              <a:rPr lang="en-US" altLang="ko-KR" sz="1000" dirty="0"/>
              <a:t>nvidia-nccl-cu12             2.18.1</a:t>
            </a:r>
          </a:p>
          <a:p>
            <a:r>
              <a:rPr lang="en-US" altLang="ko-KR" sz="1000" dirty="0"/>
              <a:t>nvidia-nvjitlink-cu12        12.3.101</a:t>
            </a:r>
          </a:p>
          <a:p>
            <a:r>
              <a:rPr lang="en-US" altLang="ko-KR" sz="1000" dirty="0"/>
              <a:t>nvidia-nvtx-cu12             12.1.105</a:t>
            </a:r>
          </a:p>
          <a:p>
            <a:r>
              <a:rPr lang="en-US" altLang="ko-KR" sz="1000" dirty="0" err="1"/>
              <a:t>oauthlib</a:t>
            </a:r>
            <a:r>
              <a:rPr lang="en-US" altLang="ko-KR" sz="1000" dirty="0"/>
              <a:t>                     3.2.2</a:t>
            </a:r>
          </a:p>
          <a:p>
            <a:r>
              <a:rPr lang="en-US" altLang="ko-KR" sz="1000" dirty="0" err="1"/>
              <a:t>openai</a:t>
            </a:r>
            <a:r>
              <a:rPr lang="en-US" altLang="ko-KR" sz="1000" dirty="0"/>
              <a:t>                       1.16.1</a:t>
            </a:r>
          </a:p>
          <a:p>
            <a:r>
              <a:rPr lang="en-US" altLang="ko-KR" sz="1000" dirty="0" err="1"/>
              <a:t>opencv</a:t>
            </a:r>
            <a:r>
              <a:rPr lang="en-US" altLang="ko-KR" sz="1000" dirty="0"/>
              <a:t>-python                4.7.0.72</a:t>
            </a:r>
          </a:p>
          <a:p>
            <a:r>
              <a:rPr lang="en-US" altLang="ko-KR" sz="1000" dirty="0" err="1"/>
              <a:t>opencv</a:t>
            </a:r>
            <a:r>
              <a:rPr lang="en-US" altLang="ko-KR" sz="1000" dirty="0"/>
              <a:t>-python-headless       4.8.0.74</a:t>
            </a:r>
          </a:p>
          <a:p>
            <a:r>
              <a:rPr lang="en-US" altLang="ko-KR" sz="1000" dirty="0"/>
              <a:t>opt-</a:t>
            </a:r>
            <a:r>
              <a:rPr lang="en-US" altLang="ko-KR" sz="1000" dirty="0" err="1"/>
              <a:t>einsum</a:t>
            </a:r>
            <a:r>
              <a:rPr lang="en-US" altLang="ko-KR" sz="1000" dirty="0"/>
              <a:t>                   3.3.0</a:t>
            </a:r>
          </a:p>
          <a:p>
            <a:r>
              <a:rPr lang="en-US" altLang="ko-KR" sz="1000" dirty="0" err="1"/>
              <a:t>orjson</a:t>
            </a:r>
            <a:r>
              <a:rPr lang="en-US" altLang="ko-KR" sz="1000" dirty="0"/>
              <a:t>                       3.10.1</a:t>
            </a:r>
          </a:p>
          <a:p>
            <a:r>
              <a:rPr lang="en-US" altLang="ko-KR" sz="1000" dirty="0"/>
              <a:t>outcome                      1.3.0.post0</a:t>
            </a:r>
          </a:p>
          <a:p>
            <a:r>
              <a:rPr lang="en-US" altLang="ko-KR" sz="1000" dirty="0"/>
              <a:t>packaging                    23.2</a:t>
            </a:r>
          </a:p>
          <a:p>
            <a:r>
              <a:rPr lang="en-US" altLang="ko-KR" sz="1000" dirty="0"/>
              <a:t>pandas                       2.1.4</a:t>
            </a:r>
          </a:p>
          <a:p>
            <a:r>
              <a:rPr lang="en-US" altLang="ko-KR" sz="1000" dirty="0"/>
              <a:t>perf                         0.1</a:t>
            </a:r>
          </a:p>
          <a:p>
            <a:r>
              <a:rPr lang="en-US" altLang="ko-KR" sz="1000" dirty="0" err="1"/>
              <a:t>pexpect</a:t>
            </a:r>
            <a:r>
              <a:rPr lang="en-US" altLang="ko-KR" sz="1000" dirty="0"/>
              <a:t>                      4.8.0</a:t>
            </a:r>
          </a:p>
          <a:p>
            <a:r>
              <a:rPr lang="en-US" altLang="ko-KR" sz="1000" dirty="0"/>
              <a:t>Pillow                       10.1.0</a:t>
            </a:r>
          </a:p>
          <a:p>
            <a:r>
              <a:rPr lang="en-US" altLang="ko-KR" sz="1000" dirty="0"/>
              <a:t>pip                          21.3.1</a:t>
            </a:r>
          </a:p>
          <a:p>
            <a:r>
              <a:rPr lang="en-US" altLang="ko-KR" sz="1000" dirty="0" err="1"/>
              <a:t>platformdirs</a:t>
            </a:r>
            <a:r>
              <a:rPr lang="en-US" altLang="ko-KR" sz="1000" dirty="0"/>
              <a:t>                 2.5.4</a:t>
            </a:r>
          </a:p>
          <a:p>
            <a:r>
              <a:rPr lang="en-US" altLang="ko-KR" sz="1000" dirty="0"/>
              <a:t>ply                          3.11</a:t>
            </a:r>
          </a:p>
          <a:p>
            <a:r>
              <a:rPr lang="en-US" altLang="ko-KR" sz="1000" dirty="0"/>
              <a:t>promise                      2.3</a:t>
            </a:r>
          </a:p>
          <a:p>
            <a:r>
              <a:rPr lang="en-US" altLang="ko-KR" sz="1000" dirty="0"/>
              <a:t>proto-plus                   1.23.0</a:t>
            </a:r>
          </a:p>
          <a:p>
            <a:r>
              <a:rPr lang="en-US" altLang="ko-KR" sz="1000" dirty="0" err="1"/>
              <a:t>protobuf</a:t>
            </a:r>
            <a:r>
              <a:rPr lang="en-US" altLang="ko-KR" sz="1000" dirty="0"/>
              <a:t>                     3.20.3</a:t>
            </a:r>
          </a:p>
          <a:p>
            <a:r>
              <a:rPr lang="en-US" altLang="ko-KR" sz="1000" dirty="0" err="1"/>
              <a:t>psutil</a:t>
            </a:r>
            <a:r>
              <a:rPr lang="en-US" altLang="ko-KR" sz="1000" dirty="0"/>
              <a:t>                       5.8.0</a:t>
            </a:r>
          </a:p>
          <a:p>
            <a:r>
              <a:rPr lang="en-US" altLang="ko-KR" sz="1000" dirty="0" err="1"/>
              <a:t>ptyprocess</a:t>
            </a:r>
            <a:r>
              <a:rPr lang="en-US" altLang="ko-KR" sz="1000" dirty="0"/>
              <a:t>                   0.6.0</a:t>
            </a:r>
          </a:p>
          <a:p>
            <a:r>
              <a:rPr lang="en-US" altLang="ko-KR" sz="1000" dirty="0" err="1"/>
              <a:t>py-cpuinfo</a:t>
            </a:r>
            <a:r>
              <a:rPr lang="en-US" altLang="ko-KR" sz="1000" dirty="0"/>
              <a:t>                   9.0.0</a:t>
            </a:r>
          </a:p>
          <a:p>
            <a:r>
              <a:rPr lang="en-US" altLang="ko-KR" sz="1000" dirty="0" err="1"/>
              <a:t>pyarrow</a:t>
            </a:r>
            <a:r>
              <a:rPr lang="en-US" altLang="ko-KR" sz="1000" dirty="0"/>
              <a:t>                      16.1.0</a:t>
            </a:r>
          </a:p>
          <a:p>
            <a:r>
              <a:rPr lang="en-US" altLang="ko-KR" sz="1000" dirty="0" err="1"/>
              <a:t>pyarrow</a:t>
            </a:r>
            <a:r>
              <a:rPr lang="en-US" altLang="ko-KR" sz="1000" dirty="0"/>
              <a:t>-hotfix               0.6</a:t>
            </a:r>
          </a:p>
          <a:p>
            <a:r>
              <a:rPr lang="en-US" altLang="ko-KR" sz="1000" dirty="0"/>
              <a:t>pyasn1                       0.5.1</a:t>
            </a:r>
          </a:p>
          <a:p>
            <a:r>
              <a:rPr lang="en-US" altLang="ko-KR" sz="1000" dirty="0"/>
              <a:t>pyasn1_modules               0.4.0</a:t>
            </a:r>
          </a:p>
          <a:p>
            <a:r>
              <a:rPr lang="en-US" altLang="ko-KR" sz="1000" dirty="0" err="1"/>
              <a:t>pybboxes</a:t>
            </a:r>
            <a:r>
              <a:rPr lang="en-US" altLang="ko-KR" sz="1000" dirty="0"/>
              <a:t>                     0.1.6</a:t>
            </a:r>
          </a:p>
          <a:p>
            <a:r>
              <a:rPr lang="en-US" altLang="ko-KR" sz="1000" dirty="0" err="1"/>
              <a:t>pycairo</a:t>
            </a:r>
            <a:r>
              <a:rPr lang="en-US" altLang="ko-KR" sz="1000" dirty="0"/>
              <a:t>                      1.20.1</a:t>
            </a:r>
          </a:p>
          <a:p>
            <a:r>
              <a:rPr lang="en-US" altLang="ko-KR" sz="1000" dirty="0" err="1"/>
              <a:t>pycparser</a:t>
            </a:r>
            <a:r>
              <a:rPr lang="en-US" altLang="ko-KR" sz="1000" dirty="0"/>
              <a:t>                    2.20</a:t>
            </a:r>
          </a:p>
          <a:p>
            <a:r>
              <a:rPr lang="en-US" altLang="ko-KR" sz="1000" dirty="0" err="1"/>
              <a:t>pycups</a:t>
            </a:r>
            <a:r>
              <a:rPr lang="en-US" altLang="ko-KR" sz="1000" dirty="0"/>
              <a:t>                       2.0.1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3F4D4-CBFC-1A23-51D4-9E1B4BF5F13C}"/>
              </a:ext>
            </a:extLst>
          </p:cNvPr>
          <p:cNvSpPr txBox="1"/>
          <p:nvPr/>
        </p:nvSpPr>
        <p:spPr>
          <a:xfrm>
            <a:off x="611560" y="1628800"/>
            <a:ext cx="2292820" cy="47525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ko-KR" sz="900" dirty="0" err="1"/>
              <a:t>gluonnlp</a:t>
            </a:r>
            <a:r>
              <a:rPr lang="en-US" altLang="ko-KR" sz="900" dirty="0"/>
              <a:t>                     0.10.0</a:t>
            </a:r>
          </a:p>
          <a:p>
            <a:r>
              <a:rPr lang="en-US" altLang="ko-KR" sz="900" dirty="0"/>
              <a:t>google-</a:t>
            </a:r>
            <a:r>
              <a:rPr lang="en-US" altLang="ko-KR" sz="900" dirty="0" err="1"/>
              <a:t>api</a:t>
            </a:r>
            <a:r>
              <a:rPr lang="en-US" altLang="ko-KR" sz="900" dirty="0"/>
              <a:t>-core              2.18.0</a:t>
            </a:r>
          </a:p>
          <a:p>
            <a:r>
              <a:rPr lang="en-US" altLang="ko-KR" sz="900" dirty="0"/>
              <a:t>google-auth                  2.25.2</a:t>
            </a:r>
          </a:p>
          <a:p>
            <a:r>
              <a:rPr lang="en-US" altLang="ko-KR" sz="900" dirty="0"/>
              <a:t>google-auth-</a:t>
            </a:r>
            <a:r>
              <a:rPr lang="en-US" altLang="ko-KR" sz="900" dirty="0" err="1"/>
              <a:t>oauthlib</a:t>
            </a:r>
            <a:r>
              <a:rPr lang="en-US" altLang="ko-KR" sz="900" dirty="0"/>
              <a:t>         1.2.0</a:t>
            </a:r>
          </a:p>
          <a:p>
            <a:r>
              <a:rPr lang="en-US" altLang="ko-KR" sz="900" dirty="0"/>
              <a:t>google-cloud-vision          3.7.2</a:t>
            </a:r>
          </a:p>
          <a:p>
            <a:r>
              <a:rPr lang="en-US" altLang="ko-KR" sz="900" dirty="0"/>
              <a:t>google-pasta                 0.2.0</a:t>
            </a:r>
          </a:p>
          <a:p>
            <a:r>
              <a:rPr lang="en-US" altLang="ko-KR" sz="900" dirty="0" err="1"/>
              <a:t>googleapis</a:t>
            </a:r>
            <a:r>
              <a:rPr lang="en-US" altLang="ko-KR" sz="900" dirty="0"/>
              <a:t>-common-protos     1.63.0</a:t>
            </a:r>
          </a:p>
          <a:p>
            <a:r>
              <a:rPr lang="en-US" altLang="ko-KR" sz="900" dirty="0" err="1"/>
              <a:t>googlemaps</a:t>
            </a:r>
            <a:r>
              <a:rPr lang="en-US" altLang="ko-KR" sz="900" dirty="0"/>
              <a:t>                   4.10.0</a:t>
            </a:r>
          </a:p>
          <a:p>
            <a:r>
              <a:rPr lang="en-US" altLang="ko-KR" sz="900" dirty="0" err="1"/>
              <a:t>gpg</a:t>
            </a:r>
            <a:r>
              <a:rPr lang="en-US" altLang="ko-KR" sz="900" dirty="0"/>
              <a:t>                          1.15.1</a:t>
            </a:r>
          </a:p>
          <a:p>
            <a:r>
              <a:rPr lang="en-US" altLang="ko-KR" sz="900" dirty="0"/>
              <a:t>greenlet                     3.0.3</a:t>
            </a:r>
          </a:p>
          <a:p>
            <a:r>
              <a:rPr lang="en-US" altLang="ko-KR" sz="900" dirty="0" err="1"/>
              <a:t>grpcio</a:t>
            </a:r>
            <a:r>
              <a:rPr lang="en-US" altLang="ko-KR" sz="900" dirty="0"/>
              <a:t>                       1.63.0</a:t>
            </a:r>
          </a:p>
          <a:p>
            <a:r>
              <a:rPr lang="en-US" altLang="ko-KR" sz="900" dirty="0" err="1"/>
              <a:t>grpcio</a:t>
            </a:r>
            <a:r>
              <a:rPr lang="en-US" altLang="ko-KR" sz="900" dirty="0"/>
              <a:t>-status                1.62.2</a:t>
            </a:r>
          </a:p>
          <a:p>
            <a:r>
              <a:rPr lang="en-US" altLang="ko-KR" sz="900" dirty="0" err="1"/>
              <a:t>gunicorn</a:t>
            </a:r>
            <a:r>
              <a:rPr lang="en-US" altLang="ko-KR" sz="900" dirty="0"/>
              <a:t>                     22.0.0</a:t>
            </a:r>
          </a:p>
          <a:p>
            <a:r>
              <a:rPr lang="en-US" altLang="ko-KR" sz="900" dirty="0"/>
              <a:t>h11                          0.14.0</a:t>
            </a:r>
          </a:p>
          <a:p>
            <a:r>
              <a:rPr lang="en-US" altLang="ko-KR" sz="900" dirty="0"/>
              <a:t>h5py                         3.10.0</a:t>
            </a:r>
          </a:p>
          <a:p>
            <a:r>
              <a:rPr lang="en-US" altLang="ko-KR" sz="900" dirty="0" err="1"/>
              <a:t>httpcore</a:t>
            </a:r>
            <a:r>
              <a:rPr lang="en-US" altLang="ko-KR" sz="900" dirty="0"/>
              <a:t>                     1.0.5</a:t>
            </a:r>
          </a:p>
          <a:p>
            <a:r>
              <a:rPr lang="en-US" altLang="ko-KR" sz="900" dirty="0" err="1"/>
              <a:t>httptools</a:t>
            </a:r>
            <a:r>
              <a:rPr lang="en-US" altLang="ko-KR" sz="900" dirty="0"/>
              <a:t>                    0.6.1</a:t>
            </a:r>
          </a:p>
          <a:p>
            <a:r>
              <a:rPr lang="en-US" altLang="ko-KR" sz="900" dirty="0" err="1"/>
              <a:t>httpx</a:t>
            </a:r>
            <a:r>
              <a:rPr lang="en-US" altLang="ko-KR" sz="900" dirty="0"/>
              <a:t>                        0.27.0</a:t>
            </a:r>
          </a:p>
          <a:p>
            <a:r>
              <a:rPr lang="en-US" altLang="ko-KR" sz="900" dirty="0" err="1"/>
              <a:t>huggingface</a:t>
            </a:r>
            <a:r>
              <a:rPr lang="en-US" altLang="ko-KR" sz="900" dirty="0"/>
              <a:t>-hub              0.22.2</a:t>
            </a:r>
          </a:p>
          <a:p>
            <a:r>
              <a:rPr lang="en-US" altLang="ko-KR" sz="900" dirty="0" err="1"/>
              <a:t>idna</a:t>
            </a:r>
            <a:r>
              <a:rPr lang="en-US" altLang="ko-KR" sz="900" dirty="0"/>
              <a:t>                         2.10</a:t>
            </a:r>
          </a:p>
          <a:p>
            <a:r>
              <a:rPr lang="en-US" altLang="ko-KR" sz="900" dirty="0" err="1"/>
              <a:t>importlib</a:t>
            </a:r>
            <a:r>
              <a:rPr lang="en-US" altLang="ko-KR" sz="900" dirty="0"/>
              <a:t>-metadata           7.0.0</a:t>
            </a:r>
          </a:p>
          <a:p>
            <a:r>
              <a:rPr lang="en-US" altLang="ko-KR" sz="900" dirty="0" err="1"/>
              <a:t>importlib</a:t>
            </a:r>
            <a:r>
              <a:rPr lang="en-US" altLang="ko-KR" sz="900" dirty="0"/>
              <a:t>-resources          6.1.1</a:t>
            </a:r>
          </a:p>
          <a:p>
            <a:r>
              <a:rPr lang="en-US" altLang="ko-KR" sz="900" dirty="0" err="1"/>
              <a:t>iotop</a:t>
            </a:r>
            <a:r>
              <a:rPr lang="en-US" altLang="ko-KR" sz="900" dirty="0"/>
              <a:t>                        0.6</a:t>
            </a:r>
          </a:p>
          <a:p>
            <a:r>
              <a:rPr lang="en-US" altLang="ko-KR" sz="900" dirty="0" err="1"/>
              <a:t>itsdangerous</a:t>
            </a:r>
            <a:r>
              <a:rPr lang="en-US" altLang="ko-KR" sz="900" dirty="0"/>
              <a:t>                 2.2.0</a:t>
            </a:r>
          </a:p>
          <a:p>
            <a:r>
              <a:rPr lang="en-US" altLang="ko-KR" sz="900" dirty="0"/>
              <a:t>Jinja2                       3.1.2</a:t>
            </a:r>
          </a:p>
          <a:p>
            <a:r>
              <a:rPr lang="en-US" altLang="ko-KR" sz="900" dirty="0" err="1"/>
              <a:t>jmespath</a:t>
            </a:r>
            <a:r>
              <a:rPr lang="en-US" altLang="ko-KR" sz="900" dirty="0"/>
              <a:t>                     1.0.1</a:t>
            </a:r>
          </a:p>
          <a:p>
            <a:r>
              <a:rPr lang="en-US" altLang="ko-KR" sz="900" dirty="0" err="1"/>
              <a:t>joblib</a:t>
            </a:r>
            <a:r>
              <a:rPr lang="en-US" altLang="ko-KR" sz="900" dirty="0"/>
              <a:t>                       1.3.2</a:t>
            </a:r>
          </a:p>
          <a:p>
            <a:r>
              <a:rPr lang="en-US" altLang="ko-KR" sz="900" dirty="0"/>
              <a:t>JPype1                       1.5.0</a:t>
            </a:r>
          </a:p>
          <a:p>
            <a:r>
              <a:rPr lang="en-US" altLang="ko-KR" sz="900" dirty="0" err="1"/>
              <a:t>jsonpatch</a:t>
            </a:r>
            <a:r>
              <a:rPr lang="en-US" altLang="ko-KR" sz="900" dirty="0"/>
              <a:t>                    1.33</a:t>
            </a:r>
          </a:p>
          <a:p>
            <a:r>
              <a:rPr lang="en-US" altLang="ko-KR" sz="900" dirty="0" err="1"/>
              <a:t>jsonpointer</a:t>
            </a:r>
            <a:r>
              <a:rPr lang="en-US" altLang="ko-KR" sz="900" dirty="0"/>
              <a:t>                  2.4</a:t>
            </a:r>
          </a:p>
          <a:p>
            <a:r>
              <a:rPr lang="en-US" altLang="ko-KR" sz="900" dirty="0" err="1"/>
              <a:t>jsonschema</a:t>
            </a:r>
            <a:r>
              <a:rPr lang="en-US" altLang="ko-KR" sz="900" dirty="0"/>
              <a:t>                   4.22.0</a:t>
            </a:r>
          </a:p>
          <a:p>
            <a:r>
              <a:rPr lang="en-US" altLang="ko-KR" sz="900" dirty="0" err="1"/>
              <a:t>jsonschema</a:t>
            </a:r>
            <a:r>
              <a:rPr lang="en-US" altLang="ko-KR" sz="900" dirty="0"/>
              <a:t>-specifications    2023.12.1</a:t>
            </a:r>
          </a:p>
          <a:p>
            <a:r>
              <a:rPr lang="en-US" altLang="ko-KR" sz="900" dirty="0" err="1"/>
              <a:t>kagglehub</a:t>
            </a:r>
            <a:r>
              <a:rPr lang="en-US" altLang="ko-KR" sz="900" dirty="0"/>
              <a:t>                    0.2.5</a:t>
            </a:r>
          </a:p>
          <a:p>
            <a:r>
              <a:rPr lang="en-US" altLang="ko-KR" sz="900" dirty="0" err="1"/>
              <a:t>keras</a:t>
            </a:r>
            <a:r>
              <a:rPr lang="en-US" altLang="ko-KR" sz="900" dirty="0"/>
              <a:t>                        2.15.0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7C749-0D76-3884-0E36-F14BEFDD5E49}"/>
              </a:ext>
            </a:extLst>
          </p:cNvPr>
          <p:cNvSpPr txBox="1"/>
          <p:nvPr/>
        </p:nvSpPr>
        <p:spPr>
          <a:xfrm>
            <a:off x="467544" y="881041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2) (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현재 학과서버에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설치된 패키지버전은 아래와 같음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 </a:t>
            </a:r>
          </a:p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만약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) 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설치가 필요한 패키지가 있다면 요청하기 바람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5565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364D-0AD5-4913-8E39-DFC43D0F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CDA34D-55F2-60C3-A6B6-698C25BC8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B4AD93DD-FC0B-A2D3-3C97-9410D7C70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99" y="92075"/>
            <a:ext cx="90663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eaLnBrk="0" latinLnBrk="0" hangingPunct="0">
              <a:spcBef>
                <a:spcPct val="50000"/>
              </a:spcBef>
            </a:pP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700A6815-218D-48DC-D0AD-3A8FA3A107D1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25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35E56-2330-2915-C6EF-75603B5D9505}"/>
              </a:ext>
            </a:extLst>
          </p:cNvPr>
          <p:cNvSpPr txBox="1"/>
          <p:nvPr/>
        </p:nvSpPr>
        <p:spPr>
          <a:xfrm>
            <a:off x="3210889" y="1628800"/>
            <a:ext cx="2873279" cy="4862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000" dirty="0"/>
              <a:t>seaborn                      0.13.0</a:t>
            </a:r>
          </a:p>
          <a:p>
            <a:r>
              <a:rPr lang="en-US" altLang="ko-KR" sz="1000" dirty="0"/>
              <a:t>selenium                     4.8.2</a:t>
            </a:r>
          </a:p>
          <a:p>
            <a:r>
              <a:rPr lang="en-US" altLang="ko-KR" sz="1000" dirty="0" err="1"/>
              <a:t>selinux</a:t>
            </a:r>
            <a:r>
              <a:rPr lang="en-US" altLang="ko-KR" sz="1000" dirty="0"/>
              <a:t>                      3.5</a:t>
            </a:r>
          </a:p>
          <a:p>
            <a:r>
              <a:rPr lang="en-US" altLang="ko-KR" sz="1000" dirty="0" err="1"/>
              <a:t>sentencepiece</a:t>
            </a:r>
            <a:r>
              <a:rPr lang="en-US" altLang="ko-KR" sz="1000" dirty="0"/>
              <a:t>                0.2.0</a:t>
            </a:r>
          </a:p>
          <a:p>
            <a:r>
              <a:rPr lang="en-US" altLang="ko-KR" sz="1000" dirty="0" err="1"/>
              <a:t>sepolicy</a:t>
            </a:r>
            <a:r>
              <a:rPr lang="en-US" altLang="ko-KR" sz="1000" dirty="0"/>
              <a:t>                     3.5</a:t>
            </a:r>
          </a:p>
          <a:p>
            <a:r>
              <a:rPr lang="en-US" altLang="ko-KR" sz="1000" dirty="0" err="1"/>
              <a:t>setools</a:t>
            </a:r>
            <a:r>
              <a:rPr lang="en-US" altLang="ko-KR" sz="1000" dirty="0"/>
              <a:t>                      4.4.3</a:t>
            </a:r>
          </a:p>
          <a:p>
            <a:r>
              <a:rPr lang="en-US" altLang="ko-KR" sz="1000" dirty="0" err="1"/>
              <a:t>setroubleshoot</a:t>
            </a:r>
            <a:r>
              <a:rPr lang="en-US" altLang="ko-KR" sz="1000" dirty="0"/>
              <a:t>               3.3.32</a:t>
            </a:r>
          </a:p>
          <a:p>
            <a:r>
              <a:rPr lang="en-US" altLang="ko-KR" sz="1000" dirty="0" err="1"/>
              <a:t>setuptools</a:t>
            </a:r>
            <a:r>
              <a:rPr lang="en-US" altLang="ko-KR" sz="1000" dirty="0"/>
              <a:t>                   69.2.0</a:t>
            </a:r>
          </a:p>
          <a:p>
            <a:r>
              <a:rPr lang="en-US" altLang="ko-KR" sz="1000" dirty="0"/>
              <a:t>shapely                      2.0.3</a:t>
            </a:r>
          </a:p>
          <a:p>
            <a:r>
              <a:rPr lang="en-US" altLang="ko-KR" sz="1000" dirty="0"/>
              <a:t>six                          1.15.0</a:t>
            </a:r>
          </a:p>
          <a:p>
            <a:r>
              <a:rPr lang="en-US" altLang="ko-KR" sz="1000" dirty="0" err="1"/>
              <a:t>sklearn</a:t>
            </a:r>
            <a:r>
              <a:rPr lang="en-US" altLang="ko-KR" sz="1000" dirty="0"/>
              <a:t>                      0.0</a:t>
            </a:r>
          </a:p>
          <a:p>
            <a:r>
              <a:rPr lang="en-US" altLang="ko-KR" sz="1000" dirty="0" err="1"/>
              <a:t>smmap</a:t>
            </a:r>
            <a:r>
              <a:rPr lang="en-US" altLang="ko-KR" sz="1000" dirty="0"/>
              <a:t>                        5.0.1</a:t>
            </a:r>
          </a:p>
          <a:p>
            <a:r>
              <a:rPr lang="en-US" altLang="ko-KR" sz="1000" dirty="0" err="1"/>
              <a:t>sniffio</a:t>
            </a:r>
            <a:r>
              <a:rPr lang="en-US" altLang="ko-KR" sz="1000" dirty="0"/>
              <a:t>                      1.3.1</a:t>
            </a:r>
          </a:p>
          <a:p>
            <a:r>
              <a:rPr lang="en-US" altLang="ko-KR" sz="1000" dirty="0" err="1"/>
              <a:t>sortedcontainers</a:t>
            </a:r>
            <a:r>
              <a:rPr lang="en-US" altLang="ko-KR" sz="1000" dirty="0"/>
              <a:t>             2.4.0</a:t>
            </a:r>
          </a:p>
          <a:p>
            <a:r>
              <a:rPr lang="en-US" altLang="ko-KR" sz="1000" dirty="0" err="1"/>
              <a:t>sos</a:t>
            </a:r>
            <a:r>
              <a:rPr lang="en-US" altLang="ko-KR" sz="1000" dirty="0"/>
              <a:t>                          4.6.0</a:t>
            </a:r>
          </a:p>
          <a:p>
            <a:r>
              <a:rPr lang="en-US" altLang="ko-KR" sz="1000" dirty="0" err="1"/>
              <a:t>soupsieve</a:t>
            </a:r>
            <a:r>
              <a:rPr lang="en-US" altLang="ko-KR" sz="1000" dirty="0"/>
              <a:t>                    2.5</a:t>
            </a:r>
          </a:p>
          <a:p>
            <a:r>
              <a:rPr lang="en-US" altLang="ko-KR" sz="1000" dirty="0" err="1"/>
              <a:t>SQLAlchemy</a:t>
            </a:r>
            <a:r>
              <a:rPr lang="en-US" altLang="ko-KR" sz="1000" dirty="0"/>
              <a:t>                   2.0.29</a:t>
            </a:r>
          </a:p>
          <a:p>
            <a:r>
              <a:rPr lang="en-US" altLang="ko-KR" sz="1000" dirty="0" err="1"/>
              <a:t>starlette</a:t>
            </a:r>
            <a:r>
              <a:rPr lang="en-US" altLang="ko-KR" sz="1000" dirty="0"/>
              <a:t>                    0.37.2</a:t>
            </a:r>
          </a:p>
          <a:p>
            <a:r>
              <a:rPr lang="en-US" altLang="ko-KR" sz="1000" dirty="0" err="1"/>
              <a:t>sympy</a:t>
            </a:r>
            <a:r>
              <a:rPr lang="en-US" altLang="ko-KR" sz="1000" dirty="0"/>
              <a:t>                        1.12</a:t>
            </a:r>
          </a:p>
          <a:p>
            <a:r>
              <a:rPr lang="en-US" altLang="ko-KR" sz="1000" dirty="0" err="1"/>
              <a:t>systemd</a:t>
            </a:r>
            <a:r>
              <a:rPr lang="en-US" altLang="ko-KR" sz="1000" dirty="0"/>
              <a:t>-python               234</a:t>
            </a:r>
          </a:p>
          <a:p>
            <a:r>
              <a:rPr lang="en-US" altLang="ko-KR" sz="1000" dirty="0"/>
              <a:t>tenacity                     8.2.3</a:t>
            </a:r>
          </a:p>
          <a:p>
            <a:r>
              <a:rPr lang="en-US" altLang="ko-KR" sz="1000" dirty="0" err="1"/>
              <a:t>tensorboard</a:t>
            </a:r>
            <a:r>
              <a:rPr lang="en-US" altLang="ko-KR" sz="1000" dirty="0"/>
              <a:t>                  2.15.1</a:t>
            </a:r>
          </a:p>
          <a:p>
            <a:r>
              <a:rPr lang="en-US" altLang="ko-KR" sz="1000" dirty="0" err="1"/>
              <a:t>tensorboard</a:t>
            </a:r>
            <a:r>
              <a:rPr lang="en-US" altLang="ko-KR" sz="1000" dirty="0"/>
              <a:t>-data-server      0.7.2</a:t>
            </a:r>
          </a:p>
          <a:p>
            <a:r>
              <a:rPr lang="en-US" altLang="ko-KR" sz="1000" dirty="0" err="1"/>
              <a:t>tensorflow</a:t>
            </a:r>
            <a:r>
              <a:rPr lang="en-US" altLang="ko-KR" sz="1000" dirty="0"/>
              <a:t>                   2.15.0.post1</a:t>
            </a:r>
          </a:p>
          <a:p>
            <a:r>
              <a:rPr lang="en-US" altLang="ko-KR" sz="1000" dirty="0" err="1"/>
              <a:t>tensorflow</a:t>
            </a:r>
            <a:r>
              <a:rPr lang="en-US" altLang="ko-KR" sz="1000" dirty="0"/>
              <a:t>-datasets          4.9.3</a:t>
            </a:r>
          </a:p>
          <a:p>
            <a:r>
              <a:rPr lang="en-US" altLang="ko-KR" sz="1000" dirty="0" err="1"/>
              <a:t>tensorflow</a:t>
            </a:r>
            <a:r>
              <a:rPr lang="en-US" altLang="ko-KR" sz="1000" dirty="0"/>
              <a:t>-estimator         2.15.0</a:t>
            </a:r>
          </a:p>
          <a:p>
            <a:r>
              <a:rPr lang="en-US" altLang="ko-KR" sz="1000" dirty="0" err="1"/>
              <a:t>tensorflow</a:t>
            </a:r>
            <a:r>
              <a:rPr lang="en-US" altLang="ko-KR" sz="1000" dirty="0"/>
              <a:t>-io-</a:t>
            </a:r>
            <a:r>
              <a:rPr lang="en-US" altLang="ko-KR" sz="1000" dirty="0" err="1"/>
              <a:t>gcs</a:t>
            </a:r>
            <a:r>
              <a:rPr lang="en-US" altLang="ko-KR" sz="1000" dirty="0"/>
              <a:t>-filesystem 0.34.0</a:t>
            </a:r>
          </a:p>
          <a:p>
            <a:r>
              <a:rPr lang="en-US" altLang="ko-KR" sz="1000" dirty="0" err="1"/>
              <a:t>tensorflow</a:t>
            </a:r>
            <a:r>
              <a:rPr lang="en-US" altLang="ko-KR" sz="1000" dirty="0"/>
              <a:t>-metadata          1.15.0</a:t>
            </a:r>
          </a:p>
          <a:p>
            <a:r>
              <a:rPr lang="en-US" altLang="ko-KR" sz="1000" dirty="0" err="1"/>
              <a:t>termcolor</a:t>
            </a:r>
            <a:r>
              <a:rPr lang="en-US" altLang="ko-KR" sz="1000" dirty="0"/>
              <a:t>                    2.4.0</a:t>
            </a:r>
          </a:p>
          <a:p>
            <a:r>
              <a:rPr lang="en-US" altLang="ko-KR" sz="1000" dirty="0" err="1"/>
              <a:t>terminaltables</a:t>
            </a:r>
            <a:r>
              <a:rPr lang="en-US" altLang="ko-KR" sz="1000" dirty="0"/>
              <a:t>               3.1.10</a:t>
            </a:r>
          </a:p>
          <a:p>
            <a:r>
              <a:rPr lang="en-US" altLang="ko-KR" sz="1000" dirty="0" err="1"/>
              <a:t>thop</a:t>
            </a:r>
            <a:r>
              <a:rPr lang="en-US" altLang="ko-KR" sz="1000" dirty="0"/>
              <a:t>                         0.1.1.post2209072238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A8692-2489-CBB8-1B96-85884E488299}"/>
              </a:ext>
            </a:extLst>
          </p:cNvPr>
          <p:cNvSpPr txBox="1"/>
          <p:nvPr/>
        </p:nvSpPr>
        <p:spPr>
          <a:xfrm>
            <a:off x="6228184" y="1628800"/>
            <a:ext cx="2664296" cy="45365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ko-KR" sz="1000" dirty="0" err="1"/>
              <a:t>threadpoolctl</a:t>
            </a:r>
            <a:r>
              <a:rPr lang="en-US" altLang="ko-KR" sz="1000" dirty="0"/>
              <a:t>                3.2.0</a:t>
            </a:r>
          </a:p>
          <a:p>
            <a:r>
              <a:rPr lang="en-US" altLang="ko-KR" sz="1000" dirty="0"/>
              <a:t>tokenizers                   0.19.1</a:t>
            </a:r>
          </a:p>
          <a:p>
            <a:r>
              <a:rPr lang="en-US" altLang="ko-KR" sz="1000" dirty="0" err="1"/>
              <a:t>toml</a:t>
            </a:r>
            <a:r>
              <a:rPr lang="en-US" altLang="ko-KR" sz="1000" dirty="0"/>
              <a:t>                         0.10.2</a:t>
            </a:r>
          </a:p>
          <a:p>
            <a:r>
              <a:rPr lang="en-US" altLang="ko-KR" sz="1000" dirty="0"/>
              <a:t>torch                        2.1.2</a:t>
            </a:r>
          </a:p>
          <a:p>
            <a:r>
              <a:rPr lang="en-US" altLang="ko-KR" sz="1000" dirty="0" err="1"/>
              <a:t>torchvision</a:t>
            </a:r>
            <a:r>
              <a:rPr lang="en-US" altLang="ko-KR" sz="1000" dirty="0"/>
              <a:t>                  0.16.2</a:t>
            </a:r>
          </a:p>
          <a:p>
            <a:r>
              <a:rPr lang="en-US" altLang="ko-KR" sz="1000" dirty="0" err="1"/>
              <a:t>tqdm</a:t>
            </a:r>
            <a:r>
              <a:rPr lang="en-US" altLang="ko-KR" sz="1000" dirty="0"/>
              <a:t>                         4.66.2</a:t>
            </a:r>
          </a:p>
          <a:p>
            <a:r>
              <a:rPr lang="en-US" altLang="ko-KR" sz="1000" dirty="0"/>
              <a:t>transformers                 4.40.1</a:t>
            </a:r>
          </a:p>
          <a:p>
            <a:r>
              <a:rPr lang="en-US" altLang="ko-KR" sz="1000" dirty="0"/>
              <a:t>trio                         0.25.0</a:t>
            </a:r>
          </a:p>
          <a:p>
            <a:r>
              <a:rPr lang="en-US" altLang="ko-KR" sz="1000" dirty="0"/>
              <a:t>trio-</a:t>
            </a:r>
            <a:r>
              <a:rPr lang="en-US" altLang="ko-KR" sz="1000" dirty="0" err="1"/>
              <a:t>websocket</a:t>
            </a:r>
            <a:r>
              <a:rPr lang="en-US" altLang="ko-KR" sz="1000" dirty="0"/>
              <a:t>               0.11.1</a:t>
            </a:r>
          </a:p>
          <a:p>
            <a:r>
              <a:rPr lang="en-US" altLang="ko-KR" sz="1000" dirty="0"/>
              <a:t>triton                       2.1.0</a:t>
            </a:r>
          </a:p>
          <a:p>
            <a:r>
              <a:rPr lang="en-US" altLang="ko-KR" sz="1000" dirty="0" err="1"/>
              <a:t>typing_extensions</a:t>
            </a:r>
            <a:r>
              <a:rPr lang="en-US" altLang="ko-KR" sz="1000" dirty="0"/>
              <a:t>            4.9.0</a:t>
            </a:r>
          </a:p>
          <a:p>
            <a:r>
              <a:rPr lang="en-US" altLang="ko-KR" sz="1000" dirty="0"/>
              <a:t>typing-inspect               0.9.0</a:t>
            </a:r>
          </a:p>
          <a:p>
            <a:r>
              <a:rPr lang="en-US" altLang="ko-KR" sz="1000" dirty="0" err="1"/>
              <a:t>tzdata</a:t>
            </a:r>
            <a:r>
              <a:rPr lang="en-US" altLang="ko-KR" sz="1000" dirty="0"/>
              <a:t>                       2023.3</a:t>
            </a:r>
          </a:p>
          <a:p>
            <a:r>
              <a:rPr lang="en-US" altLang="ko-KR" sz="1000" dirty="0" err="1"/>
              <a:t>ultralytics</a:t>
            </a:r>
            <a:r>
              <a:rPr lang="en-US" altLang="ko-KR" sz="1000" dirty="0"/>
              <a:t>                  8.1.45</a:t>
            </a:r>
          </a:p>
          <a:p>
            <a:r>
              <a:rPr lang="en-US" altLang="ko-KR" sz="1000" dirty="0"/>
              <a:t>urllib3                      1.26.18</a:t>
            </a:r>
          </a:p>
          <a:p>
            <a:r>
              <a:rPr lang="en-US" altLang="ko-KR" sz="1000" dirty="0" err="1"/>
              <a:t>uvicorn</a:t>
            </a:r>
            <a:r>
              <a:rPr lang="en-US" altLang="ko-KR" sz="1000" dirty="0"/>
              <a:t>                      0.29.0</a:t>
            </a:r>
          </a:p>
          <a:p>
            <a:r>
              <a:rPr lang="en-US" altLang="ko-KR" sz="1000" dirty="0" err="1"/>
              <a:t>virtualenv</a:t>
            </a:r>
            <a:r>
              <a:rPr lang="en-US" altLang="ko-KR" sz="1000" dirty="0"/>
              <a:t>                   20.20.0</a:t>
            </a:r>
          </a:p>
          <a:p>
            <a:r>
              <a:rPr lang="en-US" altLang="ko-KR" sz="1000" dirty="0" err="1"/>
              <a:t>watchfiles</a:t>
            </a:r>
            <a:r>
              <a:rPr lang="en-US" altLang="ko-KR" sz="1000" dirty="0"/>
              <a:t>                   0.21.0</a:t>
            </a:r>
          </a:p>
          <a:p>
            <a:r>
              <a:rPr lang="en-US" altLang="ko-KR" sz="1000" dirty="0" err="1"/>
              <a:t>webdriver</a:t>
            </a:r>
            <a:r>
              <a:rPr lang="en-US" altLang="ko-KR" sz="1000" dirty="0"/>
              <a:t>-manager            4.0.1</a:t>
            </a:r>
          </a:p>
          <a:p>
            <a:r>
              <a:rPr lang="en-US" altLang="ko-KR" sz="1000" dirty="0" err="1"/>
              <a:t>websockets</a:t>
            </a:r>
            <a:r>
              <a:rPr lang="en-US" altLang="ko-KR" sz="1000" dirty="0"/>
              <a:t>                   12.0</a:t>
            </a:r>
          </a:p>
          <a:p>
            <a:r>
              <a:rPr lang="en-US" altLang="ko-KR" sz="1000" dirty="0" err="1"/>
              <a:t>Werkzeug</a:t>
            </a:r>
            <a:r>
              <a:rPr lang="en-US" altLang="ko-KR" sz="1000" dirty="0"/>
              <a:t>                     3.0.1</a:t>
            </a:r>
          </a:p>
          <a:p>
            <a:r>
              <a:rPr lang="en-US" altLang="ko-KR" sz="1000" dirty="0"/>
              <a:t>wheel                        0.42.0</a:t>
            </a:r>
          </a:p>
          <a:p>
            <a:r>
              <a:rPr lang="en-US" altLang="ko-KR" sz="1000" dirty="0" err="1"/>
              <a:t>wrapt</a:t>
            </a:r>
            <a:r>
              <a:rPr lang="en-US" altLang="ko-KR" sz="1000" dirty="0"/>
              <a:t>                        1.14.1</a:t>
            </a:r>
          </a:p>
          <a:p>
            <a:r>
              <a:rPr lang="en-US" altLang="ko-KR" sz="1000" dirty="0" err="1"/>
              <a:t>wsproto</a:t>
            </a:r>
            <a:r>
              <a:rPr lang="en-US" altLang="ko-KR" sz="1000" dirty="0"/>
              <a:t>                      1.2.0</a:t>
            </a:r>
          </a:p>
          <a:p>
            <a:r>
              <a:rPr lang="en-US" altLang="ko-KR" sz="1000" dirty="0" err="1"/>
              <a:t>xxhash</a:t>
            </a:r>
            <a:r>
              <a:rPr lang="en-US" altLang="ko-KR" sz="1000" dirty="0"/>
              <a:t>                       3.4.1</a:t>
            </a:r>
          </a:p>
          <a:p>
            <a:r>
              <a:rPr lang="en-US" altLang="ko-KR" sz="1000" dirty="0" err="1"/>
              <a:t>yarl</a:t>
            </a:r>
            <a:r>
              <a:rPr lang="en-US" altLang="ko-KR" sz="1000" dirty="0"/>
              <a:t>                         1.9.4</a:t>
            </a:r>
          </a:p>
          <a:p>
            <a:r>
              <a:rPr lang="en-US" altLang="ko-KR" sz="1000" dirty="0"/>
              <a:t>yolov5                       7.0.13</a:t>
            </a:r>
          </a:p>
          <a:p>
            <a:r>
              <a:rPr lang="en-US" altLang="ko-KR" sz="1000" dirty="0"/>
              <a:t>yolov8                       0.0.2</a:t>
            </a:r>
          </a:p>
          <a:p>
            <a:r>
              <a:rPr lang="en-US" altLang="ko-KR" sz="1000" dirty="0" err="1"/>
              <a:t>zipp</a:t>
            </a:r>
            <a:r>
              <a:rPr lang="en-US" altLang="ko-KR" sz="1000" dirty="0"/>
              <a:t>                         3.17.0</a:t>
            </a:r>
          </a:p>
          <a:p>
            <a:endParaRPr lang="en-US" altLang="ko-KR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EB13B-7B91-5A23-37F9-F047E7620A74}"/>
              </a:ext>
            </a:extLst>
          </p:cNvPr>
          <p:cNvSpPr txBox="1"/>
          <p:nvPr/>
        </p:nvSpPr>
        <p:spPr>
          <a:xfrm>
            <a:off x="611560" y="1628800"/>
            <a:ext cx="2292820" cy="47525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ko-KR" sz="900" dirty="0" err="1"/>
              <a:t>pycurl</a:t>
            </a:r>
            <a:r>
              <a:rPr lang="en-US" altLang="ko-KR" sz="900" dirty="0"/>
              <a:t>                       7.43.0.6</a:t>
            </a:r>
          </a:p>
          <a:p>
            <a:r>
              <a:rPr lang="en-US" altLang="ko-KR" sz="900" dirty="0" err="1"/>
              <a:t>pydantic</a:t>
            </a:r>
            <a:r>
              <a:rPr lang="en-US" altLang="ko-KR" sz="900" dirty="0"/>
              <a:t>                     2.6.4</a:t>
            </a:r>
          </a:p>
          <a:p>
            <a:r>
              <a:rPr lang="en-US" altLang="ko-KR" sz="900" dirty="0" err="1"/>
              <a:t>pydantic_core</a:t>
            </a:r>
            <a:r>
              <a:rPr lang="en-US" altLang="ko-KR" sz="900" dirty="0"/>
              <a:t>                2.16.3</a:t>
            </a:r>
          </a:p>
          <a:p>
            <a:r>
              <a:rPr lang="en-US" altLang="ko-KR" sz="900" dirty="0" err="1"/>
              <a:t>pyenchant</a:t>
            </a:r>
            <a:r>
              <a:rPr lang="en-US" altLang="ko-KR" sz="900" dirty="0"/>
              <a:t>                    3.2.0</a:t>
            </a:r>
          </a:p>
          <a:p>
            <a:r>
              <a:rPr lang="en-US" altLang="ko-KR" sz="900" dirty="0" err="1"/>
              <a:t>Pygments</a:t>
            </a:r>
            <a:r>
              <a:rPr lang="en-US" altLang="ko-KR" sz="900" dirty="0"/>
              <a:t>                     2.18.0</a:t>
            </a:r>
          </a:p>
          <a:p>
            <a:r>
              <a:rPr lang="en-US" altLang="ko-KR" sz="900" dirty="0" err="1"/>
              <a:t>PyGObject</a:t>
            </a:r>
            <a:r>
              <a:rPr lang="en-US" altLang="ko-KR" sz="900" dirty="0"/>
              <a:t>                    3.40.1</a:t>
            </a:r>
          </a:p>
          <a:p>
            <a:r>
              <a:rPr lang="en-US" altLang="ko-KR" sz="900" dirty="0" err="1"/>
              <a:t>pymongo</a:t>
            </a:r>
            <a:r>
              <a:rPr lang="en-US" altLang="ko-KR" sz="900" dirty="0"/>
              <a:t>                      4.7.2</a:t>
            </a:r>
          </a:p>
          <a:p>
            <a:r>
              <a:rPr lang="en-US" altLang="ko-KR" sz="900" dirty="0" err="1"/>
              <a:t>PyMySQL</a:t>
            </a:r>
            <a:r>
              <a:rPr lang="en-US" altLang="ko-KR" sz="900" dirty="0"/>
              <a:t>                      1.1.0</a:t>
            </a:r>
          </a:p>
          <a:p>
            <a:r>
              <a:rPr lang="en-US" altLang="ko-KR" sz="900" dirty="0" err="1"/>
              <a:t>pyparsing</a:t>
            </a:r>
            <a:r>
              <a:rPr lang="en-US" altLang="ko-KR" sz="900" dirty="0"/>
              <a:t>                    2.4.7</a:t>
            </a:r>
          </a:p>
          <a:p>
            <a:r>
              <a:rPr lang="en-US" altLang="ko-KR" sz="900" dirty="0" err="1"/>
              <a:t>PySocks</a:t>
            </a:r>
            <a:r>
              <a:rPr lang="en-US" altLang="ko-KR" sz="900" dirty="0"/>
              <a:t>                      1.7.1</a:t>
            </a:r>
          </a:p>
          <a:p>
            <a:r>
              <a:rPr lang="en-US" altLang="ko-KR" sz="900" dirty="0"/>
              <a:t>python-</a:t>
            </a:r>
            <a:r>
              <a:rPr lang="en-US" altLang="ko-KR" sz="900" dirty="0" err="1"/>
              <a:t>dateutil</a:t>
            </a:r>
            <a:r>
              <a:rPr lang="en-US" altLang="ko-KR" sz="900" dirty="0"/>
              <a:t>              2.8.2</a:t>
            </a:r>
          </a:p>
          <a:p>
            <a:r>
              <a:rPr lang="en-US" altLang="ko-KR" sz="900" dirty="0"/>
              <a:t>python-</a:t>
            </a:r>
            <a:r>
              <a:rPr lang="en-US" altLang="ko-KR" sz="900" dirty="0" err="1"/>
              <a:t>dotenv</a:t>
            </a:r>
            <a:r>
              <a:rPr lang="en-US" altLang="ko-KR" sz="900" dirty="0"/>
              <a:t>                1.0.1</a:t>
            </a:r>
          </a:p>
          <a:p>
            <a:r>
              <a:rPr lang="en-US" altLang="ko-KR" sz="900" dirty="0"/>
              <a:t>python-</a:t>
            </a:r>
            <a:r>
              <a:rPr lang="en-US" altLang="ko-KR" sz="900" dirty="0" err="1"/>
              <a:t>linux</a:t>
            </a:r>
            <a:r>
              <a:rPr lang="en-US" altLang="ko-KR" sz="900" dirty="0"/>
              <a:t>-</a:t>
            </a:r>
            <a:r>
              <a:rPr lang="en-US" altLang="ko-KR" sz="900" dirty="0" err="1"/>
              <a:t>procfs</a:t>
            </a:r>
            <a:r>
              <a:rPr lang="en-US" altLang="ko-KR" sz="900" dirty="0"/>
              <a:t>          0.7.0</a:t>
            </a:r>
          </a:p>
          <a:p>
            <a:r>
              <a:rPr lang="en-US" altLang="ko-KR" sz="900" dirty="0"/>
              <a:t>python-magic                 0.4.27</a:t>
            </a:r>
          </a:p>
          <a:p>
            <a:r>
              <a:rPr lang="en-US" altLang="ko-KR" sz="900" dirty="0" err="1"/>
              <a:t>pytz</a:t>
            </a:r>
            <a:r>
              <a:rPr lang="en-US" altLang="ko-KR" sz="900" dirty="0"/>
              <a:t>                         2023.3.post1</a:t>
            </a:r>
          </a:p>
          <a:p>
            <a:r>
              <a:rPr lang="en-US" altLang="ko-KR" sz="900" dirty="0" err="1"/>
              <a:t>pyudev</a:t>
            </a:r>
            <a:r>
              <a:rPr lang="en-US" altLang="ko-KR" sz="900" dirty="0"/>
              <a:t>                       0.22.0</a:t>
            </a:r>
          </a:p>
          <a:p>
            <a:r>
              <a:rPr lang="en-US" altLang="ko-KR" sz="900" dirty="0" err="1"/>
              <a:t>pyxdg</a:t>
            </a:r>
            <a:r>
              <a:rPr lang="en-US" altLang="ko-KR" sz="900" dirty="0"/>
              <a:t>                        0.27</a:t>
            </a:r>
          </a:p>
          <a:p>
            <a:r>
              <a:rPr lang="en-US" altLang="ko-KR" sz="900" dirty="0" err="1"/>
              <a:t>PyYAML</a:t>
            </a:r>
            <a:r>
              <a:rPr lang="en-US" altLang="ko-KR" sz="900" dirty="0"/>
              <a:t>                       5.4.1</a:t>
            </a:r>
          </a:p>
          <a:p>
            <a:r>
              <a:rPr lang="en-US" altLang="ko-KR" sz="900" dirty="0" err="1"/>
              <a:t>redis</a:t>
            </a:r>
            <a:r>
              <a:rPr lang="en-US" altLang="ko-KR" sz="900" dirty="0"/>
              <a:t>                        5.0.4</a:t>
            </a:r>
          </a:p>
          <a:p>
            <a:r>
              <a:rPr lang="en-US" altLang="ko-KR" sz="900" dirty="0"/>
              <a:t>referencing                  0.35.1</a:t>
            </a:r>
          </a:p>
          <a:p>
            <a:r>
              <a:rPr lang="en-US" altLang="ko-KR" sz="900" dirty="0"/>
              <a:t>regex                        2024.4.28</a:t>
            </a:r>
          </a:p>
          <a:p>
            <a:r>
              <a:rPr lang="en-US" altLang="ko-KR" sz="900" dirty="0"/>
              <a:t>requests                     2.25.1</a:t>
            </a:r>
          </a:p>
          <a:p>
            <a:r>
              <a:rPr lang="en-US" altLang="ko-KR" sz="900" dirty="0"/>
              <a:t>requests-</a:t>
            </a:r>
            <a:r>
              <a:rPr lang="en-US" altLang="ko-KR" sz="900" dirty="0" err="1"/>
              <a:t>oauthlib</a:t>
            </a:r>
            <a:r>
              <a:rPr lang="en-US" altLang="ko-KR" sz="900" dirty="0"/>
              <a:t>            1.3.1</a:t>
            </a:r>
          </a:p>
          <a:p>
            <a:r>
              <a:rPr lang="en-US" altLang="ko-KR" sz="900" dirty="0"/>
              <a:t>requests-toolbelt            1.0.0</a:t>
            </a:r>
          </a:p>
          <a:p>
            <a:r>
              <a:rPr lang="en-US" altLang="ko-KR" sz="900" dirty="0"/>
              <a:t>rich                         13.7.1</a:t>
            </a:r>
          </a:p>
          <a:p>
            <a:r>
              <a:rPr lang="en-US" altLang="ko-KR" sz="900" dirty="0" err="1"/>
              <a:t>roboflow</a:t>
            </a:r>
            <a:r>
              <a:rPr lang="en-US" altLang="ko-KR" sz="900" dirty="0"/>
              <a:t>                     1.1.26</a:t>
            </a:r>
          </a:p>
          <a:p>
            <a:r>
              <a:rPr lang="en-US" altLang="ko-KR" sz="900" dirty="0" err="1"/>
              <a:t>rpds-py</a:t>
            </a:r>
            <a:r>
              <a:rPr lang="en-US" altLang="ko-KR" sz="900" dirty="0"/>
              <a:t>                      0.18.0</a:t>
            </a:r>
          </a:p>
          <a:p>
            <a:r>
              <a:rPr lang="en-US" altLang="ko-KR" sz="900" dirty="0"/>
              <a:t>rpm                          4.16.1.3</a:t>
            </a:r>
          </a:p>
          <a:p>
            <a:r>
              <a:rPr lang="en-US" altLang="ko-KR" sz="900" dirty="0" err="1"/>
              <a:t>rsa</a:t>
            </a:r>
            <a:r>
              <a:rPr lang="en-US" altLang="ko-KR" sz="900" dirty="0"/>
              <a:t>                          4.9</a:t>
            </a:r>
          </a:p>
          <a:p>
            <a:r>
              <a:rPr lang="en-US" altLang="ko-KR" sz="900" dirty="0"/>
              <a:t>s3transfer                   0.10.1</a:t>
            </a:r>
          </a:p>
          <a:p>
            <a:r>
              <a:rPr lang="en-US" altLang="ko-KR" sz="900" dirty="0" err="1"/>
              <a:t>safetensors</a:t>
            </a:r>
            <a:r>
              <a:rPr lang="en-US" altLang="ko-KR" sz="900" dirty="0"/>
              <a:t>                  0.4.3</a:t>
            </a:r>
          </a:p>
          <a:p>
            <a:r>
              <a:rPr lang="en-US" altLang="ko-KR" sz="900" dirty="0" err="1"/>
              <a:t>sahi</a:t>
            </a:r>
            <a:r>
              <a:rPr lang="en-US" altLang="ko-KR" sz="900" dirty="0"/>
              <a:t>                         0.11.15</a:t>
            </a:r>
          </a:p>
          <a:p>
            <a:r>
              <a:rPr lang="en-US" altLang="ko-KR" sz="900" dirty="0"/>
              <a:t>scikit-learn                 1.3.2</a:t>
            </a:r>
          </a:p>
          <a:p>
            <a:r>
              <a:rPr lang="en-US" altLang="ko-KR" sz="900" dirty="0" err="1"/>
              <a:t>scipy</a:t>
            </a:r>
            <a:r>
              <a:rPr lang="en-US" altLang="ko-KR" sz="900" dirty="0"/>
              <a:t>                        1.11.4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12066-AD42-E740-8F5B-D8CA25E4D920}"/>
              </a:ext>
            </a:extLst>
          </p:cNvPr>
          <p:cNvSpPr txBox="1"/>
          <p:nvPr/>
        </p:nvSpPr>
        <p:spPr>
          <a:xfrm>
            <a:off x="467544" y="881041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2) (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현재 학과서버에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설치된 패키지버전은 아래와 같음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 </a:t>
            </a:r>
          </a:p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만약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) 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설치가 필요한 패키지가 있다면 요청하기 바람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5260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eaLnBrk="0" latinLnBrk="0" hangingPunct="0">
              <a:spcBef>
                <a:spcPct val="50000"/>
              </a:spcBef>
            </a:pP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26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7C749-0D76-3884-0E36-F14BEFDD5E49}"/>
              </a:ext>
            </a:extLst>
          </p:cNvPr>
          <p:cNvSpPr txBox="1"/>
          <p:nvPr/>
        </p:nvSpPr>
        <p:spPr>
          <a:xfrm>
            <a:off x="467543" y="881041"/>
            <a:ext cx="8346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3) </a:t>
            </a:r>
            <a:r>
              <a:rPr lang="en-US" altLang="ko-KR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AI</a:t>
            </a:r>
            <a:r>
              <a:rPr lang="ko-KR" altLang="en-US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에서 </a:t>
            </a:r>
            <a:r>
              <a:rPr lang="en-US" altLang="ko-KR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Flask </a:t>
            </a:r>
            <a:r>
              <a:rPr lang="ko-KR" altLang="en-US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나 </a:t>
            </a:r>
            <a:r>
              <a:rPr lang="en-US" altLang="ko-KR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Django </a:t>
            </a:r>
            <a:r>
              <a:rPr lang="ko-KR" altLang="en-US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와 같은 웹서버를 사용하지 말 것</a:t>
            </a:r>
            <a:r>
              <a:rPr lang="en-US" altLang="ko-KR" b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!</a:t>
            </a:r>
          </a:p>
          <a:p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웹서버에서 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AI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프로그램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(*.py)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를 실행시키는 방식으로 개발할 것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!  (</a:t>
            </a:r>
            <a:r>
              <a:rPr lang="ko-KR" altLang="en-US">
                <a:latin typeface="돋움" panose="020B0600000101010101" pitchFamily="50" charset="-127"/>
                <a:ea typeface="굴림" panose="020B0600000101010101" pitchFamily="50" charset="-127"/>
              </a:rPr>
              <a:t>아래 참고</a:t>
            </a:r>
            <a:r>
              <a:rPr lang="en-US" altLang="ko-KR">
                <a:latin typeface="돋움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996B6-4E80-5CC3-E1A3-2B55B53EEA8B}"/>
              </a:ext>
            </a:extLst>
          </p:cNvPr>
          <p:cNvSpPr txBox="1"/>
          <p:nvPr/>
        </p:nvSpPr>
        <p:spPr>
          <a:xfrm>
            <a:off x="5637995" y="1641013"/>
            <a:ext cx="3110469" cy="32316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dirty="0"/>
              <a:t># Python </a:t>
            </a:r>
            <a:r>
              <a:rPr lang="ko-KR" altLang="en-US" sz="1200" dirty="0"/>
              <a:t>프로그램 </a:t>
            </a:r>
            <a:r>
              <a:rPr lang="en-US" altLang="ko-KR" sz="1200" dirty="0"/>
              <a:t>( </a:t>
            </a:r>
            <a:r>
              <a:rPr lang="en-US" altLang="ko-KR" sz="1200" b="1" dirty="0">
                <a:solidFill>
                  <a:srgbClr val="FF0000"/>
                </a:solidFill>
              </a:rPr>
              <a:t>AI/childPro.py 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r>
              <a:rPr lang="en-US" altLang="ko-KR" sz="1200" dirty="0"/>
              <a:t>import  sys</a:t>
            </a:r>
          </a:p>
          <a:p>
            <a:endParaRPr lang="en-US" altLang="ko-KR" sz="1200" dirty="0"/>
          </a:p>
          <a:p>
            <a:r>
              <a:rPr lang="en-US" altLang="ko-KR" sz="1200" dirty="0"/>
              <a:t>SUCCESS = 1</a:t>
            </a:r>
          </a:p>
          <a:p>
            <a:r>
              <a:rPr lang="en-US" altLang="ko-KR" sz="1200" dirty="0"/>
              <a:t>FAILURE = 0</a:t>
            </a:r>
          </a:p>
          <a:p>
            <a:endParaRPr lang="en-US" altLang="ko-KR" sz="1200" dirty="0"/>
          </a:p>
          <a:p>
            <a:r>
              <a:rPr lang="en-US" altLang="ko-KR" sz="1200" dirty="0"/>
              <a:t>arg1 = int(</a:t>
            </a:r>
            <a:r>
              <a:rPr lang="en-US" altLang="ko-KR" sz="1200" dirty="0" err="1"/>
              <a:t>sys.argv</a:t>
            </a:r>
            <a:r>
              <a:rPr lang="en-US" altLang="ko-KR" sz="1200" dirty="0"/>
              <a:t>[1]);</a:t>
            </a:r>
          </a:p>
          <a:p>
            <a:r>
              <a:rPr lang="en-US" altLang="ko-KR" sz="1200" dirty="0"/>
              <a:t>arg2 = int(</a:t>
            </a:r>
            <a:r>
              <a:rPr lang="en-US" altLang="ko-KR" sz="1200" dirty="0" err="1"/>
              <a:t>sys.argv</a:t>
            </a:r>
            <a:r>
              <a:rPr lang="en-US" altLang="ko-KR" sz="1200" dirty="0"/>
              <a:t>[2]);</a:t>
            </a:r>
          </a:p>
          <a:p>
            <a:r>
              <a:rPr lang="en-US" altLang="ko-KR" sz="1200" dirty="0"/>
              <a:t>arg3 = </a:t>
            </a:r>
            <a:r>
              <a:rPr lang="en-US" altLang="ko-KR" sz="1200" dirty="0" err="1"/>
              <a:t>sys.argv</a:t>
            </a:r>
            <a:r>
              <a:rPr lang="en-US" altLang="ko-KR" sz="1200" dirty="0"/>
              <a:t>[3];</a:t>
            </a:r>
          </a:p>
          <a:p>
            <a:endParaRPr lang="en-US" altLang="ko-KR" sz="1200" dirty="0"/>
          </a:p>
          <a:p>
            <a:r>
              <a:rPr lang="en-US" altLang="ko-KR" sz="1200" dirty="0"/>
              <a:t>result = arg1 + arg2;</a:t>
            </a:r>
          </a:p>
          <a:p>
            <a:r>
              <a:rPr lang="en-US" altLang="ko-KR" sz="1200" dirty="0"/>
              <a:t>print('--------------------------');</a:t>
            </a:r>
          </a:p>
          <a:p>
            <a:r>
              <a:rPr lang="en-US" altLang="ko-KR" sz="1200" dirty="0"/>
              <a:t>print(arg1, arg2, result);</a:t>
            </a:r>
          </a:p>
          <a:p>
            <a:r>
              <a:rPr lang="en-US" altLang="ko-KR" sz="1200" dirty="0"/>
              <a:t>print('-----------------------------------');</a:t>
            </a:r>
          </a:p>
          <a:p>
            <a:r>
              <a:rPr lang="en-US" altLang="ko-KR" sz="1200" dirty="0"/>
              <a:t>print('</a:t>
            </a:r>
            <a:r>
              <a:rPr lang="ko-KR" altLang="en-US" sz="1200" dirty="0"/>
              <a:t>학습모델 저장파일명</a:t>
            </a:r>
            <a:r>
              <a:rPr lang="en-US" altLang="ko-KR" sz="1200" dirty="0"/>
              <a:t>:' + arg3);</a:t>
            </a:r>
          </a:p>
          <a:p>
            <a:r>
              <a:rPr lang="en-US" altLang="ko-KR" sz="1200" dirty="0"/>
              <a:t>print('-----------------------------------');</a:t>
            </a:r>
          </a:p>
          <a:p>
            <a:r>
              <a:rPr lang="en-US" altLang="ko-KR" sz="1200" dirty="0"/>
              <a:t>exit(SUCCESS);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BEC0D-E240-9170-B914-BB234A6A3BF0}"/>
              </a:ext>
            </a:extLst>
          </p:cNvPr>
          <p:cNvSpPr txBox="1"/>
          <p:nvPr/>
        </p:nvSpPr>
        <p:spPr>
          <a:xfrm>
            <a:off x="739918" y="1641013"/>
            <a:ext cx="4552162" cy="48320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/>
              <a:t>// Node.js (</a:t>
            </a:r>
            <a:r>
              <a:rPr lang="ko-KR" altLang="en-US" sz="1100"/>
              <a:t>웹서버 프로그램</a:t>
            </a:r>
            <a:r>
              <a:rPr lang="en-US" altLang="ko-KR" sz="1100"/>
              <a:t>)</a:t>
            </a:r>
            <a:endParaRPr lang="ko-KR" altLang="en-US" sz="1100"/>
          </a:p>
          <a:p>
            <a:r>
              <a:rPr lang="en-US" altLang="ko-KR" sz="1100"/>
              <a:t>const  { spawn } = require('child_process');</a:t>
            </a:r>
          </a:p>
          <a:p>
            <a:endParaRPr lang="en-US" altLang="ko-KR" sz="1100"/>
          </a:p>
          <a:p>
            <a:r>
              <a:rPr lang="en-US" altLang="ko-KR" sz="1100"/>
              <a:t>// Python </a:t>
            </a:r>
            <a:r>
              <a:rPr lang="ko-KR" altLang="en-US" sz="1100"/>
              <a:t>프로그램의 경로와 인자를 지정합니다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const scriptPath = '</a:t>
            </a:r>
            <a:r>
              <a:rPr lang="en-US" altLang="ko-KR" sz="1100" b="1">
                <a:solidFill>
                  <a:srgbClr val="FF0000"/>
                </a:solidFill>
              </a:rPr>
              <a:t>./AI/childPro.py</a:t>
            </a:r>
            <a:r>
              <a:rPr lang="en-US" altLang="ko-KR" sz="1100"/>
              <a:t>’;</a:t>
            </a:r>
          </a:p>
          <a:p>
            <a:endParaRPr lang="en-US" altLang="ko-KR" sz="1100"/>
          </a:p>
          <a:p>
            <a:r>
              <a:rPr lang="en-US" altLang="ko-KR" sz="1100"/>
              <a:t>// </a:t>
            </a:r>
            <a:r>
              <a:rPr lang="ko-KR" altLang="en-US" sz="1100"/>
              <a:t>예</a:t>
            </a:r>
            <a:r>
              <a:rPr lang="en-US" altLang="ko-KR" sz="1100"/>
              <a:t>) python  AI/childPro.py 44 55</a:t>
            </a:r>
          </a:p>
          <a:p>
            <a:r>
              <a:rPr lang="en-US" altLang="ko-KR" sz="1100"/>
              <a:t>const scriptArgs = ['</a:t>
            </a:r>
            <a:r>
              <a:rPr lang="en-US" altLang="ko-KR" sz="1100">
                <a:solidFill>
                  <a:srgbClr val="0000CC"/>
                </a:solidFill>
              </a:rPr>
              <a:t>44</a:t>
            </a:r>
            <a:r>
              <a:rPr lang="en-US" altLang="ko-KR" sz="1100"/>
              <a:t>', '</a:t>
            </a:r>
            <a:r>
              <a:rPr lang="en-US" altLang="ko-KR" sz="1100">
                <a:solidFill>
                  <a:srgbClr val="0000CC"/>
                </a:solidFill>
              </a:rPr>
              <a:t>55</a:t>
            </a:r>
            <a:r>
              <a:rPr lang="en-US" altLang="ko-KR" sz="1100"/>
              <a:t>', </a:t>
            </a:r>
            <a:r>
              <a:rPr lang="en-US" altLang="ko-KR" sz="1100" b="1">
                <a:solidFill>
                  <a:srgbClr val="0000CC"/>
                </a:solidFill>
              </a:rPr>
              <a:t>'AImodel.output</a:t>
            </a:r>
            <a:r>
              <a:rPr lang="en-US" altLang="ko-KR" sz="1100"/>
              <a:t>'];   </a:t>
            </a:r>
          </a:p>
          <a:p>
            <a:endParaRPr lang="en-US" altLang="ko-KR" sz="1100"/>
          </a:p>
          <a:p>
            <a:r>
              <a:rPr lang="en-US" altLang="ko-KR" sz="1100"/>
              <a:t>// Python </a:t>
            </a:r>
            <a:r>
              <a:rPr lang="ko-KR" altLang="en-US" sz="1100"/>
              <a:t>프로그램을 실행하고 표준 출력과 표준 오류를 받습니다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// </a:t>
            </a:r>
            <a:r>
              <a:rPr lang="ko-KR" altLang="en-US" sz="1100"/>
              <a:t>표준출력과 오류를 웹에서 받아서 웹화면에 출력</a:t>
            </a:r>
            <a:r>
              <a:rPr lang="en-US" altLang="ko-KR" sz="1100"/>
              <a:t>/</a:t>
            </a:r>
            <a:r>
              <a:rPr lang="ko-KR" altLang="en-US" sz="1100"/>
              <a:t>처리 합니다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const pythonProcess = </a:t>
            </a:r>
            <a:r>
              <a:rPr lang="en-US" altLang="ko-KR" sz="1100" b="1">
                <a:solidFill>
                  <a:srgbClr val="FF0000"/>
                </a:solidFill>
              </a:rPr>
              <a:t>spawn</a:t>
            </a:r>
            <a:r>
              <a:rPr lang="en-US" altLang="ko-KR" sz="1100"/>
              <a:t>(＇</a:t>
            </a:r>
            <a:r>
              <a:rPr lang="en-US" altLang="ko-KR" sz="1100">
                <a:solidFill>
                  <a:srgbClr val="FF0000"/>
                </a:solidFill>
              </a:rPr>
              <a:t>python</a:t>
            </a:r>
            <a:r>
              <a:rPr lang="en-US" altLang="ko-KR" sz="1100"/>
              <a:t>＇, [scriptPath, …scriptArgs]);</a:t>
            </a:r>
          </a:p>
          <a:p>
            <a:endParaRPr lang="en-US" altLang="ko-KR" sz="1100"/>
          </a:p>
          <a:p>
            <a:r>
              <a:rPr lang="en-US" altLang="ko-KR" sz="1100"/>
              <a:t>pythonProcess.stdout.on(＇data＇, (data) =&gt; {</a:t>
            </a:r>
          </a:p>
          <a:p>
            <a:r>
              <a:rPr lang="en-US" altLang="ko-KR" sz="1100"/>
              <a:t>  // Python </a:t>
            </a:r>
            <a:r>
              <a:rPr lang="ko-KR" altLang="en-US" sz="1100"/>
              <a:t>프로그램의 출력을 처리합니다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  console.log(`</a:t>
            </a:r>
            <a:r>
              <a:rPr lang="ko-KR" altLang="en-US" sz="1100"/>
              <a:t>파이썬 출력내용</a:t>
            </a:r>
            <a:r>
              <a:rPr lang="en-US" altLang="ko-KR" sz="1100"/>
              <a:t>:\n${data}`);</a:t>
            </a:r>
          </a:p>
          <a:p>
            <a:r>
              <a:rPr lang="en-US" altLang="ko-KR" sz="1100"/>
              <a:t>});</a:t>
            </a:r>
          </a:p>
          <a:p>
            <a:endParaRPr lang="en-US" altLang="ko-KR" sz="1100"/>
          </a:p>
          <a:p>
            <a:r>
              <a:rPr lang="en-US" altLang="ko-KR" sz="1100"/>
              <a:t>pythonProcess.stderr.on('data', (data) =&gt; {</a:t>
            </a:r>
          </a:p>
          <a:p>
            <a:r>
              <a:rPr lang="en-US" altLang="ko-KR" sz="1100"/>
              <a:t>  // Python </a:t>
            </a:r>
            <a:r>
              <a:rPr lang="ko-KR" altLang="en-US" sz="1100"/>
              <a:t>프로그램의 오류를 처리합니다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  console.error(`stderr: ${data}`);</a:t>
            </a:r>
          </a:p>
          <a:p>
            <a:r>
              <a:rPr lang="en-US" altLang="ko-KR" sz="1100"/>
              <a:t>});</a:t>
            </a:r>
          </a:p>
          <a:p>
            <a:endParaRPr lang="en-US" altLang="ko-KR" sz="1100"/>
          </a:p>
          <a:p>
            <a:r>
              <a:rPr lang="en-US" altLang="ko-KR" sz="1100"/>
              <a:t>pythonProcess.on('close', (code) =&gt; {</a:t>
            </a:r>
          </a:p>
          <a:p>
            <a:r>
              <a:rPr lang="en-US" altLang="ko-KR" sz="1100"/>
              <a:t>  // Python </a:t>
            </a:r>
            <a:r>
              <a:rPr lang="ko-KR" altLang="en-US" sz="1100"/>
              <a:t>프로그램 종료 코드를 처리합니다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  console.log(`child process exited with code ${code}`);</a:t>
            </a:r>
          </a:p>
          <a:p>
            <a:r>
              <a:rPr lang="en-US" altLang="ko-KR" sz="1100"/>
              <a:t>});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26070-6E26-420A-E25C-1BD7361D6C3A}"/>
              </a:ext>
            </a:extLst>
          </p:cNvPr>
          <p:cNvSpPr txBox="1"/>
          <p:nvPr/>
        </p:nvSpPr>
        <p:spPr>
          <a:xfrm>
            <a:off x="5612156" y="4910027"/>
            <a:ext cx="2272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AI</a:t>
            </a:r>
            <a:r>
              <a:rPr lang="ko-KR" altLang="en-US" sz="14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예측용 프로그램 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6864845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4172-335C-615D-0136-82601153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B310A5-A421-0750-966E-282E68A05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9626A943-A902-321B-1D7B-B259D79E6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99" y="92075"/>
            <a:ext cx="90663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eaLnBrk="0" latinLnBrk="0" hangingPunct="0">
              <a:spcBef>
                <a:spcPct val="50000"/>
              </a:spcBef>
            </a:pP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397AEE27-2CD7-0231-34F2-A0891B8DC626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27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41317-EDAF-60D3-1022-FA8509400E93}"/>
              </a:ext>
            </a:extLst>
          </p:cNvPr>
          <p:cNvSpPr txBox="1"/>
          <p:nvPr/>
        </p:nvSpPr>
        <p:spPr>
          <a:xfrm>
            <a:off x="398871" y="1196752"/>
            <a:ext cx="8346257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4) 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AI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프로그래밍에서 주의할 점 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(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반드시 </a:t>
            </a:r>
            <a:r>
              <a:rPr lang="ko-KR" altLang="en-US" b="1" dirty="0" err="1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설계할때부터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</a:t>
            </a:r>
            <a:r>
              <a:rPr lang="ko-KR" altLang="en-US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고려하여야 함</a:t>
            </a:r>
            <a:r>
              <a:rPr lang="en-US" altLang="ko-KR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</a:p>
          <a:p>
            <a:r>
              <a:rPr lang="en-US" altLang="ko-KR" dirty="0">
                <a:latin typeface="돋움" panose="020B0600000101010101" pitchFamily="50" charset="-127"/>
                <a:ea typeface="굴림" panose="020B0600000101010101" pitchFamily="50" charset="-127"/>
              </a:rPr>
              <a:t>  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  - (</a:t>
            </a:r>
            <a:r>
              <a:rPr lang="en-US" altLang="ko-KR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AI</a:t>
            </a:r>
            <a:r>
              <a:rPr lang="ko-KR" altLang="en-US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학습용 프로그램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과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AI</a:t>
            </a:r>
            <a:r>
              <a:rPr lang="ko-KR" altLang="en-US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예측용 프로그램 </a:t>
            </a:r>
            <a:r>
              <a:rPr lang="ko-KR" altLang="en-US" sz="11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또는</a:t>
            </a:r>
            <a:r>
              <a:rPr lang="en-US" altLang="ko-KR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추론엔진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을 반드시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분리시킬 것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!!!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  - </a:t>
            </a:r>
            <a:r>
              <a:rPr lang="en-US" altLang="ko-KR" sz="2000" b="1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GPU</a:t>
            </a:r>
            <a:r>
              <a:rPr lang="ko-KR" altLang="en-US" sz="2000" b="1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독점하도록 프로그래밍하지 말 것</a:t>
            </a:r>
            <a:r>
              <a:rPr lang="en-US" altLang="ko-KR" sz="2000" b="1" dirty="0">
                <a:solidFill>
                  <a:srgbClr val="0000CC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!!!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20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     </a:t>
            </a:r>
            <a:r>
              <a:rPr lang="en-US" altLang="ko-KR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독점하면</a:t>
            </a:r>
            <a:r>
              <a:rPr lang="en-US" altLang="ko-KR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, GPU</a:t>
            </a:r>
            <a:r>
              <a:rPr lang="ko-KR" altLang="en-US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를 사용하고자 하는 팀들이 계속 대기중</a:t>
            </a:r>
            <a:r>
              <a:rPr lang="en-US" altLang="ko-KR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…)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     ① (AI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예측용 프로그램에서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모델로딩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&gt; “AI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예측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&gt; “</a:t>
            </a:r>
            <a:r>
              <a:rPr lang="en-US" altLang="ko-KR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GPU</a:t>
            </a:r>
            <a:r>
              <a:rPr lang="ko-KR" altLang="en-US" sz="1600" b="1" dirty="0">
                <a:solidFill>
                  <a:srgbClr val="FF0000"/>
                </a:solidFill>
                <a:latin typeface="돋움" panose="020B0600000101010101" pitchFamily="50" charset="-127"/>
                <a:ea typeface="굴림" panose="020B0600000101010101" pitchFamily="50" charset="-127"/>
              </a:rPr>
              <a:t>메모리해제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한다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     ② (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프로그램에서 필요할 때만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) “GPU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할당하고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”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&gt; (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사용즉시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“GPU</a:t>
            </a:r>
            <a:r>
              <a:rPr lang="ko-KR" altLang="en-US" sz="1600" dirty="0">
                <a:latin typeface="돋움" panose="020B0600000101010101" pitchFamily="50" charset="-127"/>
                <a:ea typeface="굴림" panose="020B0600000101010101" pitchFamily="50" charset="-127"/>
              </a:rPr>
              <a:t>해제하기</a:t>
            </a: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”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ko-KR" sz="1600" dirty="0">
                <a:latin typeface="돋움" panose="020B0600000101010101" pitchFamily="50" charset="-127"/>
                <a:ea typeface="굴림" panose="020B0600000101010101" pitchFamily="50" charset="-127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71003218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2FE5B-E65E-C25B-AD8F-3DDCFC61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2271E3-40BB-CB74-2E17-08A85C02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4C3D3EA4-059E-3BB1-6118-F055A1467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99" y="92075"/>
            <a:ext cx="906633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(AI 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사용편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  <a:p>
            <a:pPr eaLnBrk="0" latinLnBrk="0" hangingPunct="0">
              <a:spcBef>
                <a:spcPct val="50000"/>
              </a:spcBef>
            </a:pP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>
            <a:extLst>
              <a:ext uri="{FF2B5EF4-FFF2-40B4-BE49-F238E27FC236}">
                <a16:creationId xmlns:a16="http://schemas.microsoft.com/office/drawing/2014/main" id="{FA41FDF0-161C-D204-3CF0-B7534F7690BC}"/>
              </a:ext>
            </a:extLst>
          </p:cNvPr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28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7187F-3162-757C-B777-FD3C1C71FD11}"/>
              </a:ext>
            </a:extLst>
          </p:cNvPr>
          <p:cNvSpPr txBox="1"/>
          <p:nvPr/>
        </p:nvSpPr>
        <p:spPr>
          <a:xfrm>
            <a:off x="1180953" y="1513273"/>
            <a:ext cx="7632848" cy="356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만약에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endParaRPr lang="en-US" altLang="ko-KR" sz="500" b="1" dirty="0">
              <a:latin typeface="돋움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서버접속이 안되거나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(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설치가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 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필요한 패키지가 있다면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5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서버관리 학생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(</a:t>
            </a:r>
            <a:r>
              <a:rPr lang="ko-KR" altLang="en-US" sz="2400" b="1" dirty="0" err="1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김준경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)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에게 요청하세요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그러면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확인한 후에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, </a:t>
            </a:r>
            <a:r>
              <a:rPr lang="ko-KR" altLang="en-US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설치해줄 것입니다</a:t>
            </a:r>
            <a:r>
              <a:rPr lang="en-US" altLang="ko-KR" sz="2400" b="1" dirty="0">
                <a:latin typeface="돋움" panose="020B0600000101010101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돋움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870865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 dirty="0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</a:p>
        </p:txBody>
      </p: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29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2F9F4-34C1-FB25-3925-EBD694887602}"/>
              </a:ext>
            </a:extLst>
          </p:cNvPr>
          <p:cNvSpPr txBox="1"/>
          <p:nvPr/>
        </p:nvSpPr>
        <p:spPr>
          <a:xfrm>
            <a:off x="2411760" y="2951946"/>
            <a:ext cx="4068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/>
              <a:t>DB</a:t>
            </a:r>
            <a:r>
              <a:rPr lang="ko-KR" altLang="en-US" sz="2800" b="1"/>
              <a:t>사용 </a:t>
            </a:r>
            <a:endParaRPr lang="en-US" altLang="ko-KR" sz="2800" b="1"/>
          </a:p>
          <a:p>
            <a:pPr algn="ctr"/>
            <a:r>
              <a:rPr lang="ko-KR" altLang="en-US" sz="2800" b="1"/>
              <a:t>소스코드 사례</a:t>
            </a:r>
            <a:r>
              <a:rPr lang="en-US" altLang="ko-KR" sz="2800" b="1"/>
              <a:t>(</a:t>
            </a:r>
            <a:r>
              <a:rPr lang="ko-KR" altLang="en-US" sz="2800" b="1"/>
              <a:t>샘플</a:t>
            </a:r>
            <a:r>
              <a:rPr lang="en-US" altLang="ko-KR" sz="28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934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0788" y="917754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DB </a:t>
            </a:r>
            <a:r>
              <a:rPr lang="ko-KR" altLang="en-US" sz="2400" b="1" dirty="0">
                <a:latin typeface="+mj-ea"/>
                <a:ea typeface="+mj-ea"/>
              </a:rPr>
              <a:t>사용방법</a:t>
            </a:r>
            <a:r>
              <a:rPr lang="en-US" altLang="ko-KR" sz="2400" b="1" dirty="0">
                <a:latin typeface="+mj-ea"/>
                <a:ea typeface="+mj-ea"/>
              </a:rPr>
              <a:t>(</a:t>
            </a:r>
            <a:r>
              <a:rPr lang="ko-KR" altLang="en-US" sz="2400" b="1" dirty="0">
                <a:latin typeface="+mj-ea"/>
                <a:ea typeface="+mj-ea"/>
              </a:rPr>
              <a:t>예</a:t>
            </a:r>
            <a:r>
              <a:rPr lang="en-US" altLang="ko-KR" sz="2400" b="1" dirty="0">
                <a:latin typeface="+mj-ea"/>
                <a:ea typeface="+mj-ea"/>
              </a:rPr>
              <a:t>)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소스코드 사례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30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6DA30F-E5BC-9E74-8FF5-621FCFD5D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43433"/>
            <a:ext cx="4550167" cy="35850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C87CA3-25DC-8AE3-D565-D17AF6F0B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120" y="3356992"/>
            <a:ext cx="4082352" cy="295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5909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57158" y="787311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>
                <a:latin typeface="+mj-ea"/>
                <a:ea typeface="+mj-ea"/>
              </a:rPr>
              <a:t> </a:t>
            </a:r>
            <a:r>
              <a:rPr lang="en-US" altLang="ko-KR" sz="2400" b="1">
                <a:solidFill>
                  <a:srgbClr val="0000CC"/>
                </a:solidFill>
                <a:latin typeface="+mj-ea"/>
                <a:ea typeface="+mj-ea"/>
              </a:rPr>
              <a:t>Node.js   </a:t>
            </a:r>
            <a:r>
              <a:rPr lang="en-US" altLang="ko-KR" sz="2400" b="1">
                <a:latin typeface="+mj-ea"/>
                <a:ea typeface="+mj-ea"/>
              </a:rPr>
              <a:t>DB</a:t>
            </a:r>
            <a:r>
              <a:rPr lang="ko-KR" altLang="en-US" sz="2400" b="1">
                <a:latin typeface="+mj-ea"/>
                <a:ea typeface="+mj-ea"/>
              </a:rPr>
              <a:t>연동 설정</a:t>
            </a:r>
            <a:r>
              <a:rPr lang="en-US" altLang="ko-KR" sz="2400" b="1">
                <a:latin typeface="+mj-ea"/>
                <a:ea typeface="+mj-ea"/>
              </a:rPr>
              <a:t>(</a:t>
            </a:r>
            <a:r>
              <a:rPr lang="ko-KR" altLang="en-US" sz="2400" b="1">
                <a:latin typeface="+mj-ea"/>
                <a:ea typeface="+mj-ea"/>
              </a:rPr>
              <a:t>중요</a:t>
            </a:r>
            <a:r>
              <a:rPr lang="en-US" altLang="ko-KR" sz="2400" b="1">
                <a:latin typeface="+mj-ea"/>
                <a:ea typeface="+mj-ea"/>
              </a:rPr>
              <a:t>!!)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소스코드 사례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50487" y="6454014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31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B5007-D6DF-A23F-1460-362E14CD2E9C}"/>
              </a:ext>
            </a:extLst>
          </p:cNvPr>
          <p:cNvSpPr txBox="1"/>
          <p:nvPr/>
        </p:nvSpPr>
        <p:spPr>
          <a:xfrm>
            <a:off x="755576" y="1539759"/>
            <a:ext cx="5112570" cy="44935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const   fs = require('fs');</a:t>
            </a:r>
          </a:p>
          <a:p>
            <a:r>
              <a:rPr lang="en-US" altLang="ko-KR" sz="1100" dirty="0"/>
              <a:t>const   </a:t>
            </a:r>
            <a:r>
              <a:rPr lang="en-US" altLang="ko-KR" sz="1100" dirty="0" err="1"/>
              <a:t>ejs</a:t>
            </a:r>
            <a:r>
              <a:rPr lang="en-US" altLang="ko-KR" sz="1100" dirty="0"/>
              <a:t> = require('</a:t>
            </a:r>
            <a:r>
              <a:rPr lang="en-US" altLang="ko-KR" sz="1100" dirty="0" err="1"/>
              <a:t>ejs</a:t>
            </a:r>
            <a:r>
              <a:rPr lang="en-US" altLang="ko-KR" sz="1100" dirty="0"/>
              <a:t>');</a:t>
            </a:r>
          </a:p>
          <a:p>
            <a:r>
              <a:rPr lang="en-US" altLang="ko-KR" sz="1100" dirty="0"/>
              <a:t>const   </a:t>
            </a:r>
            <a:r>
              <a:rPr lang="en-US" altLang="ko-KR" sz="1100" dirty="0" err="1"/>
              <a:t>mysql</a:t>
            </a:r>
            <a:r>
              <a:rPr lang="en-US" altLang="ko-KR" sz="1100" dirty="0"/>
              <a:t> = require('</a:t>
            </a:r>
            <a:r>
              <a:rPr lang="en-US" altLang="ko-KR" sz="1100" dirty="0" err="1"/>
              <a:t>mysql</a:t>
            </a:r>
            <a:r>
              <a:rPr lang="en-US" altLang="ko-KR" sz="1100" dirty="0"/>
              <a:t>');</a:t>
            </a:r>
          </a:p>
          <a:p>
            <a:r>
              <a:rPr lang="en-US" altLang="ko-KR" sz="1100" dirty="0"/>
              <a:t>const   express = require('express');</a:t>
            </a:r>
          </a:p>
          <a:p>
            <a:r>
              <a:rPr lang="en-US" altLang="ko-KR" sz="1100" dirty="0"/>
              <a:t>const   </a:t>
            </a:r>
            <a:r>
              <a:rPr lang="en-US" altLang="ko-KR" sz="1100" dirty="0" err="1"/>
              <a:t>bodyParser</a:t>
            </a:r>
            <a:r>
              <a:rPr lang="en-US" altLang="ko-KR" sz="1100" dirty="0"/>
              <a:t> = require('body-parser');</a:t>
            </a:r>
          </a:p>
          <a:p>
            <a:endParaRPr lang="en-US" altLang="ko-KR" sz="1100" dirty="0"/>
          </a:p>
          <a:p>
            <a:r>
              <a:rPr lang="en-US" altLang="ko-KR" sz="1100" dirty="0"/>
              <a:t>// MySQL DB </a:t>
            </a:r>
            <a:r>
              <a:rPr lang="ko-KR" altLang="en-US" sz="1100" dirty="0"/>
              <a:t>연결</a:t>
            </a:r>
          </a:p>
          <a:p>
            <a:r>
              <a:rPr lang="en-US" altLang="ko-KR" sz="1100" dirty="0"/>
              <a:t>const   client = </a:t>
            </a:r>
            <a:r>
              <a:rPr lang="en-US" altLang="ko-KR" sz="1100" dirty="0" err="1"/>
              <a:t>mysql.createConnection</a:t>
            </a:r>
            <a:r>
              <a:rPr lang="en-US" altLang="ko-KR" sz="1100" dirty="0"/>
              <a:t>({</a:t>
            </a:r>
          </a:p>
          <a:p>
            <a:r>
              <a:rPr lang="en-US" altLang="ko-KR" sz="1100" dirty="0"/>
              <a:t>    host: </a:t>
            </a:r>
            <a:r>
              <a:rPr lang="en-US" altLang="ko-KR" sz="1100" b="1" dirty="0">
                <a:solidFill>
                  <a:srgbClr val="FF0000"/>
                </a:solidFill>
              </a:rPr>
              <a:t>'localhost</a:t>
            </a:r>
            <a:r>
              <a:rPr lang="en-US" altLang="ko-KR" sz="1100" dirty="0"/>
              <a:t>',             // DB</a:t>
            </a:r>
            <a:r>
              <a:rPr lang="ko-KR" altLang="en-US" sz="1100" dirty="0"/>
              <a:t>서버 </a:t>
            </a:r>
            <a:r>
              <a:rPr lang="en-US" altLang="ko-KR" sz="1100" dirty="0"/>
              <a:t>IP</a:t>
            </a:r>
            <a:r>
              <a:rPr lang="ko-KR" altLang="en-US" sz="1100" dirty="0"/>
              <a:t>주소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port: 3306,                    // DB</a:t>
            </a:r>
            <a:r>
              <a:rPr lang="ko-KR" altLang="en-US" sz="1100" dirty="0"/>
              <a:t>서버 </a:t>
            </a:r>
            <a:r>
              <a:rPr lang="en-US" altLang="ko-KR" sz="1100" dirty="0"/>
              <a:t>Port</a:t>
            </a:r>
            <a:r>
              <a:rPr lang="ko-KR" altLang="en-US" sz="1100" dirty="0"/>
              <a:t>주소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user: </a:t>
            </a:r>
            <a:r>
              <a:rPr lang="en-US" altLang="ko-KR" sz="1100" b="1" dirty="0">
                <a:solidFill>
                  <a:srgbClr val="FF0000"/>
                </a:solidFill>
              </a:rPr>
              <a:t>'dbid251</a:t>
            </a:r>
            <a:r>
              <a:rPr lang="en-US" altLang="ko-KR" sz="1100" dirty="0"/>
              <a:t>',              // DB</a:t>
            </a:r>
            <a:r>
              <a:rPr lang="ko-KR" altLang="en-US" sz="1100" dirty="0"/>
              <a:t>접속 아이디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password: </a:t>
            </a:r>
            <a:r>
              <a:rPr lang="en-US" altLang="ko-KR" sz="1100" b="1" dirty="0">
                <a:solidFill>
                  <a:srgbClr val="FF0000"/>
                </a:solidFill>
              </a:rPr>
              <a:t>'dbpass252</a:t>
            </a:r>
            <a:r>
              <a:rPr lang="en-US" altLang="ko-KR" sz="1100" dirty="0"/>
              <a:t>',    // DB</a:t>
            </a:r>
            <a:r>
              <a:rPr lang="ko-KR" altLang="en-US" sz="1100" dirty="0"/>
              <a:t>암호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database: </a:t>
            </a:r>
            <a:r>
              <a:rPr lang="en-US" altLang="ko-KR" sz="1100" b="1" dirty="0">
                <a:solidFill>
                  <a:srgbClr val="FF0000"/>
                </a:solidFill>
              </a:rPr>
              <a:t>‘db25204</a:t>
            </a:r>
            <a:r>
              <a:rPr lang="en-US" altLang="ko-KR" sz="1100" dirty="0"/>
              <a:t>'        //</a:t>
            </a:r>
            <a:r>
              <a:rPr lang="ko-KR" altLang="en-US" sz="1100" dirty="0"/>
              <a:t>사용할 </a:t>
            </a:r>
            <a:r>
              <a:rPr lang="en-US" altLang="ko-KR" sz="1100" dirty="0"/>
              <a:t>DB</a:t>
            </a:r>
            <a:r>
              <a:rPr lang="ko-KR" altLang="en-US" sz="1100" dirty="0"/>
              <a:t>명</a:t>
            </a:r>
          </a:p>
          <a:p>
            <a:r>
              <a:rPr lang="en-US" altLang="ko-KR" sz="1100" dirty="0"/>
              <a:t>});</a:t>
            </a:r>
          </a:p>
          <a:p>
            <a:endParaRPr lang="en-US" altLang="ko-KR" sz="1100" dirty="0"/>
          </a:p>
          <a:p>
            <a:r>
              <a:rPr lang="en-US" altLang="ko-KR" sz="1100" dirty="0"/>
              <a:t>// </a:t>
            </a:r>
            <a:r>
              <a:rPr lang="ko-KR" altLang="en-US" sz="1100" dirty="0"/>
              <a:t>서버를 생성합니다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const    app = express();</a:t>
            </a:r>
          </a:p>
          <a:p>
            <a:r>
              <a:rPr lang="en-US" altLang="ko-KR" sz="1100" dirty="0" err="1"/>
              <a:t>app.use</a:t>
            </a:r>
            <a:r>
              <a:rPr lang="en-US" altLang="ko-KR" sz="1100" dirty="0"/>
              <a:t>(</a:t>
            </a:r>
            <a:r>
              <a:rPr lang="en-US" altLang="ko-KR" sz="1100" dirty="0" err="1"/>
              <a:t>bodyParser.urlencoded</a:t>
            </a:r>
            <a:r>
              <a:rPr lang="en-US" altLang="ko-KR" sz="1100" dirty="0"/>
              <a:t>({ extended: false }));</a:t>
            </a:r>
          </a:p>
          <a:p>
            <a:endParaRPr lang="en-US" altLang="ko-KR" sz="1100" dirty="0"/>
          </a:p>
          <a:p>
            <a:r>
              <a:rPr lang="en-US" altLang="ko-KR" sz="1100" dirty="0"/>
              <a:t>// </a:t>
            </a:r>
            <a:r>
              <a:rPr lang="ko-KR" altLang="en-US" sz="1100" dirty="0"/>
              <a:t>서버를 실행합니다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 err="1"/>
              <a:t>app.listen</a:t>
            </a:r>
            <a:r>
              <a:rPr lang="en-US" altLang="ko-KR" sz="1100" dirty="0"/>
              <a:t>(60020, function () {</a:t>
            </a:r>
          </a:p>
          <a:p>
            <a:r>
              <a:rPr lang="en-US" altLang="ko-KR" sz="1100" dirty="0"/>
              <a:t>      console.log('</a:t>
            </a:r>
            <a:r>
              <a:rPr lang="ko-KR" altLang="en-US" sz="1100" dirty="0"/>
              <a:t>웹서버 </a:t>
            </a:r>
            <a:r>
              <a:rPr lang="ko-KR" altLang="en-US" sz="1100" dirty="0" err="1"/>
              <a:t>실행중</a:t>
            </a:r>
            <a:r>
              <a:rPr lang="en-US" altLang="ko-KR" sz="1100" dirty="0"/>
              <a:t>...');</a:t>
            </a:r>
          </a:p>
          <a:p>
            <a:r>
              <a:rPr lang="en-US" altLang="ko-KR" sz="1100" dirty="0"/>
              <a:t>      console.log('</a:t>
            </a:r>
            <a:r>
              <a:rPr lang="ko-KR" altLang="en-US" sz="1100" dirty="0"/>
              <a:t>회원조회</a:t>
            </a:r>
            <a:r>
              <a:rPr lang="en-US" altLang="ko-KR" sz="1100" dirty="0"/>
              <a:t>: http://ceprj.gachon.ac.kr:60020/members');</a:t>
            </a:r>
          </a:p>
          <a:p>
            <a:r>
              <a:rPr lang="en-US" altLang="ko-KR" sz="1100" dirty="0"/>
              <a:t>      console.log('</a:t>
            </a:r>
            <a:r>
              <a:rPr lang="ko-KR" altLang="en-US" sz="1100" dirty="0"/>
              <a:t>회원가입</a:t>
            </a:r>
            <a:r>
              <a:rPr lang="en-US" altLang="ko-KR" sz="1100" dirty="0"/>
              <a:t>: http://ceprj.gachon.ac.kr:60020/insert');</a:t>
            </a:r>
          </a:p>
          <a:p>
            <a:r>
              <a:rPr lang="en-US" altLang="ko-KR" sz="1100" dirty="0"/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230B0-B62D-8F4F-CE23-D8DED4AD180A}"/>
              </a:ext>
            </a:extLst>
          </p:cNvPr>
          <p:cNvSpPr txBox="1"/>
          <p:nvPr/>
        </p:nvSpPr>
        <p:spPr>
          <a:xfrm>
            <a:off x="3988619" y="5515420"/>
            <a:ext cx="5112570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// </a:t>
            </a:r>
            <a:r>
              <a:rPr lang="ko-KR" altLang="en-US" sz="1100" dirty="0" err="1"/>
              <a:t>라우트를</a:t>
            </a:r>
            <a:r>
              <a:rPr lang="ko-KR" altLang="en-US" sz="1100" dirty="0"/>
              <a:t> 수행합니다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 err="1"/>
              <a:t>app.get</a:t>
            </a:r>
            <a:r>
              <a:rPr lang="en-US" altLang="ko-KR" sz="1100" dirty="0"/>
              <a:t>('/insert', (request, response) =&gt; {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</a:t>
            </a:r>
            <a:r>
              <a:rPr lang="en-US" altLang="ko-KR" sz="1100" dirty="0" err="1"/>
              <a:t>fs.readFile</a:t>
            </a:r>
            <a:r>
              <a:rPr lang="en-US" altLang="ko-KR" sz="1100" dirty="0"/>
              <a:t>('views/insert.html', 'utf8',  (error, data) =&gt;  { //</a:t>
            </a:r>
            <a:r>
              <a:rPr lang="ko-KR" altLang="en-US" sz="1100" dirty="0"/>
              <a:t>회원가입화면</a:t>
            </a:r>
          </a:p>
          <a:p>
            <a:r>
              <a:rPr lang="ko-KR" altLang="en-US" sz="1100" dirty="0"/>
              <a:t>       </a:t>
            </a:r>
            <a:r>
              <a:rPr lang="en-US" altLang="ko-KR" sz="1100" dirty="0" err="1"/>
              <a:t>response.send</a:t>
            </a:r>
            <a:r>
              <a:rPr lang="en-US" altLang="ko-KR" sz="1100" dirty="0"/>
              <a:t>(data);                                 // </a:t>
            </a:r>
            <a:r>
              <a:rPr lang="ko-KR" altLang="en-US" sz="1100" dirty="0"/>
              <a:t>회원가입 화면전송</a:t>
            </a:r>
          </a:p>
          <a:p>
            <a:r>
              <a:rPr lang="ko-KR" altLang="en-US" sz="1100" dirty="0"/>
              <a:t>  </a:t>
            </a:r>
            <a:r>
              <a:rPr lang="en-US" altLang="ko-KR" sz="1100" dirty="0"/>
              <a:t>});</a:t>
            </a:r>
          </a:p>
          <a:p>
            <a:r>
              <a:rPr lang="en-US" altLang="ko-KR" sz="1100" dirty="0"/>
              <a:t>});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D6C125-965B-56B4-8542-887C251E19DF}"/>
              </a:ext>
            </a:extLst>
          </p:cNvPr>
          <p:cNvSpPr txBox="1"/>
          <p:nvPr/>
        </p:nvSpPr>
        <p:spPr>
          <a:xfrm flipH="1">
            <a:off x="657869" y="6026113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server.js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BD2310-7AC2-9BC6-44F4-3939C4F6F15F}"/>
              </a:ext>
            </a:extLst>
          </p:cNvPr>
          <p:cNvSpPr/>
          <p:nvPr/>
        </p:nvSpPr>
        <p:spPr>
          <a:xfrm>
            <a:off x="539552" y="2492896"/>
            <a:ext cx="3528392" cy="1584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3C530-E781-DA52-7DBC-2CD360D72DDE}"/>
              </a:ext>
            </a:extLst>
          </p:cNvPr>
          <p:cNvSpPr txBox="1"/>
          <p:nvPr/>
        </p:nvSpPr>
        <p:spPr>
          <a:xfrm>
            <a:off x="6012160" y="4096817"/>
            <a:ext cx="21820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자기팀</a:t>
            </a:r>
            <a:r>
              <a:rPr lang="ko-KR" altLang="en-US" dirty="0">
                <a:solidFill>
                  <a:srgbClr val="FF0000"/>
                </a:solidFill>
              </a:rPr>
              <a:t> 지정</a:t>
            </a:r>
            <a:r>
              <a:rPr lang="en-US" altLang="ko-KR" dirty="0">
                <a:solidFill>
                  <a:srgbClr val="FF0000"/>
                </a:solidFill>
              </a:rPr>
              <a:t>DB</a:t>
            </a:r>
            <a:r>
              <a:rPr lang="ko-KR" altLang="en-US" dirty="0">
                <a:solidFill>
                  <a:srgbClr val="FF0000"/>
                </a:solidFill>
              </a:rPr>
              <a:t>명을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사용해야 함</a:t>
            </a:r>
            <a:r>
              <a:rPr lang="en-US" altLang="ko-KR" dirty="0">
                <a:solidFill>
                  <a:srgbClr val="FF0000"/>
                </a:solidFill>
              </a:rPr>
              <a:t>!!!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, 4</a:t>
            </a:r>
            <a:r>
              <a:rPr lang="ko-KR" altLang="en-US" dirty="0">
                <a:solidFill>
                  <a:srgbClr val="FF0000"/>
                </a:solidFill>
              </a:rPr>
              <a:t>팀 </a:t>
            </a:r>
            <a:r>
              <a:rPr lang="en-US" altLang="ko-KR" dirty="0">
                <a:solidFill>
                  <a:srgbClr val="FF0000"/>
                </a:solidFill>
              </a:rPr>
              <a:t>db25204)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3C1B6ED-4BA9-C399-4520-AA86F15CD050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339752" y="3717032"/>
            <a:ext cx="3672408" cy="8414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70DA541-7B94-D78F-1225-44BAB6BCFEB2}"/>
              </a:ext>
            </a:extLst>
          </p:cNvPr>
          <p:cNvCxnSpPr>
            <a:cxnSpLocks/>
          </p:cNvCxnSpPr>
          <p:nvPr/>
        </p:nvCxnSpPr>
        <p:spPr>
          <a:xfrm flipH="1">
            <a:off x="2123728" y="3167185"/>
            <a:ext cx="4067224" cy="189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34C647-CFC0-04DC-A532-A4462937B410}"/>
              </a:ext>
            </a:extLst>
          </p:cNvPr>
          <p:cNvSpPr txBox="1"/>
          <p:nvPr/>
        </p:nvSpPr>
        <p:spPr>
          <a:xfrm>
            <a:off x="6203719" y="3007838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DB</a:t>
            </a:r>
            <a:r>
              <a:rPr lang="ko-KR" altLang="en-US" dirty="0">
                <a:solidFill>
                  <a:srgbClr val="FF0000"/>
                </a:solidFill>
              </a:rPr>
              <a:t>계정</a:t>
            </a:r>
            <a:r>
              <a:rPr lang="en-US" altLang="ko-KR" dirty="0">
                <a:solidFill>
                  <a:srgbClr val="FF0000"/>
                </a:solidFill>
              </a:rPr>
              <a:t>/DB</a:t>
            </a:r>
            <a:r>
              <a:rPr lang="ko-KR" altLang="en-US" dirty="0">
                <a:solidFill>
                  <a:srgbClr val="FF0000"/>
                </a:solidFill>
              </a:rPr>
              <a:t>암호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190036C-9E98-8ADE-745C-3459945A8A32}"/>
              </a:ext>
            </a:extLst>
          </p:cNvPr>
          <p:cNvCxnSpPr>
            <a:cxnSpLocks/>
          </p:cNvCxnSpPr>
          <p:nvPr/>
        </p:nvCxnSpPr>
        <p:spPr>
          <a:xfrm flipH="1">
            <a:off x="2627784" y="3184428"/>
            <a:ext cx="3563168" cy="307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A690EA-E8DF-A46A-A090-F190F08C9620}"/>
              </a:ext>
            </a:extLst>
          </p:cNvPr>
          <p:cNvSpPr txBox="1"/>
          <p:nvPr/>
        </p:nvSpPr>
        <p:spPr>
          <a:xfrm>
            <a:off x="6203719" y="2474303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반드시 </a:t>
            </a:r>
            <a:r>
              <a:rPr lang="en-US" altLang="ko-KR" dirty="0">
                <a:solidFill>
                  <a:srgbClr val="FF0000"/>
                </a:solidFill>
              </a:rPr>
              <a:t>localhost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38185BB-E542-3FA0-5796-F9971828EC7E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169870" y="2658969"/>
            <a:ext cx="4033849" cy="3521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DAD89F-7466-3B89-C82C-19A7B18379DD}"/>
              </a:ext>
            </a:extLst>
          </p:cNvPr>
          <p:cNvSpPr txBox="1"/>
          <p:nvPr/>
        </p:nvSpPr>
        <p:spPr>
          <a:xfrm>
            <a:off x="6190952" y="1645565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>
                <a:solidFill>
                  <a:srgbClr val="FF0000"/>
                </a:solidFill>
              </a:rPr>
              <a:t>설정값을 틀리게 설정하면</a:t>
            </a:r>
            <a:endParaRPr lang="en-US" altLang="ko-KR" sz="1400">
              <a:solidFill>
                <a:srgbClr val="FF0000"/>
              </a:solidFill>
            </a:endParaRPr>
          </a:p>
          <a:p>
            <a:pPr algn="ctr"/>
            <a:r>
              <a:rPr lang="en-US" altLang="ko-KR" sz="1400">
                <a:solidFill>
                  <a:srgbClr val="FF0000"/>
                </a:solidFill>
              </a:rPr>
              <a:t>DB</a:t>
            </a:r>
            <a:r>
              <a:rPr lang="ko-KR" altLang="en-US" sz="1400">
                <a:solidFill>
                  <a:srgbClr val="FF0000"/>
                </a:solidFill>
              </a:rPr>
              <a:t>연동이 안됩니다</a:t>
            </a:r>
            <a:r>
              <a:rPr lang="en-US" altLang="ko-KR" sz="1400">
                <a:solidFill>
                  <a:srgbClr val="FF0000"/>
                </a:solidFill>
              </a:rPr>
              <a:t>.!!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6199A3-3C07-1004-68DD-BEF0BC65DDF3}"/>
              </a:ext>
            </a:extLst>
          </p:cNvPr>
          <p:cNvSpPr txBox="1"/>
          <p:nvPr/>
        </p:nvSpPr>
        <p:spPr>
          <a:xfrm>
            <a:off x="5936540" y="5009106"/>
            <a:ext cx="316464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</a:rPr>
              <a:t>(</a:t>
            </a:r>
            <a:r>
              <a:rPr lang="ko-KR" altLang="en-US" sz="1400">
                <a:solidFill>
                  <a:srgbClr val="FF0000"/>
                </a:solidFill>
              </a:rPr>
              <a:t>팀 계정</a:t>
            </a:r>
            <a:r>
              <a:rPr lang="en-US" altLang="ko-KR" sz="1400">
                <a:solidFill>
                  <a:srgbClr val="FF0000"/>
                </a:solidFill>
              </a:rPr>
              <a:t>, </a:t>
            </a:r>
            <a:r>
              <a:rPr lang="ko-KR" altLang="en-US" sz="1400">
                <a:solidFill>
                  <a:srgbClr val="FF0000"/>
                </a:solidFill>
              </a:rPr>
              <a:t>팀 정보로 수정</a:t>
            </a:r>
            <a:r>
              <a:rPr lang="en-US" altLang="ko-KR" sz="1400">
                <a:solidFill>
                  <a:srgbClr val="FF0000"/>
                </a:solidFill>
              </a:rPr>
              <a:t>/</a:t>
            </a:r>
            <a:r>
              <a:rPr lang="ko-KR" altLang="en-US" sz="1400">
                <a:solidFill>
                  <a:srgbClr val="FF0000"/>
                </a:solidFill>
              </a:rPr>
              <a:t>설정 할 것</a:t>
            </a:r>
            <a:r>
              <a:rPr lang="en-US" altLang="ko-KR" sz="1400">
                <a:solidFill>
                  <a:srgbClr val="FF0000"/>
                </a:solidFill>
              </a:rPr>
              <a:t>!)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2133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0788" y="917754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DB </a:t>
            </a:r>
            <a:r>
              <a:rPr lang="ko-KR" altLang="en-US" sz="2400" b="1" dirty="0">
                <a:latin typeface="+mj-ea"/>
                <a:ea typeface="+mj-ea"/>
              </a:rPr>
              <a:t>사용방법</a:t>
            </a:r>
            <a:r>
              <a:rPr lang="en-US" altLang="ko-KR" sz="2000" b="1" dirty="0">
                <a:latin typeface="+mj-ea"/>
                <a:ea typeface="+mj-ea"/>
              </a:rPr>
              <a:t>(</a:t>
            </a:r>
            <a:r>
              <a:rPr lang="ko-KR" altLang="en-US" sz="2000" b="1" dirty="0">
                <a:latin typeface="+mj-ea"/>
                <a:ea typeface="+mj-ea"/>
              </a:rPr>
              <a:t>예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소스코드 사례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32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3B5B6-140E-2259-1606-B5C3F559E059}"/>
              </a:ext>
            </a:extLst>
          </p:cNvPr>
          <p:cNvSpPr txBox="1"/>
          <p:nvPr/>
        </p:nvSpPr>
        <p:spPr>
          <a:xfrm>
            <a:off x="791580" y="1542281"/>
            <a:ext cx="7812868" cy="4832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 err="1"/>
              <a:t>app.get</a:t>
            </a:r>
            <a:r>
              <a:rPr lang="en-US" altLang="ko-KR" sz="1100" dirty="0"/>
              <a:t>('/members',   (request, response)  =&gt; {</a:t>
            </a:r>
          </a:p>
          <a:p>
            <a:r>
              <a:rPr lang="en-US" altLang="ko-KR" sz="1100" dirty="0"/>
              <a:t>     </a:t>
            </a:r>
            <a:r>
              <a:rPr lang="en-US" altLang="ko-KR" sz="1100" dirty="0" err="1"/>
              <a:t>fs.readFile</a:t>
            </a:r>
            <a:r>
              <a:rPr lang="en-US" altLang="ko-KR" sz="1100" dirty="0"/>
              <a:t>('views/</a:t>
            </a:r>
            <a:r>
              <a:rPr lang="en-US" altLang="ko-KR" sz="1100" dirty="0" err="1"/>
              <a:t>list.ejs</a:t>
            </a:r>
            <a:r>
              <a:rPr lang="en-US" altLang="ko-KR" sz="1100" dirty="0"/>
              <a:t>', 'utf8',  (error, data) =&gt; {    // List</a:t>
            </a:r>
            <a:r>
              <a:rPr lang="ko-KR" altLang="en-US" sz="1100" dirty="0"/>
              <a:t>화면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// </a:t>
            </a:r>
            <a:r>
              <a:rPr lang="ko-KR" altLang="en-US" sz="1100" dirty="0"/>
              <a:t>데이터베이스 쿼리를 실행합니다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</a:t>
            </a:r>
            <a:r>
              <a:rPr lang="en-US" altLang="ko-KR" sz="1100" dirty="0" err="1"/>
              <a:t>client.query</a:t>
            </a:r>
            <a:r>
              <a:rPr lang="en-US" altLang="ko-KR" sz="1100" dirty="0"/>
              <a:t>('SELECT  *  FROM  member', (error, results)  =&gt; {</a:t>
            </a:r>
          </a:p>
          <a:p>
            <a:r>
              <a:rPr lang="en-US" altLang="ko-KR" sz="1100" dirty="0"/>
              <a:t>      // </a:t>
            </a:r>
            <a:r>
              <a:rPr lang="ko-KR" altLang="en-US" sz="1100" dirty="0"/>
              <a:t>응답합니다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     </a:t>
            </a:r>
            <a:r>
              <a:rPr lang="en-US" altLang="ko-KR" sz="1100" dirty="0" err="1"/>
              <a:t>response.send</a:t>
            </a:r>
            <a:r>
              <a:rPr lang="en-US" altLang="ko-KR" sz="1100" dirty="0"/>
              <a:t>(</a:t>
            </a:r>
            <a:r>
              <a:rPr lang="en-US" altLang="ko-KR" sz="1100" dirty="0" err="1"/>
              <a:t>ejs.render</a:t>
            </a:r>
            <a:r>
              <a:rPr lang="en-US" altLang="ko-KR" sz="1100" dirty="0"/>
              <a:t>(data, {</a:t>
            </a:r>
          </a:p>
          <a:p>
            <a:r>
              <a:rPr lang="en-US" altLang="ko-KR" sz="1100" dirty="0"/>
              <a:t>             data: results                            // </a:t>
            </a:r>
            <a:r>
              <a:rPr lang="ko-KR" altLang="en-US" sz="1100" dirty="0"/>
              <a:t>회원조회 결과화면</a:t>
            </a:r>
          </a:p>
          <a:p>
            <a:r>
              <a:rPr lang="ko-KR" altLang="en-US" sz="1100" dirty="0"/>
              <a:t>      </a:t>
            </a:r>
            <a:r>
              <a:rPr lang="en-US" altLang="ko-KR" sz="1100" dirty="0"/>
              <a:t>}));</a:t>
            </a:r>
          </a:p>
          <a:p>
            <a:r>
              <a:rPr lang="en-US" altLang="ko-KR" sz="1100" dirty="0"/>
              <a:t>    });</a:t>
            </a:r>
          </a:p>
          <a:p>
            <a:r>
              <a:rPr lang="en-US" altLang="ko-KR" sz="1100" dirty="0"/>
              <a:t>  });</a:t>
            </a:r>
          </a:p>
          <a:p>
            <a:r>
              <a:rPr lang="en-US" altLang="ko-KR" sz="1100" dirty="0"/>
              <a:t>});</a:t>
            </a:r>
          </a:p>
          <a:p>
            <a:endParaRPr lang="en-US" altLang="ko-KR" sz="1100" dirty="0"/>
          </a:p>
          <a:p>
            <a:r>
              <a:rPr lang="en-US" altLang="ko-KR" sz="1100" dirty="0" err="1"/>
              <a:t>app.post</a:t>
            </a:r>
            <a:r>
              <a:rPr lang="en-US" altLang="ko-KR" sz="1100" dirty="0"/>
              <a:t>('/insert', function (request, response) {</a:t>
            </a:r>
          </a:p>
          <a:p>
            <a:r>
              <a:rPr lang="en-US" altLang="ko-KR" sz="1100" dirty="0"/>
              <a:t>     let     body = </a:t>
            </a:r>
            <a:r>
              <a:rPr lang="en-US" altLang="ko-KR" sz="1100" dirty="0" err="1"/>
              <a:t>request.body</a:t>
            </a:r>
            <a:r>
              <a:rPr lang="en-US" altLang="ko-KR" sz="1100" dirty="0"/>
              <a:t>;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  console.log(body.name);</a:t>
            </a:r>
          </a:p>
          <a:p>
            <a:r>
              <a:rPr lang="en-US" altLang="ko-KR" sz="1100" dirty="0"/>
              <a:t>      console.log(</a:t>
            </a:r>
            <a:r>
              <a:rPr lang="en-US" altLang="ko-KR" sz="1100" dirty="0" err="1"/>
              <a:t>body.uid</a:t>
            </a:r>
            <a:r>
              <a:rPr lang="en-US" altLang="ko-KR" sz="1100" dirty="0"/>
              <a:t>);</a:t>
            </a:r>
          </a:p>
          <a:p>
            <a:r>
              <a:rPr lang="en-US" altLang="ko-KR" sz="1100" dirty="0"/>
              <a:t>      console.log(</a:t>
            </a:r>
            <a:r>
              <a:rPr lang="en-US" altLang="ko-KR" sz="1100" dirty="0" err="1"/>
              <a:t>body.pass</a:t>
            </a:r>
            <a:r>
              <a:rPr lang="en-US" altLang="ko-KR" sz="1100" dirty="0"/>
              <a:t>);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    </a:t>
            </a:r>
            <a:r>
              <a:rPr lang="en-US" altLang="ko-KR" sz="1100" dirty="0" err="1"/>
              <a:t>client.query</a:t>
            </a:r>
            <a:r>
              <a:rPr lang="en-US" altLang="ko-KR" sz="1100" dirty="0"/>
              <a:t>('INSERT INTO member (name, </a:t>
            </a:r>
            <a:r>
              <a:rPr lang="en-US" altLang="ko-KR" sz="1100" dirty="0" err="1"/>
              <a:t>uid</a:t>
            </a:r>
            <a:r>
              <a:rPr lang="en-US" altLang="ko-KR" sz="1100" dirty="0"/>
              <a:t>, pass) VALUES (?, ?, ?) ',</a:t>
            </a:r>
          </a:p>
          <a:p>
            <a:r>
              <a:rPr lang="en-US" altLang="ko-KR" sz="1100" dirty="0"/>
              <a:t>                                                              [body.name, </a:t>
            </a:r>
            <a:r>
              <a:rPr lang="en-US" altLang="ko-KR" sz="1100" dirty="0" err="1"/>
              <a:t>body.uid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body.pass</a:t>
            </a:r>
            <a:r>
              <a:rPr lang="en-US" altLang="ko-KR" sz="1100" dirty="0"/>
              <a:t>], ( ) =&gt; {</a:t>
            </a:r>
          </a:p>
          <a:p>
            <a:r>
              <a:rPr lang="en-US" altLang="ko-KR" sz="1100" dirty="0"/>
              <a:t>       console.log("Insertion into DB was completed !");</a:t>
            </a:r>
          </a:p>
          <a:p>
            <a:r>
              <a:rPr lang="en-US" altLang="ko-KR" sz="1100" dirty="0"/>
              <a:t>       </a:t>
            </a:r>
            <a:r>
              <a:rPr lang="en-US" altLang="ko-KR" sz="1100" dirty="0" err="1"/>
              <a:t>response.writeHead</a:t>
            </a:r>
            <a:r>
              <a:rPr lang="en-US" altLang="ko-KR" sz="1100" dirty="0"/>
              <a:t>(200, { 'Content-Type': 'text/html' });</a:t>
            </a:r>
          </a:p>
          <a:p>
            <a:r>
              <a:rPr lang="en-US" altLang="ko-KR" sz="1100" dirty="0"/>
              <a:t>       </a:t>
            </a:r>
            <a:r>
              <a:rPr lang="en-US" altLang="ko-KR" sz="1100" dirty="0" err="1"/>
              <a:t>response.end</a:t>
            </a:r>
            <a:r>
              <a:rPr lang="en-US" altLang="ko-KR" sz="1100" dirty="0"/>
              <a:t>('&lt;meta charset="utf-8"&gt; </a:t>
            </a:r>
            <a:r>
              <a:rPr lang="ko-KR" altLang="en-US" sz="1100" dirty="0"/>
              <a:t>가입완료</a:t>
            </a:r>
            <a:r>
              <a:rPr lang="en-US" altLang="ko-KR" sz="1100" dirty="0"/>
              <a:t>!</a:t>
            </a:r>
            <a:r>
              <a:rPr lang="ko-KR" altLang="en-US" sz="1100" dirty="0"/>
              <a:t> </a:t>
            </a:r>
            <a:r>
              <a:rPr lang="en-US" altLang="ko-KR" sz="1100" dirty="0"/>
              <a:t>&lt;a </a:t>
            </a:r>
            <a:r>
              <a:rPr lang="en-US" altLang="ko-KR" sz="1100" dirty="0" err="1"/>
              <a:t>href</a:t>
            </a:r>
            <a:r>
              <a:rPr lang="en-US" altLang="ko-KR" sz="1100" dirty="0"/>
              <a:t>="http://ceprj.gachon.ac.kr:60020/members"&gt;</a:t>
            </a:r>
            <a:r>
              <a:rPr lang="ko-KR" altLang="en-US" sz="1100" dirty="0"/>
              <a:t>회원조회</a:t>
            </a:r>
            <a:r>
              <a:rPr lang="en-US" altLang="ko-KR" sz="1100" dirty="0"/>
              <a:t>&lt;/a&gt;');</a:t>
            </a:r>
          </a:p>
          <a:p>
            <a:endParaRPr lang="en-US" altLang="ko-KR" sz="1100" dirty="0"/>
          </a:p>
          <a:p>
            <a:r>
              <a:rPr lang="en-US" altLang="ko-KR" sz="1100" dirty="0"/>
              <a:t>  });</a:t>
            </a:r>
          </a:p>
          <a:p>
            <a:r>
              <a:rPr lang="en-US" altLang="ko-KR" sz="1100" dirty="0"/>
              <a:t>});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F72D03-01FB-1593-CC2C-769117F0BF70}"/>
              </a:ext>
            </a:extLst>
          </p:cNvPr>
          <p:cNvSpPr txBox="1"/>
          <p:nvPr/>
        </p:nvSpPr>
        <p:spPr>
          <a:xfrm flipH="1">
            <a:off x="7380312" y="117294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server.js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032124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0788" y="917754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DB </a:t>
            </a:r>
            <a:r>
              <a:rPr lang="ko-KR" altLang="en-US" sz="2400" b="1" dirty="0">
                <a:latin typeface="+mj-ea"/>
                <a:ea typeface="+mj-ea"/>
              </a:rPr>
              <a:t>사용방법</a:t>
            </a:r>
            <a:r>
              <a:rPr lang="en-US" altLang="ko-KR" sz="2000" b="1" dirty="0">
                <a:latin typeface="+mj-ea"/>
                <a:ea typeface="+mj-ea"/>
              </a:rPr>
              <a:t> (</a:t>
            </a:r>
            <a:r>
              <a:rPr lang="ko-KR" altLang="en-US" sz="2000" b="1" dirty="0">
                <a:latin typeface="+mj-ea"/>
                <a:ea typeface="+mj-ea"/>
              </a:rPr>
              <a:t>예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소스코드 사례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33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3B5B6-140E-2259-1606-B5C3F559E059}"/>
              </a:ext>
            </a:extLst>
          </p:cNvPr>
          <p:cNvSpPr txBox="1"/>
          <p:nvPr/>
        </p:nvSpPr>
        <p:spPr>
          <a:xfrm>
            <a:off x="539552" y="1672068"/>
            <a:ext cx="3456384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&lt;html&gt;</a:t>
            </a:r>
          </a:p>
          <a:p>
            <a:r>
              <a:rPr lang="en-US" altLang="ko-KR" sz="900" dirty="0"/>
              <a:t>&lt;head&gt;</a:t>
            </a:r>
          </a:p>
          <a:p>
            <a:r>
              <a:rPr lang="en-US" altLang="ko-KR" sz="900" dirty="0"/>
              <a:t>  &lt;title&gt;</a:t>
            </a:r>
            <a:r>
              <a:rPr lang="ko-KR" altLang="en-US" sz="900" dirty="0"/>
              <a:t>회원가입</a:t>
            </a:r>
            <a:r>
              <a:rPr lang="en-US" altLang="ko-KR" sz="900" dirty="0"/>
              <a:t>&lt;/title&gt;</a:t>
            </a:r>
          </a:p>
          <a:p>
            <a:r>
              <a:rPr lang="en-US" altLang="ko-KR" sz="900" dirty="0"/>
              <a:t>&lt;/head&gt;</a:t>
            </a:r>
          </a:p>
          <a:p>
            <a:r>
              <a:rPr lang="en-US" altLang="ko-KR" sz="900" dirty="0"/>
              <a:t>&lt;body&gt;</a:t>
            </a:r>
          </a:p>
          <a:p>
            <a:r>
              <a:rPr lang="en-US" altLang="ko-KR" sz="900" dirty="0"/>
              <a:t>  &lt;h1&gt;</a:t>
            </a:r>
            <a:r>
              <a:rPr lang="ko-KR" altLang="en-US" sz="900" dirty="0"/>
              <a:t>회원가입</a:t>
            </a:r>
            <a:r>
              <a:rPr lang="en-US" altLang="ko-KR" sz="900" dirty="0"/>
              <a:t>&lt;/h1&gt;</a:t>
            </a:r>
          </a:p>
          <a:p>
            <a:r>
              <a:rPr lang="en-US" altLang="ko-KR" sz="900" dirty="0"/>
              <a:t>  &lt;</a:t>
            </a:r>
            <a:r>
              <a:rPr lang="en-US" altLang="ko-KR" sz="900" dirty="0" err="1"/>
              <a:t>hr</a:t>
            </a:r>
            <a:r>
              <a:rPr lang="en-US" altLang="ko-KR" sz="900" dirty="0"/>
              <a:t> /&gt;</a:t>
            </a:r>
          </a:p>
          <a:p>
            <a:r>
              <a:rPr lang="en-US" altLang="ko-KR" sz="900" dirty="0"/>
              <a:t>  &lt;form method="post"&gt;</a:t>
            </a:r>
          </a:p>
          <a:p>
            <a:r>
              <a:rPr lang="en-US" altLang="ko-KR" sz="900" dirty="0"/>
              <a:t>    &lt;</a:t>
            </a:r>
            <a:r>
              <a:rPr lang="en-US" altLang="ko-KR" sz="900" dirty="0" err="1"/>
              <a:t>fieldset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&lt;legend&gt;</a:t>
            </a:r>
            <a:r>
              <a:rPr lang="ko-KR" altLang="en-US" sz="900" dirty="0"/>
              <a:t>회원가입</a:t>
            </a:r>
            <a:r>
              <a:rPr lang="en-US" altLang="ko-KR" sz="900" dirty="0"/>
              <a:t>&lt;/legend&gt;</a:t>
            </a:r>
          </a:p>
          <a:p>
            <a:r>
              <a:rPr lang="en-US" altLang="ko-KR" sz="900" dirty="0"/>
              <a:t>      &lt;table&gt;</a:t>
            </a:r>
          </a:p>
          <a:p>
            <a:r>
              <a:rPr lang="en-US" altLang="ko-KR" sz="900" dirty="0"/>
              <a:t>        &lt;tr&gt;</a:t>
            </a:r>
          </a:p>
          <a:p>
            <a:r>
              <a:rPr lang="en-US" altLang="ko-KR" sz="900" dirty="0"/>
              <a:t>          &lt;td&gt;&lt;label&gt;</a:t>
            </a:r>
            <a:r>
              <a:rPr lang="ko-KR" altLang="en-US" sz="900" dirty="0"/>
              <a:t>이름</a:t>
            </a:r>
            <a:r>
              <a:rPr lang="en-US" altLang="ko-KR" sz="900" dirty="0"/>
              <a:t>&lt;/label&gt;&lt;/td&gt;</a:t>
            </a:r>
          </a:p>
          <a:p>
            <a:r>
              <a:rPr lang="en-US" altLang="ko-KR" sz="900" dirty="0"/>
              <a:t>          &lt;td&gt;&lt;input type="text" name="name" /&gt;&lt;/td&gt;</a:t>
            </a:r>
          </a:p>
          <a:p>
            <a:r>
              <a:rPr lang="en-US" altLang="ko-KR" sz="900" dirty="0"/>
              <a:t>        &lt;/tr&gt;</a:t>
            </a:r>
          </a:p>
          <a:p>
            <a:r>
              <a:rPr lang="en-US" altLang="ko-KR" sz="900" dirty="0"/>
              <a:t>        &lt;tr&gt;</a:t>
            </a:r>
          </a:p>
          <a:p>
            <a:r>
              <a:rPr lang="en-US" altLang="ko-KR" sz="900" dirty="0"/>
              <a:t>          &lt;td&gt;&lt;label&gt;</a:t>
            </a:r>
            <a:r>
              <a:rPr lang="ko-KR" altLang="en-US" sz="900" dirty="0"/>
              <a:t>사용자</a:t>
            </a:r>
            <a:r>
              <a:rPr lang="en-US" altLang="ko-KR" sz="900" dirty="0"/>
              <a:t>id&lt;/label&gt;&lt;/td&gt;</a:t>
            </a:r>
          </a:p>
          <a:p>
            <a:r>
              <a:rPr lang="en-US" altLang="ko-KR" sz="900" dirty="0"/>
              <a:t>          &lt;td&gt;&lt;input type="text" name="</a:t>
            </a:r>
            <a:r>
              <a:rPr lang="en-US" altLang="ko-KR" sz="900" dirty="0" err="1"/>
              <a:t>uid</a:t>
            </a:r>
            <a:r>
              <a:rPr lang="en-US" altLang="ko-KR" sz="900" dirty="0"/>
              <a:t>" /&gt;&lt;/td&gt;</a:t>
            </a:r>
          </a:p>
          <a:p>
            <a:r>
              <a:rPr lang="en-US" altLang="ko-KR" sz="900" dirty="0"/>
              <a:t>        &lt;/tr&gt;</a:t>
            </a:r>
          </a:p>
          <a:p>
            <a:r>
              <a:rPr lang="en-US" altLang="ko-KR" sz="900" dirty="0"/>
              <a:t>        &lt;tr&gt;</a:t>
            </a:r>
          </a:p>
          <a:p>
            <a:r>
              <a:rPr lang="en-US" altLang="ko-KR" sz="900" dirty="0"/>
              <a:t>          &lt;td&gt;&lt;label&gt;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&lt;/label&gt;&lt;/td&gt;</a:t>
            </a:r>
          </a:p>
          <a:p>
            <a:r>
              <a:rPr lang="en-US" altLang="ko-KR" sz="900" dirty="0"/>
              <a:t>          &lt;td&gt;&lt;input type="password" name="pass" /&gt;&lt;/td&gt;</a:t>
            </a:r>
          </a:p>
          <a:p>
            <a:r>
              <a:rPr lang="en-US" altLang="ko-KR" sz="900" dirty="0"/>
              <a:t>        &lt;/tr&gt;</a:t>
            </a:r>
          </a:p>
          <a:p>
            <a:r>
              <a:rPr lang="en-US" altLang="ko-KR" sz="900" dirty="0"/>
              <a:t>      &lt;/table&gt;</a:t>
            </a:r>
          </a:p>
          <a:p>
            <a:r>
              <a:rPr lang="en-US" altLang="ko-KR" sz="900" dirty="0"/>
              <a:t>      &lt;input type="submit" value = "</a:t>
            </a:r>
            <a:r>
              <a:rPr lang="ko-KR" altLang="en-US" sz="900" dirty="0"/>
              <a:t>가입</a:t>
            </a:r>
            <a:r>
              <a:rPr lang="en-US" altLang="ko-KR" sz="900" dirty="0"/>
              <a:t>" /&gt;</a:t>
            </a:r>
          </a:p>
          <a:p>
            <a:r>
              <a:rPr lang="en-US" altLang="ko-KR" sz="900" dirty="0"/>
              <a:t>    &lt;/</a:t>
            </a:r>
            <a:r>
              <a:rPr lang="en-US" altLang="ko-KR" sz="900" dirty="0" err="1"/>
              <a:t>fieldset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&lt;/form&gt;</a:t>
            </a:r>
          </a:p>
          <a:p>
            <a:r>
              <a:rPr lang="en-US" altLang="ko-KR" sz="900" dirty="0"/>
              <a:t>&lt;/body&gt;</a:t>
            </a:r>
          </a:p>
          <a:p>
            <a:r>
              <a:rPr lang="en-US" altLang="ko-KR" sz="900" dirty="0"/>
              <a:t>&lt;/html&gt;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2FF47-A64C-823B-6A08-996B8EF3EDAB}"/>
              </a:ext>
            </a:extLst>
          </p:cNvPr>
          <p:cNvSpPr txBox="1"/>
          <p:nvPr/>
        </p:nvSpPr>
        <p:spPr>
          <a:xfrm flipH="1">
            <a:off x="2087724" y="556042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views/insert.html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28560-7DAF-7014-EDA6-09972F7C1DDC}"/>
              </a:ext>
            </a:extLst>
          </p:cNvPr>
          <p:cNvSpPr txBox="1"/>
          <p:nvPr/>
        </p:nvSpPr>
        <p:spPr>
          <a:xfrm>
            <a:off x="4175956" y="1667915"/>
            <a:ext cx="4644516" cy="3554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00" dirty="0"/>
              <a:t>&lt;!DOCTYPE html&gt;</a:t>
            </a:r>
          </a:p>
          <a:p>
            <a:r>
              <a:rPr lang="en-US" altLang="ko-KR" sz="900" dirty="0"/>
              <a:t>&lt;html&gt;</a:t>
            </a:r>
          </a:p>
          <a:p>
            <a:r>
              <a:rPr lang="en-US" altLang="ko-KR" sz="900" dirty="0"/>
              <a:t>&lt;head&gt;</a:t>
            </a:r>
          </a:p>
          <a:p>
            <a:r>
              <a:rPr lang="en-US" altLang="ko-KR" sz="900" dirty="0"/>
              <a:t>  &lt;title&gt;List Page&lt;/title&gt;</a:t>
            </a:r>
          </a:p>
          <a:p>
            <a:r>
              <a:rPr lang="en-US" altLang="ko-KR" sz="900" dirty="0"/>
              <a:t>&lt;/head&gt;</a:t>
            </a:r>
          </a:p>
          <a:p>
            <a:r>
              <a:rPr lang="en-US" altLang="ko-KR" sz="900" dirty="0"/>
              <a:t>&lt;body&gt;</a:t>
            </a:r>
          </a:p>
          <a:p>
            <a:r>
              <a:rPr lang="en-US" altLang="ko-KR" sz="900" dirty="0"/>
              <a:t>  &lt;h1&gt;</a:t>
            </a:r>
            <a:r>
              <a:rPr lang="ko-KR" altLang="en-US" sz="900" dirty="0"/>
              <a:t>회원조회</a:t>
            </a:r>
            <a:r>
              <a:rPr lang="en-US" altLang="ko-KR" sz="900" dirty="0"/>
              <a:t>&lt;/h1&gt;</a:t>
            </a:r>
          </a:p>
          <a:p>
            <a:r>
              <a:rPr lang="en-US" altLang="ko-KR" sz="900" dirty="0"/>
              <a:t>  &lt;</a:t>
            </a:r>
            <a:r>
              <a:rPr lang="en-US" altLang="ko-KR" sz="900" dirty="0" err="1"/>
              <a:t>hr</a:t>
            </a:r>
            <a:r>
              <a:rPr lang="en-US" altLang="ko-KR" sz="900" dirty="0"/>
              <a:t> /&gt;</a:t>
            </a:r>
          </a:p>
          <a:p>
            <a:r>
              <a:rPr lang="en-US" altLang="ko-KR" sz="900" dirty="0"/>
              <a:t>  &lt;a </a:t>
            </a:r>
            <a:r>
              <a:rPr lang="en-US" altLang="ko-KR" sz="900" dirty="0" err="1"/>
              <a:t>href</a:t>
            </a:r>
            <a:r>
              <a:rPr lang="en-US" altLang="ko-KR" sz="900" dirty="0"/>
              <a:t> = "http://ceprj.gachon.ac.kr:60020/insert/"&gt;+</a:t>
            </a:r>
            <a:r>
              <a:rPr lang="ko-KR" altLang="en-US" sz="900" dirty="0"/>
              <a:t>가입</a:t>
            </a:r>
            <a:r>
              <a:rPr lang="en-US" altLang="ko-KR" sz="900" dirty="0"/>
              <a:t>&lt;/a&gt; &lt;</a:t>
            </a:r>
            <a:r>
              <a:rPr lang="en-US" altLang="ko-KR" sz="900" dirty="0" err="1"/>
              <a:t>br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&lt;table width="100%" border="1"&gt;</a:t>
            </a:r>
          </a:p>
          <a:p>
            <a:r>
              <a:rPr lang="en-US" altLang="ko-KR" sz="900" dirty="0"/>
              <a:t>    &lt;tr&gt;</a:t>
            </a:r>
          </a:p>
          <a:p>
            <a:r>
              <a:rPr lang="en-US" altLang="ko-KR" sz="900" dirty="0"/>
              <a:t>      &lt;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  <a:r>
              <a:rPr lang="ko-KR" altLang="en-US" sz="900" dirty="0"/>
              <a:t>이름</a:t>
            </a:r>
            <a:r>
              <a:rPr lang="en-US" altLang="ko-KR" sz="900" dirty="0"/>
              <a:t>&lt;/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&lt;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  <a:r>
              <a:rPr lang="ko-KR" altLang="en-US" sz="900" dirty="0"/>
              <a:t>사용자</a:t>
            </a:r>
            <a:r>
              <a:rPr lang="en-US" altLang="ko-KR" sz="900" dirty="0"/>
              <a:t>id&lt;/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  &lt;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&lt;/</a:t>
            </a:r>
            <a:r>
              <a:rPr lang="en-US" altLang="ko-KR" sz="900" dirty="0" err="1"/>
              <a:t>th</a:t>
            </a:r>
            <a:r>
              <a:rPr lang="en-US" altLang="ko-KR" sz="900" dirty="0"/>
              <a:t>&gt;</a:t>
            </a:r>
          </a:p>
          <a:p>
            <a:r>
              <a:rPr lang="en-US" altLang="ko-KR" sz="900" dirty="0"/>
              <a:t>    &lt;/tr&gt;</a:t>
            </a:r>
          </a:p>
          <a:p>
            <a:r>
              <a:rPr lang="en-US" altLang="ko-KR" sz="900" dirty="0"/>
              <a:t>    &lt;%  </a:t>
            </a:r>
            <a:r>
              <a:rPr lang="en-US" altLang="ko-KR" sz="900" dirty="0" err="1"/>
              <a:t>data.forEach</a:t>
            </a:r>
            <a:r>
              <a:rPr lang="en-US" altLang="ko-KR" sz="900" dirty="0"/>
              <a:t>(function (item, index) { %&gt;</a:t>
            </a:r>
          </a:p>
          <a:p>
            <a:r>
              <a:rPr lang="en-US" altLang="ko-KR" sz="900" dirty="0"/>
              <a:t>    &lt;tr&gt;</a:t>
            </a:r>
          </a:p>
          <a:p>
            <a:r>
              <a:rPr lang="en-US" altLang="ko-KR" sz="900" dirty="0"/>
              <a:t>      &lt;td&gt;&lt;%= item.name %&gt;&lt;/td&gt;</a:t>
            </a:r>
          </a:p>
          <a:p>
            <a:r>
              <a:rPr lang="en-US" altLang="ko-KR" sz="900" dirty="0"/>
              <a:t>      &lt;td&gt;&lt;%= </a:t>
            </a:r>
            <a:r>
              <a:rPr lang="en-US" altLang="ko-KR" sz="900" dirty="0" err="1"/>
              <a:t>item.uid</a:t>
            </a:r>
            <a:r>
              <a:rPr lang="en-US" altLang="ko-KR" sz="900" dirty="0"/>
              <a:t> %&gt;&lt;/td&gt;</a:t>
            </a:r>
          </a:p>
          <a:p>
            <a:r>
              <a:rPr lang="en-US" altLang="ko-KR" sz="900" dirty="0"/>
              <a:t>      &lt;td&gt;&lt;%= </a:t>
            </a:r>
            <a:r>
              <a:rPr lang="en-US" altLang="ko-KR" sz="900" dirty="0" err="1"/>
              <a:t>item.pass</a:t>
            </a:r>
            <a:r>
              <a:rPr lang="en-US" altLang="ko-KR" sz="900" dirty="0"/>
              <a:t> %&gt;&lt;/td&gt;</a:t>
            </a:r>
          </a:p>
          <a:p>
            <a:r>
              <a:rPr lang="en-US" altLang="ko-KR" sz="900" dirty="0"/>
              <a:t>    &lt;/tr&gt;</a:t>
            </a:r>
          </a:p>
          <a:p>
            <a:r>
              <a:rPr lang="en-US" altLang="ko-KR" sz="900" dirty="0"/>
              <a:t>    &lt;% }); %&gt;</a:t>
            </a:r>
          </a:p>
          <a:p>
            <a:r>
              <a:rPr lang="en-US" altLang="ko-KR" sz="900" dirty="0"/>
              <a:t>  &lt;/table&gt;</a:t>
            </a:r>
          </a:p>
          <a:p>
            <a:r>
              <a:rPr lang="en-US" altLang="ko-KR" sz="900" dirty="0"/>
              <a:t>&lt;/body&gt;</a:t>
            </a:r>
          </a:p>
          <a:p>
            <a:r>
              <a:rPr lang="en-US" altLang="ko-KR" sz="900" dirty="0"/>
              <a:t>&lt;/html&gt;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59210-F1E1-4806-B073-9AAF37DCA991}"/>
              </a:ext>
            </a:extLst>
          </p:cNvPr>
          <p:cNvSpPr txBox="1"/>
          <p:nvPr/>
        </p:nvSpPr>
        <p:spPr>
          <a:xfrm flipH="1">
            <a:off x="7311454" y="480765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views/</a:t>
            </a:r>
            <a:r>
              <a:rPr lang="en-US" altLang="ko-KR" dirty="0" err="1"/>
              <a:t>list.ejs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213433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0788" y="917754"/>
            <a:ext cx="8429684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latin typeface="+mj-ea"/>
                <a:ea typeface="+mj-ea"/>
              </a:rPr>
              <a:t> </a:t>
            </a:r>
            <a:r>
              <a:rPr lang="en-US" altLang="ko-KR" sz="2400" b="1" err="1">
                <a:solidFill>
                  <a:srgbClr val="0000CC"/>
                </a:solidFill>
                <a:latin typeface="+mj-ea"/>
                <a:ea typeface="+mj-ea"/>
              </a:rPr>
              <a:t>SpringBoot</a:t>
            </a:r>
            <a:r>
              <a:rPr lang="en-US" altLang="ko-KR" sz="2400" b="1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ko-KR" sz="2400" b="1">
                <a:latin typeface="+mj-ea"/>
                <a:ea typeface="+mj-ea"/>
              </a:rPr>
              <a:t>  </a:t>
            </a:r>
            <a:r>
              <a:rPr lang="en-US" altLang="ko-KR" sz="2400" b="1">
                <a:solidFill>
                  <a:srgbClr val="FF0000"/>
                </a:solidFill>
                <a:latin typeface="+mj-ea"/>
                <a:ea typeface="+mj-ea"/>
              </a:rPr>
              <a:t>DB</a:t>
            </a:r>
            <a:r>
              <a:rPr lang="ko-KR" altLang="en-US" sz="2400" b="1">
                <a:solidFill>
                  <a:srgbClr val="FF0000"/>
                </a:solidFill>
                <a:latin typeface="+mj-ea"/>
                <a:ea typeface="+mj-ea"/>
              </a:rPr>
              <a:t>연동 설정 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  <a:latin typeface="+mj-ea"/>
                <a:ea typeface="+mj-ea"/>
              </a:rPr>
              <a:t>예</a:t>
            </a: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en-US" altLang="ko-KR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30199" y="92075"/>
            <a:ext cx="90663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>
              <a:spcBef>
                <a:spcPct val="50000"/>
              </a:spcBef>
            </a:pP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개발환경 설명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ko-KR" altLang="en-US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소스코드 사례</a:t>
            </a:r>
            <a:r>
              <a:rPr lang="en-US" altLang="ko-KR" sz="3600" b="1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ko-KR" altLang="en-US" sz="3600" b="1" dirty="0">
              <a:solidFill>
                <a:schemeClr val="bg1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슬라이드 번호 개체 틀 1"/>
          <p:cNvSpPr txBox="1">
            <a:spLocks/>
          </p:cNvSpPr>
          <p:nvPr/>
        </p:nvSpPr>
        <p:spPr>
          <a:xfrm>
            <a:off x="7178413" y="643202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5pPr>
            <a:lvl6pPr marL="25146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6pPr>
            <a:lvl7pPr marL="29718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7pPr>
            <a:lvl8pPr marL="34290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8pPr>
            <a:lvl9pPr marL="3886200" indent="-228600" algn="l" defTabSz="914400" rtl="0" eaLnBrk="0" fontAlgn="base" latinLnBrk="1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HY헤드라인M" panose="02030600000101010101" pitchFamily="18" charset="-127"/>
                <a:cs typeface="+mn-cs"/>
              </a:defRPr>
            </a:lvl9pPr>
          </a:lstStyle>
          <a:p>
            <a:pPr algn="r"/>
            <a:fld id="{DDE355BD-4033-4FE5-AA04-CE5BA53447A4}" type="slidenum">
              <a:rPr lang="en-US" altLang="ko-KR" sz="1400" b="1" smtClean="0">
                <a:ea typeface="굴림" panose="020B0600000101010101" pitchFamily="50" charset="-127"/>
              </a:rPr>
              <a:pPr algn="r"/>
              <a:t>34</a:t>
            </a:fld>
            <a:r>
              <a:rPr lang="en-US" altLang="ko-KR" sz="1400" b="1" dirty="0">
                <a:ea typeface="굴림" panose="020B0600000101010101" pitchFamily="50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828809-05E6-A60A-BB02-2B98A513A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4824"/>
            <a:ext cx="7236296" cy="16612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BD4BB4-4093-B875-8292-5202645051F0}"/>
              </a:ext>
            </a:extLst>
          </p:cNvPr>
          <p:cNvSpPr txBox="1"/>
          <p:nvPr/>
        </p:nvSpPr>
        <p:spPr>
          <a:xfrm>
            <a:off x="539552" y="3645024"/>
            <a:ext cx="5112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참조할 샘플</a:t>
            </a:r>
            <a:r>
              <a:rPr lang="en-US" altLang="ko-KR" sz="1100" dirty="0"/>
              <a:t>: </a:t>
            </a:r>
            <a:r>
              <a:rPr lang="en-US" altLang="ko-KR" sz="1100" dirty="0" err="1"/>
              <a:t>application.yml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5F9013-FA7C-CEBC-7D5A-4CDA8EB7394F}"/>
              </a:ext>
            </a:extLst>
          </p:cNvPr>
          <p:cNvSpPr/>
          <p:nvPr/>
        </p:nvSpPr>
        <p:spPr>
          <a:xfrm>
            <a:off x="467544" y="1769332"/>
            <a:ext cx="7560840" cy="50753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80CDAB-A200-494F-1FE0-09CCA5BB24A7}"/>
              </a:ext>
            </a:extLst>
          </p:cNvPr>
          <p:cNvSpPr/>
          <p:nvPr/>
        </p:nvSpPr>
        <p:spPr>
          <a:xfrm>
            <a:off x="449288" y="3318954"/>
            <a:ext cx="7560840" cy="20290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1E934-DABE-C8F0-75A6-C7A247AE171A}"/>
              </a:ext>
            </a:extLst>
          </p:cNvPr>
          <p:cNvSpPr txBox="1"/>
          <p:nvPr/>
        </p:nvSpPr>
        <p:spPr>
          <a:xfrm>
            <a:off x="5279787" y="3823263"/>
            <a:ext cx="305564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FF0000"/>
                </a:solidFill>
              </a:rPr>
              <a:t>팀 계정</a:t>
            </a:r>
            <a:r>
              <a:rPr lang="en-US" altLang="ko-KR" sz="1400">
                <a:solidFill>
                  <a:srgbClr val="FF0000"/>
                </a:solidFill>
              </a:rPr>
              <a:t>, </a:t>
            </a:r>
            <a:r>
              <a:rPr lang="ko-KR" altLang="en-US" sz="1400">
                <a:solidFill>
                  <a:srgbClr val="FF0000"/>
                </a:solidFill>
              </a:rPr>
              <a:t>팀 정보로 수정</a:t>
            </a:r>
            <a:r>
              <a:rPr lang="en-US" altLang="ko-KR" sz="1400">
                <a:solidFill>
                  <a:srgbClr val="FF0000"/>
                </a:solidFill>
              </a:rPr>
              <a:t>/</a:t>
            </a:r>
            <a:r>
              <a:rPr lang="ko-KR" altLang="en-US" sz="1400">
                <a:solidFill>
                  <a:srgbClr val="FF0000"/>
                </a:solidFill>
              </a:rPr>
              <a:t>설정 할 것</a:t>
            </a:r>
            <a:r>
              <a:rPr lang="en-US" altLang="ko-KR" sz="1400">
                <a:solidFill>
                  <a:srgbClr val="FF0000"/>
                </a:solidFill>
              </a:rPr>
              <a:t>!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80E39D03-A3B3-A409-F85D-93820BCD5ECE}"/>
              </a:ext>
            </a:extLst>
          </p:cNvPr>
          <p:cNvSpPr/>
          <p:nvPr/>
        </p:nvSpPr>
        <p:spPr>
          <a:xfrm>
            <a:off x="8025918" y="3388914"/>
            <a:ext cx="493992" cy="580709"/>
          </a:xfrm>
          <a:custGeom>
            <a:avLst/>
            <a:gdLst>
              <a:gd name="connsiteX0" fmla="*/ 264353 w 493992"/>
              <a:gd name="connsiteY0" fmla="*/ 580709 h 580709"/>
              <a:gd name="connsiteX1" fmla="*/ 485369 w 493992"/>
              <a:gd name="connsiteY1" fmla="*/ 212349 h 580709"/>
              <a:gd name="connsiteX2" fmla="*/ 0 w 493992"/>
              <a:gd name="connsiteY2" fmla="*/ 0 h 580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3992" h="580709">
                <a:moveTo>
                  <a:pt x="264353" y="580709"/>
                </a:moveTo>
                <a:cubicBezTo>
                  <a:pt x="396890" y="444921"/>
                  <a:pt x="529428" y="309134"/>
                  <a:pt x="485369" y="212349"/>
                </a:cubicBezTo>
                <a:cubicBezTo>
                  <a:pt x="441310" y="115564"/>
                  <a:pt x="220655" y="57782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9F153066-DC81-636D-74C9-8D0DBC546635}"/>
              </a:ext>
            </a:extLst>
          </p:cNvPr>
          <p:cNvSpPr/>
          <p:nvPr/>
        </p:nvSpPr>
        <p:spPr>
          <a:xfrm>
            <a:off x="8034586" y="2045482"/>
            <a:ext cx="590930" cy="1919807"/>
          </a:xfrm>
          <a:custGeom>
            <a:avLst/>
            <a:gdLst>
              <a:gd name="connsiteX0" fmla="*/ 273020 w 590930"/>
              <a:gd name="connsiteY0" fmla="*/ 1919807 h 1919807"/>
              <a:gd name="connsiteX1" fmla="*/ 420364 w 590930"/>
              <a:gd name="connsiteY1" fmla="*/ 1750795 h 1919807"/>
              <a:gd name="connsiteX2" fmla="*/ 485369 w 590930"/>
              <a:gd name="connsiteY2" fmla="*/ 1603451 h 1919807"/>
              <a:gd name="connsiteX3" fmla="*/ 589376 w 590930"/>
              <a:gd name="connsiteY3" fmla="*/ 1048744 h 1919807"/>
              <a:gd name="connsiteX4" fmla="*/ 398696 w 590930"/>
              <a:gd name="connsiteY4" fmla="*/ 268687 h 1919807"/>
              <a:gd name="connsiteX5" fmla="*/ 0 w 590930"/>
              <a:gd name="connsiteY5" fmla="*/ 0 h 191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0930" h="1919807">
                <a:moveTo>
                  <a:pt x="273020" y="1919807"/>
                </a:moveTo>
                <a:cubicBezTo>
                  <a:pt x="328996" y="1861664"/>
                  <a:pt x="384973" y="1803521"/>
                  <a:pt x="420364" y="1750795"/>
                </a:cubicBezTo>
                <a:cubicBezTo>
                  <a:pt x="455755" y="1698069"/>
                  <a:pt x="457200" y="1720459"/>
                  <a:pt x="485369" y="1603451"/>
                </a:cubicBezTo>
                <a:cubicBezTo>
                  <a:pt x="513538" y="1486443"/>
                  <a:pt x="603822" y="1271205"/>
                  <a:pt x="589376" y="1048744"/>
                </a:cubicBezTo>
                <a:cubicBezTo>
                  <a:pt x="574931" y="826283"/>
                  <a:pt x="496925" y="443478"/>
                  <a:pt x="398696" y="268687"/>
                </a:cubicBezTo>
                <a:cubicBezTo>
                  <a:pt x="300467" y="93896"/>
                  <a:pt x="150233" y="46948"/>
                  <a:pt x="0" y="0"/>
                </a:cubicBezTo>
              </a:path>
            </a:pathLst>
          </a:custGeom>
          <a:noFill/>
          <a:ln w="952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6984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12796</TotalTime>
  <Words>3492</Words>
  <Application>Microsoft Office PowerPoint</Application>
  <PresentationFormat>화면 슬라이드 쇼(4:3)</PresentationFormat>
  <Paragraphs>1022</Paragraphs>
  <Slides>34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7" baseType="lpstr">
      <vt:lpstr>HY헤드라인M</vt:lpstr>
      <vt:lpstr>경기천년바탕 Bold</vt:lpstr>
      <vt:lpstr>경기천년제목 Bold</vt:lpstr>
      <vt:lpstr>경기천년제목 Light</vt:lpstr>
      <vt:lpstr>굴림</vt:lpstr>
      <vt:lpstr>돋움</vt:lpstr>
      <vt:lpstr>맑은 고딕</vt:lpstr>
      <vt:lpstr>함초롬바탕</vt:lpstr>
      <vt:lpstr>Arial</vt:lpstr>
      <vt:lpstr>Verdana</vt:lpstr>
      <vt:lpstr>Wingdings</vt:lpstr>
      <vt:lpstr>Wingdings 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박연희</dc:creator>
  <cp:lastModifiedBy>이병문</cp:lastModifiedBy>
  <cp:revision>812</cp:revision>
  <cp:lastPrinted>2016-03-11T06:59:55Z</cp:lastPrinted>
  <dcterms:created xsi:type="dcterms:W3CDTF">2008-10-30T16:06:06Z</dcterms:created>
  <dcterms:modified xsi:type="dcterms:W3CDTF">2025-10-29T11:18:50Z</dcterms:modified>
</cp:coreProperties>
</file>