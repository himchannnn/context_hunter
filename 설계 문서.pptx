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96" r:id="rId4"/>
    <p:sldId id="259" r:id="rId5"/>
    <p:sldId id="295" r:id="rId6"/>
    <p:sldId id="260" r:id="rId7"/>
    <p:sldId id="261" r:id="rId8"/>
    <p:sldId id="293" r:id="rId9"/>
    <p:sldId id="294" r:id="rId10"/>
    <p:sldId id="274" r:id="rId11"/>
    <p:sldId id="275" r:id="rId12"/>
    <p:sldId id="276" r:id="rId13"/>
    <p:sldId id="277" r:id="rId14"/>
    <p:sldId id="262" r:id="rId15"/>
    <p:sldId id="279" r:id="rId16"/>
    <p:sldId id="280" r:id="rId17"/>
    <p:sldId id="281" r:id="rId18"/>
    <p:sldId id="299" r:id="rId19"/>
    <p:sldId id="283" r:id="rId20"/>
    <p:sldId id="284" r:id="rId21"/>
    <p:sldId id="288" r:id="rId22"/>
    <p:sldId id="287" r:id="rId23"/>
    <p:sldId id="301" r:id="rId24"/>
    <p:sldId id="302" r:id="rId25"/>
    <p:sldId id="304" r:id="rId26"/>
    <p:sldId id="289" r:id="rId27"/>
    <p:sldId id="300" r:id="rId28"/>
    <p:sldId id="271" r:id="rId29"/>
  </p:sldIdLst>
  <p:sldSz cx="12192000" cy="6858000"/>
  <p:notesSz cx="6858000" cy="9144000"/>
  <p:embeddedFontLst>
    <p:embeddedFont>
      <p:font typeface="마루 부리 굵은" panose="020B0600000101010101" charset="-127"/>
      <p:bold r:id="rId31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0" autoAdjust="0"/>
    <p:restoredTop sz="96128" autoAdjust="0"/>
  </p:normalViewPr>
  <p:slideViewPr>
    <p:cSldViewPr snapToGrid="0">
      <p:cViewPr varScale="1">
        <p:scale>
          <a:sx n="106" d="100"/>
          <a:sy n="106" d="100"/>
        </p:scale>
        <p:origin x="132" y="6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C8CFF3B-4F1B-4217-80D4-581183084916}" type="datetime1">
              <a:rPr lang="ko-KR" altLang="en-US"/>
              <a:pPr lvl="0"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86FF643-C473-46F9-9DA0-93C85BDB7C3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86FF643-C473-46F9-9DA0-93C85BDB7C31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402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86FF643-C473-46F9-9DA0-93C85BDB7C31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89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C62E6-0B59-519B-B01B-C97382939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6C7AE-E4BA-083C-0AEE-B58453FE3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3CF2D-1303-793E-D2E7-57BD7465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D7A48-7A8F-23E1-FB61-B2629405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14464-E786-7751-7AF9-42325C46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15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825B-1C53-B25D-119F-C24D53BD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46D1E-A10F-E499-1CE0-0D1322899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90EFB-2B0B-A848-7935-BC5A385C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D6FC2-DBA2-0E6C-83EB-DCFDA332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5BC3F-C2A9-627F-66CF-36162BE2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23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DC5F6-3722-2825-551F-BA3782DF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59BF14-A136-650B-88BC-E5B68B705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DAAFD-B420-79EA-4CE8-43700E33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699DB-8BFC-BB91-1505-56160364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4ACEE7-F5A2-97D0-0E89-E3126ABB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4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AF30-C73B-F2E4-D532-F178EB79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99475-9F56-C606-EBDB-AB79D3382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5410E7-7323-F67C-3544-72ADE0A84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5930E4-7071-65C3-D22B-3B7329BF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5D69F9-82A9-E1E3-EFDA-14195CCA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3139A4-E9C8-C8A8-74B7-AEEE458F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68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EFDB1-88EB-9856-91A5-F94D8CDA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8FD528-8117-7132-6645-EA304BD4D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DAF541-F76F-D66C-9A5E-17AB29EB2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83D9A4-E021-600E-D0A2-E2F1E2354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75FB93-ECEB-870E-859F-8BB3BB4EA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D54E4-11C0-27AA-6902-BB0DAAEF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1595F3-C6C8-FF3B-1A6E-C129C6B7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2A39F5-5345-9D55-FF95-3784FD9B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60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1C8DB-2F49-30A2-073B-089EA0F9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4393D6-E2DC-4574-6E48-E32E24AC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9B529C-B302-BD30-CE3B-464CC88B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9ED094-5724-A0C0-9D0F-1D9CFDEE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49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2D0A18-B1D7-53EB-1DDE-9B5E4ED4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495A8E-4C41-A129-14AA-D763C872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E98FE0-75FB-2635-829A-AB754A55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12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34679-7BC7-92CB-C04A-E3F4EDAD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6AAB7-E131-DD41-9343-42FEF45EE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30F223-4110-61DF-FE10-C2C54F32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C2F1FB-03C5-56C9-DFEA-576EF9F8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278E54-A073-D785-2B24-DD9AEFC4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5AC74D-BB51-8120-6248-46EE31C8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83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10C64-1654-F831-53C4-A16CA7F1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1DBC73-FA14-DCF5-43FE-35BD6FE52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216E5A-B923-44AD-E056-BA1B15994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5ECC10-A99F-4D06-C4EA-A3E7B389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5983BE-B485-B281-FABC-9A055406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9EA400-C58B-042B-E6C4-D5E916BD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57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7343A-0F6B-1D2A-7553-E14FEEE3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A39495-6CE7-8171-AF76-049BB8B69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F9E96B-B805-5779-EDC4-96E835A5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80D53-8697-08B1-793C-FE1EFB0F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0EC199-9386-4C13-664A-031D7D8D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24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D6CFB6-2261-9462-95A7-C20EB973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C05CAC-7398-F8AA-9065-BEFC308D9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2AC38-BA02-A520-7736-607B816A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9411E-9ECF-AFF3-78F0-CFD171E0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2783A-E33C-3E2C-16ED-EDE005C2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2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375955-A620-20E0-E8BE-78E6BACC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32A2F9-E97C-C136-62ED-25063705E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9D8388-2CD4-E58B-D824-E053FA485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5C7AC-79AA-42B7-AD48-FC3EEBB20ED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564A8D-4AFE-AEC7-10A7-E5B40BF19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C5CA32-5FFB-2392-E92F-A57233CDF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27B1F-75CF-48FF-A513-158CAC2A80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14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E625B78-8376-C92D-6D0F-518CA6F7D611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9BC0E-FF3A-B6DB-382B-4BA4633E2A4C}"/>
              </a:ext>
            </a:extLst>
          </p:cNvPr>
          <p:cNvSpPr txBox="1"/>
          <p:nvPr/>
        </p:nvSpPr>
        <p:spPr>
          <a:xfrm>
            <a:off x="1194107" y="2117796"/>
            <a:ext cx="5749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Context Hunter</a:t>
            </a:r>
            <a:endParaRPr lang="ko-KR" altLang="en-US" sz="4800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F7066E-EC0F-84B8-9C35-130097E49FD8}"/>
              </a:ext>
            </a:extLst>
          </p:cNvPr>
          <p:cNvSpPr txBox="1"/>
          <p:nvPr/>
        </p:nvSpPr>
        <p:spPr>
          <a:xfrm>
            <a:off x="1194107" y="3383428"/>
            <a:ext cx="5322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설계 문서</a:t>
            </a:r>
            <a:endParaRPr lang="ko-KR" altLang="en-US" sz="2400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92A3C-959B-1481-420C-D7D8D5A991AB}"/>
              </a:ext>
            </a:extLst>
          </p:cNvPr>
          <p:cNvSpPr txBox="1"/>
          <p:nvPr/>
        </p:nvSpPr>
        <p:spPr>
          <a:xfrm>
            <a:off x="1194107" y="456633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Presented by </a:t>
            </a:r>
            <a:r>
              <a:rPr lang="en-US" altLang="ko-KR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HuSH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pic>
        <p:nvPicPr>
          <p:cNvPr id="3" name="그림 2" descr="댄스, 의류, 신발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C5DDD9-9441-DDB6-4D33-C510E1A107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393" y="1428750"/>
            <a:ext cx="4000500" cy="4000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B23189-7BA4-E61E-3ABD-7E1A4AFE3C96}"/>
              </a:ext>
            </a:extLst>
          </p:cNvPr>
          <p:cNvSpPr txBox="1"/>
          <p:nvPr/>
        </p:nvSpPr>
        <p:spPr>
          <a:xfrm>
            <a:off x="1194107" y="4997790"/>
            <a:ext cx="6097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허서준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송힘찬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전성원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홍준표</a:t>
            </a:r>
            <a:endParaRPr lang="en-US" altLang="ko-KR" sz="1200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837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F26D6E0-D4FA-6EA3-CAE2-0ADBC4A6ADDA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0E6B5DE0-08FD-915B-9A00-F70EC8CC0740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294A19-D5CB-39D7-3AC1-FB2955F3A7CF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목차</a:t>
            </a:r>
            <a:endParaRPr lang="ko-KR" altLang="en-US" sz="10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48A81-8AE7-F9F5-399D-3E9E059059C4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목차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9CC1585-056E-F2BD-17E0-745AC0A7660B}"/>
              </a:ext>
            </a:extLst>
          </p:cNvPr>
          <p:cNvSpPr>
            <a:spLocks/>
          </p:cNvSpPr>
          <p:nvPr/>
        </p:nvSpPr>
        <p:spPr>
          <a:xfrm>
            <a:off x="6339891" y="1867345"/>
            <a:ext cx="3597150" cy="40648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AC32D3-BAC6-F838-B4D0-4552511FFEBF}"/>
              </a:ext>
            </a:extLst>
          </p:cNvPr>
          <p:cNvSpPr txBox="1"/>
          <p:nvPr/>
        </p:nvSpPr>
        <p:spPr>
          <a:xfrm>
            <a:off x="6799778" y="2064193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50586CC-4F90-8C89-9DDE-7F83467DC2DA}"/>
              </a:ext>
            </a:extLst>
          </p:cNvPr>
          <p:cNvSpPr/>
          <p:nvPr/>
        </p:nvSpPr>
        <p:spPr>
          <a:xfrm>
            <a:off x="6541375" y="2538040"/>
            <a:ext cx="3183650" cy="31674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4491DEC-6491-A5D0-D5F5-04B0A6B60EFA}"/>
              </a:ext>
            </a:extLst>
          </p:cNvPr>
          <p:cNvSpPr/>
          <p:nvPr/>
        </p:nvSpPr>
        <p:spPr>
          <a:xfrm>
            <a:off x="5852109" y="3804507"/>
            <a:ext cx="487782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2B84FE1-70D8-84AE-C503-FA783F6AEC28}"/>
              </a:ext>
            </a:extLst>
          </p:cNvPr>
          <p:cNvSpPr/>
          <p:nvPr/>
        </p:nvSpPr>
        <p:spPr>
          <a:xfrm>
            <a:off x="2254959" y="1867344"/>
            <a:ext cx="3597150" cy="40648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132951-B726-F2CB-F7B3-2A4B03E10621}"/>
              </a:ext>
            </a:extLst>
          </p:cNvPr>
          <p:cNvSpPr txBox="1"/>
          <p:nvPr/>
        </p:nvSpPr>
        <p:spPr>
          <a:xfrm>
            <a:off x="2756477" y="2064193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A15E555-81C6-5900-D7B3-A7FA1A865C95}"/>
              </a:ext>
            </a:extLst>
          </p:cNvPr>
          <p:cNvSpPr/>
          <p:nvPr/>
        </p:nvSpPr>
        <p:spPr>
          <a:xfrm>
            <a:off x="2458673" y="2538040"/>
            <a:ext cx="3179349" cy="31674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E2252F-417E-C354-68FC-AD29F9B26802}"/>
              </a:ext>
            </a:extLst>
          </p:cNvPr>
          <p:cNvSpPr txBox="1"/>
          <p:nvPr/>
        </p:nvSpPr>
        <p:spPr>
          <a:xfrm>
            <a:off x="2466975" y="2942815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시스템 개요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BBEFBC-469D-4C62-36D7-19D3CA7DAD6D}"/>
              </a:ext>
            </a:extLst>
          </p:cNvPr>
          <p:cNvSpPr txBox="1"/>
          <p:nvPr/>
        </p:nvSpPr>
        <p:spPr>
          <a:xfrm>
            <a:off x="2466975" y="3242656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전체 아키텍처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945825-9B54-30BA-471C-F2DD8246F632}"/>
              </a:ext>
            </a:extLst>
          </p:cNvPr>
          <p:cNvSpPr txBox="1"/>
          <p:nvPr/>
        </p:nvSpPr>
        <p:spPr>
          <a:xfrm>
            <a:off x="2466975" y="3542497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기술 스택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A9C6ED-CB37-FE8C-1A49-12D9D179F75B}"/>
              </a:ext>
            </a:extLst>
          </p:cNvPr>
          <p:cNvSpPr txBox="1"/>
          <p:nvPr/>
        </p:nvSpPr>
        <p:spPr>
          <a:xfrm>
            <a:off x="2466975" y="3842338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데이터 흐름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23521D-0DC8-8ABD-C534-6EB1FE4E87F5}"/>
              </a:ext>
            </a:extLst>
          </p:cNvPr>
          <p:cNvSpPr txBox="1"/>
          <p:nvPr/>
        </p:nvSpPr>
        <p:spPr>
          <a:xfrm>
            <a:off x="2466975" y="4140250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주요 모듈 설명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1EA50B-5EEB-EC7A-477F-F7A684941A30}"/>
              </a:ext>
            </a:extLst>
          </p:cNvPr>
          <p:cNvSpPr txBox="1"/>
          <p:nvPr/>
        </p:nvSpPr>
        <p:spPr>
          <a:xfrm>
            <a:off x="2466975" y="4438162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인터페이스 정의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7BF318-9A92-B407-C521-0B7B5D2F0788}"/>
              </a:ext>
            </a:extLst>
          </p:cNvPr>
          <p:cNvSpPr txBox="1"/>
          <p:nvPr/>
        </p:nvSpPr>
        <p:spPr>
          <a:xfrm>
            <a:off x="2466975" y="4736074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성능</a:t>
            </a:r>
            <a:r>
              <a:rPr lang="en-US" altLang="ko-KR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</a:t>
            </a:r>
            <a:r>
              <a:rPr lang="en-US" altLang="ko-KR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확장성 고려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D30635-A616-C4A6-BF76-D54CAA5EBCAB}"/>
              </a:ext>
            </a:extLst>
          </p:cNvPr>
          <p:cNvSpPr txBox="1"/>
          <p:nvPr/>
        </p:nvSpPr>
        <p:spPr>
          <a:xfrm>
            <a:off x="6545677" y="2942815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클래스</a:t>
            </a:r>
            <a:r>
              <a:rPr lang="en-US" altLang="ko-KR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모듈 상세 디자인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20149C-3A2E-86ED-F863-ECF192B3A1CC}"/>
              </a:ext>
            </a:extLst>
          </p:cNvPr>
          <p:cNvSpPr txBox="1"/>
          <p:nvPr/>
        </p:nvSpPr>
        <p:spPr>
          <a:xfrm>
            <a:off x="6545677" y="3242656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BE5BFE-BF9A-6F4A-F685-F6257862FEA6}"/>
              </a:ext>
            </a:extLst>
          </p:cNvPr>
          <p:cNvSpPr txBox="1"/>
          <p:nvPr/>
        </p:nvSpPr>
        <p:spPr>
          <a:xfrm>
            <a:off x="6545677" y="3542497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 </a:t>
            </a:r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0AA865-4C7A-0A65-ED67-E053AB9A40E4}"/>
              </a:ext>
            </a:extLst>
          </p:cNvPr>
          <p:cNvSpPr txBox="1"/>
          <p:nvPr/>
        </p:nvSpPr>
        <p:spPr>
          <a:xfrm>
            <a:off x="6545677" y="3842338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알고리즘</a:t>
            </a:r>
            <a:r>
              <a:rPr lang="en-US" altLang="ko-KR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로직 상세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65AE72-ACE1-F2EF-9343-E99FCA4E90F3}"/>
              </a:ext>
            </a:extLst>
          </p:cNvPr>
          <p:cNvSpPr txBox="1"/>
          <p:nvPr/>
        </p:nvSpPr>
        <p:spPr>
          <a:xfrm>
            <a:off x="6545677" y="4140250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4EC57-CA15-CF0B-6508-FE22DF310553}"/>
              </a:ext>
            </a:extLst>
          </p:cNvPr>
          <p:cNvSpPr txBox="1"/>
          <p:nvPr/>
        </p:nvSpPr>
        <p:spPr>
          <a:xfrm>
            <a:off x="2466975" y="5033986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제한사항 및 가정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5B65E-13B4-FA57-266F-7AB2A60179A2}"/>
              </a:ext>
            </a:extLst>
          </p:cNvPr>
          <p:cNvSpPr txBox="1"/>
          <p:nvPr/>
        </p:nvSpPr>
        <p:spPr>
          <a:xfrm>
            <a:off x="6545677" y="4438162"/>
            <a:ext cx="3187650" cy="2539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 및 설정</a:t>
            </a:r>
          </a:p>
        </p:txBody>
      </p:sp>
    </p:spTree>
    <p:extLst>
      <p:ext uri="{BB962C8B-B14F-4D97-AF65-F5344CB8AC3E}">
        <p14:creationId xmlns:p14="http://schemas.microsoft.com/office/powerpoint/2010/main" val="45796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5C7E9-CC1F-E998-4427-A85FB587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94C2876-DF67-73C0-90C4-7326DE9E8D0E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DAB3BDF5-F551-58FF-11BE-F8B4F595F10F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87768-8C4F-4B9B-65AD-4C1875EFECB1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CAA2E-9D27-4EBD-E1E9-FEBFE5B38FC3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시스템 개요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시스템 목적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75ED1-95DD-A235-CE0F-F85CB5391416}"/>
              </a:ext>
            </a:extLst>
          </p:cNvPr>
          <p:cNvSpPr txBox="1"/>
          <p:nvPr/>
        </p:nvSpPr>
        <p:spPr>
          <a:xfrm>
            <a:off x="2128834" y="1866648"/>
            <a:ext cx="793432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E2841">
                    <a:lumMod val="75000"/>
                    <a:lumOff val="25000"/>
                  </a:srgb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Context Hunter</a:t>
            </a: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는</a:t>
            </a: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사용자가 문장을 읽고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자신이 이해한 바를 입력하면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</a:t>
            </a: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이를 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</a:t>
            </a: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가 채점하고 평가하여</a:t>
            </a: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문해력 향상에 도움을 주는 웹 기반 게임 서비스입니다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단순한 문맥에 알맞은 단어 맞추기가 아닌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</a:t>
            </a:r>
          </a:p>
          <a:p>
            <a:pPr lvl="0" algn="ctr">
              <a:defRPr/>
            </a:pPr>
            <a:endParaRPr lang="en-US" altLang="ko-KR" dirty="0">
              <a:solidFill>
                <a:prstClr val="black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문장의 의미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그 자체를 파악하는 능력을 기르는 것을 목표로 합니다</a:t>
            </a:r>
            <a:r>
              <a:rPr lang="en-US" altLang="ko-KR" dirty="0">
                <a:solidFill>
                  <a:prstClr val="black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40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9F8DC5F-7A31-E677-1EDC-9D98A6D8CBC7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86103812-197A-1738-5239-6D1D96C99B10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1AC89-6F89-0F57-05F2-18587DC09E13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861B6-037C-1945-A219-78F1EB3E98E6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시스템 개요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전체 기능 요약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D9C9559-6190-F059-33A9-530714F7AA91}"/>
              </a:ext>
            </a:extLst>
          </p:cNvPr>
          <p:cNvSpPr/>
          <p:nvPr/>
        </p:nvSpPr>
        <p:spPr>
          <a:xfrm>
            <a:off x="2446339" y="2431990"/>
            <a:ext cx="2095499" cy="43230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사용자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5AE4EB-F795-171D-8E0B-4FA7C5300C07}"/>
              </a:ext>
            </a:extLst>
          </p:cNvPr>
          <p:cNvSpPr/>
          <p:nvPr/>
        </p:nvSpPr>
        <p:spPr>
          <a:xfrm>
            <a:off x="4701157" y="2431989"/>
            <a:ext cx="504450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회원가입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,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로그인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(JWT),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게스트 모드 지원</a:t>
            </a:r>
            <a:endParaRPr lang="en-US" altLang="ko-KR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70948B6-9F74-77DF-4050-B95398C52FC0}"/>
              </a:ext>
            </a:extLst>
          </p:cNvPr>
          <p:cNvSpPr/>
          <p:nvPr/>
        </p:nvSpPr>
        <p:spPr>
          <a:xfrm>
            <a:off x="4701157" y="3000757"/>
            <a:ext cx="504450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일일 모드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: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매일 제공되는 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10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문제 풀이</a:t>
            </a:r>
            <a:endParaRPr lang="en-US" altLang="ko-KR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도전 모드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: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무한 문제 풀이 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(3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회 오답 시 종료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FE75CF3-2A46-A62D-B5B7-64A4FB0FFF20}"/>
              </a:ext>
            </a:extLst>
          </p:cNvPr>
          <p:cNvSpPr/>
          <p:nvPr/>
        </p:nvSpPr>
        <p:spPr>
          <a:xfrm>
            <a:off x="4701157" y="3569523"/>
            <a:ext cx="504450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사용자 답안의 문맥 유사도 분석 및 정답 판별 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(Llama 3.1 8b </a:t>
            </a: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활용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1FC7E54-9E82-6DAD-785C-72E75EFB96C0}"/>
              </a:ext>
            </a:extLst>
          </p:cNvPr>
          <p:cNvSpPr/>
          <p:nvPr/>
        </p:nvSpPr>
        <p:spPr>
          <a:xfrm>
            <a:off x="2446339" y="3000756"/>
            <a:ext cx="2095499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게임 모드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12EC93E-9EFA-76A7-FF02-69689DAFBF17}"/>
              </a:ext>
            </a:extLst>
          </p:cNvPr>
          <p:cNvSpPr/>
          <p:nvPr/>
        </p:nvSpPr>
        <p:spPr>
          <a:xfrm>
            <a:off x="2446339" y="3570319"/>
            <a:ext cx="2095499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AI 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분석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266E090-302C-16D3-7907-B9AB9CB8FC09}"/>
              </a:ext>
            </a:extLst>
          </p:cNvPr>
          <p:cNvSpPr/>
          <p:nvPr/>
        </p:nvSpPr>
        <p:spPr>
          <a:xfrm>
            <a:off x="2438401" y="1863221"/>
            <a:ext cx="2095499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기능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E9C8A1-D9BF-9FC5-72DB-2744D3AB2D4A}"/>
              </a:ext>
            </a:extLst>
          </p:cNvPr>
          <p:cNvSpPr/>
          <p:nvPr/>
        </p:nvSpPr>
        <p:spPr>
          <a:xfrm>
            <a:off x="4667251" y="1863221"/>
            <a:ext cx="5078410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설명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1ED65A-4163-BB78-324F-67580E1ABC28}"/>
              </a:ext>
            </a:extLst>
          </p:cNvPr>
          <p:cNvSpPr/>
          <p:nvPr/>
        </p:nvSpPr>
        <p:spPr>
          <a:xfrm>
            <a:off x="4701157" y="4138290"/>
            <a:ext cx="504450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오답 노트 저장 및 복습 기능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AC46893-88DD-3C19-84CB-DF625CB5B5A4}"/>
              </a:ext>
            </a:extLst>
          </p:cNvPr>
          <p:cNvSpPr/>
          <p:nvPr/>
        </p:nvSpPr>
        <p:spPr>
          <a:xfrm>
            <a:off x="4701157" y="4707056"/>
            <a:ext cx="504450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도전 모드 점수 기반 글로벌 랭킹 및 명예의 전당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CB30C79-8613-CE7A-2F59-E084DCE98A82}"/>
              </a:ext>
            </a:extLst>
          </p:cNvPr>
          <p:cNvSpPr/>
          <p:nvPr/>
        </p:nvSpPr>
        <p:spPr>
          <a:xfrm>
            <a:off x="2446339" y="4138289"/>
            <a:ext cx="2095499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학습 보조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011B93-498C-AFDA-8EDC-97EDCE614CA2}"/>
              </a:ext>
            </a:extLst>
          </p:cNvPr>
          <p:cNvSpPr/>
          <p:nvPr/>
        </p:nvSpPr>
        <p:spPr>
          <a:xfrm>
            <a:off x="2446339" y="4707852"/>
            <a:ext cx="2095499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랭킹 시스템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6DD6D85-8624-200E-BBEF-A8009F02BAEF}"/>
              </a:ext>
            </a:extLst>
          </p:cNvPr>
          <p:cNvSpPr/>
          <p:nvPr/>
        </p:nvSpPr>
        <p:spPr>
          <a:xfrm>
            <a:off x="4693219" y="5275822"/>
            <a:ext cx="504450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게임 결과 공유 기능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7BF883-0255-BA10-0747-238B50C1B0CB}"/>
              </a:ext>
            </a:extLst>
          </p:cNvPr>
          <p:cNvSpPr/>
          <p:nvPr/>
        </p:nvSpPr>
        <p:spPr>
          <a:xfrm>
            <a:off x="2438401" y="5276618"/>
            <a:ext cx="2095499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소셜 공유</a:t>
            </a:r>
          </a:p>
        </p:txBody>
      </p:sp>
    </p:spTree>
    <p:extLst>
      <p:ext uri="{BB962C8B-B14F-4D97-AF65-F5344CB8AC3E}">
        <p14:creationId xmlns:p14="http://schemas.microsoft.com/office/powerpoint/2010/main" val="98981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B498E-8A71-5794-DE93-750E6D9B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2DB7F36-3DDE-F5F7-3D3E-9DACB4D08628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8F98C230-8C9C-1F9B-58CD-DA9D86001909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D57DF-CFF3-9026-9E95-89165C4345D9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63DBC-7666-E642-8F09-41FFB703F280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시스템 개요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유형 및 운영 환경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34ABA58-C74F-00B7-59C6-6A1B0C119369}"/>
              </a:ext>
            </a:extLst>
          </p:cNvPr>
          <p:cNvSpPr/>
          <p:nvPr/>
        </p:nvSpPr>
        <p:spPr>
          <a:xfrm>
            <a:off x="2209800" y="1867344"/>
            <a:ext cx="3690785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BB72878-1133-F0A5-D139-C39045DDE546}"/>
              </a:ext>
            </a:extLst>
          </p:cNvPr>
          <p:cNvSpPr>
            <a:spLocks/>
          </p:cNvSpPr>
          <p:nvPr/>
        </p:nvSpPr>
        <p:spPr>
          <a:xfrm>
            <a:off x="6291417" y="1867344"/>
            <a:ext cx="3607523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A6F9B-42EB-EC51-CED4-01246BE6EA93}"/>
              </a:ext>
            </a:extLst>
          </p:cNvPr>
          <p:cNvSpPr txBox="1"/>
          <p:nvPr/>
        </p:nvSpPr>
        <p:spPr>
          <a:xfrm>
            <a:off x="6761678" y="2064192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운영 환경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DF9C-B9E0-A819-C483-CDB188C9ED89}"/>
              </a:ext>
            </a:extLst>
          </p:cNvPr>
          <p:cNvSpPr txBox="1"/>
          <p:nvPr/>
        </p:nvSpPr>
        <p:spPr>
          <a:xfrm>
            <a:off x="2721692" y="2064192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유형 및 시나리오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D1AE1DE-9304-E4A2-9CC5-C438C1854128}"/>
              </a:ext>
            </a:extLst>
          </p:cNvPr>
          <p:cNvSpPr/>
          <p:nvPr/>
        </p:nvSpPr>
        <p:spPr>
          <a:xfrm>
            <a:off x="2463289" y="2538039"/>
            <a:ext cx="3183806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B624E-8BE1-B1F4-A83B-CF2927B9608E}"/>
              </a:ext>
            </a:extLst>
          </p:cNvPr>
          <p:cNvSpPr txBox="1"/>
          <p:nvPr/>
        </p:nvSpPr>
        <p:spPr>
          <a:xfrm>
            <a:off x="2867414" y="2693567"/>
            <a:ext cx="23755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일반 사용자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회원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로그인 후 모든 게임 모드 이용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오답 노트 저장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랭킹 등록 가능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게스트 사용자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로그인 없이 게임 플레이 가능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랭킹 등록 및 오답 노트 저장 제한적 허용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또는 불가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4E1CCC-220F-4965-6F86-D05EF7B8CFCD}"/>
              </a:ext>
            </a:extLst>
          </p:cNvPr>
          <p:cNvSpPr/>
          <p:nvPr/>
        </p:nvSpPr>
        <p:spPr>
          <a:xfrm>
            <a:off x="6503275" y="2538039"/>
            <a:ext cx="3183806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C33EFA-59E7-DA07-4A7F-C229C1D7848C}"/>
              </a:ext>
            </a:extLst>
          </p:cNvPr>
          <p:cNvSpPr txBox="1"/>
          <p:nvPr/>
        </p:nvSpPr>
        <p:spPr>
          <a:xfrm>
            <a:off x="6907400" y="2693567"/>
            <a:ext cx="237555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Client: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웹 브라우저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(Chrome, Safari, Edge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등 최신 브라우저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Server: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Linux/Windows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환경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Python Runtime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Database: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SQLite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개발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/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로컬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), MariaDB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운영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614387-E49C-E6CF-FCF4-AB9DA0DF1316}"/>
              </a:ext>
            </a:extLst>
          </p:cNvPr>
          <p:cNvSpPr/>
          <p:nvPr/>
        </p:nvSpPr>
        <p:spPr>
          <a:xfrm>
            <a:off x="5897270" y="3333750"/>
            <a:ext cx="395285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6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BBCD3B-E284-7782-D50E-52B29A7E88D9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8FF66A59-5E58-FDFE-AB27-ACEA1A82BD84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8186B-83D1-FE1E-6172-6DE6A6332294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86CC4D2-E85B-292A-D4F0-010180578371}"/>
              </a:ext>
            </a:extLst>
          </p:cNvPr>
          <p:cNvSpPr/>
          <p:nvPr/>
        </p:nvSpPr>
        <p:spPr>
          <a:xfrm>
            <a:off x="791789" y="1860549"/>
            <a:ext cx="6398283" cy="40716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C93AA-57D4-872D-57D3-D312D7DCB364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전체 아키텍처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91F489-EE2F-E8A6-D8A5-0A0A1401523C}"/>
              </a:ext>
            </a:extLst>
          </p:cNvPr>
          <p:cNvSpPr/>
          <p:nvPr/>
        </p:nvSpPr>
        <p:spPr>
          <a:xfrm>
            <a:off x="3285879" y="2200557"/>
            <a:ext cx="1371600" cy="45027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 (Browser)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ECDE58-9E5B-ABB1-30E2-1233527FDDF6}"/>
              </a:ext>
            </a:extLst>
          </p:cNvPr>
          <p:cNvSpPr/>
          <p:nvPr/>
        </p:nvSpPr>
        <p:spPr>
          <a:xfrm>
            <a:off x="3285879" y="3170731"/>
            <a:ext cx="1371600" cy="45027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Load Balancer / Reverse Proxy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5A97E9-B323-F60D-F48F-D8B478AE7BE4}"/>
              </a:ext>
            </a:extLst>
          </p:cNvPr>
          <p:cNvSpPr/>
          <p:nvPr/>
        </p:nvSpPr>
        <p:spPr>
          <a:xfrm>
            <a:off x="4242205" y="4140905"/>
            <a:ext cx="1371600" cy="45027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 API (</a:t>
            </a:r>
            <a:r>
              <a:rPr lang="en-US" altLang="ko-KR" sz="105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FastAPI</a:t>
            </a:r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A00841-3B27-6E91-FF3A-6F78E2DBCF80}"/>
              </a:ext>
            </a:extLst>
          </p:cNvPr>
          <p:cNvSpPr/>
          <p:nvPr/>
        </p:nvSpPr>
        <p:spPr>
          <a:xfrm>
            <a:off x="5228350" y="5111076"/>
            <a:ext cx="1371600" cy="45027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 Service (Llama 3.1 8b)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4E7AC2-8D16-02ED-E366-3D270C40AC78}"/>
              </a:ext>
            </a:extLst>
          </p:cNvPr>
          <p:cNvSpPr/>
          <p:nvPr/>
        </p:nvSpPr>
        <p:spPr>
          <a:xfrm>
            <a:off x="3285879" y="5111077"/>
            <a:ext cx="1371600" cy="45027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(Database)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06CCB6-92E4-9AD3-AFBC-AED4C154B46D}"/>
              </a:ext>
            </a:extLst>
          </p:cNvPr>
          <p:cNvSpPr/>
          <p:nvPr/>
        </p:nvSpPr>
        <p:spPr>
          <a:xfrm>
            <a:off x="2329553" y="4140904"/>
            <a:ext cx="1371600" cy="45027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 (React SPA)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179058B-F69F-2295-834B-2F6431A906C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971679" y="2650830"/>
            <a:ext cx="0" cy="519901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9CA29B50-5127-7FFA-55AA-8CB77E2EA242}"/>
              </a:ext>
            </a:extLst>
          </p:cNvPr>
          <p:cNvCxnSpPr>
            <a:stCxn id="9" idx="2"/>
            <a:endCxn id="15" idx="0"/>
          </p:cNvCxnSpPr>
          <p:nvPr/>
        </p:nvCxnSpPr>
        <p:spPr>
          <a:xfrm rot="5400000">
            <a:off x="3233566" y="3402791"/>
            <a:ext cx="519900" cy="956326"/>
          </a:xfrm>
          <a:prstGeom prst="bentConnector3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95FB4057-9167-B544-8DB2-80EFC0249460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16200000" flipH="1">
            <a:off x="4189892" y="3402791"/>
            <a:ext cx="519901" cy="956326"/>
          </a:xfrm>
          <a:prstGeom prst="bentConnector3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6764D63-E793-5FA7-30E5-03BD6277CB73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rot="5400000">
            <a:off x="4189893" y="4372964"/>
            <a:ext cx="519899" cy="956326"/>
          </a:xfrm>
          <a:prstGeom prst="bentConnector3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10E76A89-CD8C-B468-A245-3C6066493CB2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16200000" flipH="1">
            <a:off x="5161128" y="4358054"/>
            <a:ext cx="519898" cy="986145"/>
          </a:xfrm>
          <a:prstGeom prst="bentConnector3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AE6EBE0-87B2-8E15-5772-5FCB7CEF8E3F}"/>
              </a:ext>
            </a:extLst>
          </p:cNvPr>
          <p:cNvSpPr txBox="1"/>
          <p:nvPr/>
        </p:nvSpPr>
        <p:spPr>
          <a:xfrm>
            <a:off x="3285879" y="2783821"/>
            <a:ext cx="1371600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HTTP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CB53D6-5901-78C7-3211-F10262757208}"/>
              </a:ext>
            </a:extLst>
          </p:cNvPr>
          <p:cNvSpPr txBox="1"/>
          <p:nvPr/>
        </p:nvSpPr>
        <p:spPr>
          <a:xfrm>
            <a:off x="2573579" y="3725216"/>
            <a:ext cx="883547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Static</a:t>
            </a:r>
            <a:r>
              <a:rPr lang="ko-KR" altLang="en-US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Files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F15B9C-5B01-8A72-DB73-C94D21B44D1D}"/>
              </a:ext>
            </a:extLst>
          </p:cNvPr>
          <p:cNvSpPr txBox="1"/>
          <p:nvPr/>
        </p:nvSpPr>
        <p:spPr>
          <a:xfrm>
            <a:off x="4449840" y="3719182"/>
            <a:ext cx="956328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Request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2F913B-5E04-4FFA-DA2D-9661C8903F9E}"/>
              </a:ext>
            </a:extLst>
          </p:cNvPr>
          <p:cNvSpPr txBox="1"/>
          <p:nvPr/>
        </p:nvSpPr>
        <p:spPr>
          <a:xfrm>
            <a:off x="3454660" y="4703073"/>
            <a:ext cx="1034038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SQL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F4F7C2-4A02-4669-D4A4-060AB3EE8D74}"/>
              </a:ext>
            </a:extLst>
          </p:cNvPr>
          <p:cNvSpPr txBox="1"/>
          <p:nvPr/>
        </p:nvSpPr>
        <p:spPr>
          <a:xfrm>
            <a:off x="5397131" y="4703073"/>
            <a:ext cx="1034038" cy="2539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Internal API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2A8472-F1DB-945E-D46B-F3B18D32DFA8}"/>
              </a:ext>
            </a:extLst>
          </p:cNvPr>
          <p:cNvSpPr txBox="1"/>
          <p:nvPr/>
        </p:nvSpPr>
        <p:spPr>
          <a:xfrm>
            <a:off x="7460597" y="1860549"/>
            <a:ext cx="393961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계층 구조 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(Layered Architecture):</a:t>
            </a:r>
          </a:p>
          <a:p>
            <a:endParaRPr lang="en-US" altLang="ko-KR" sz="1600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Presentation Layer (Frontend):</a:t>
            </a:r>
          </a:p>
          <a:p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React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기반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인터랙션 처리 및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UI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렌더링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Application Layer (Backend):</a:t>
            </a:r>
          </a:p>
          <a:p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FastAPI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기반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비즈니스 로직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인증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데이터 처리 담당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Data Layer (Database):</a:t>
            </a:r>
          </a:p>
          <a:p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정보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문제 데이터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게임 기록 등을 저장하는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RDBMS.</a:t>
            </a:r>
          </a:p>
        </p:txBody>
      </p:sp>
    </p:spTree>
    <p:extLst>
      <p:ext uri="{BB962C8B-B14F-4D97-AF65-F5344CB8AC3E}">
        <p14:creationId xmlns:p14="http://schemas.microsoft.com/office/powerpoint/2010/main" val="312151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9F8DC5F-7A31-E677-1EDC-9D98A6D8CBC7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86103812-197A-1738-5239-6D1D96C99B10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1AC89-6F89-0F57-05F2-18587DC09E13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861B6-037C-1945-A219-78F1EB3E98E6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기술 스택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99B76A7-56E8-3B9A-AB9F-7C95D5449CA2}"/>
              </a:ext>
            </a:extLst>
          </p:cNvPr>
          <p:cNvSpPr/>
          <p:nvPr/>
        </p:nvSpPr>
        <p:spPr>
          <a:xfrm>
            <a:off x="2735260" y="2427134"/>
            <a:ext cx="2134371" cy="43230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Frontend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A1DEB5-3623-5624-0369-24347E9CA31F}"/>
              </a:ext>
            </a:extLst>
          </p:cNvPr>
          <p:cNvSpPr/>
          <p:nvPr/>
        </p:nvSpPr>
        <p:spPr>
          <a:xfrm>
            <a:off x="5032664" y="2431989"/>
            <a:ext cx="4416137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TypeScript, React 19, Vite, Tailwind CSS 4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07E253F-C447-22C7-9C1B-9F52CA36CBF2}"/>
              </a:ext>
            </a:extLst>
          </p:cNvPr>
          <p:cNvSpPr/>
          <p:nvPr/>
        </p:nvSpPr>
        <p:spPr>
          <a:xfrm>
            <a:off x="5024724" y="2991047"/>
            <a:ext cx="4416137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Python 3.x, </a:t>
            </a:r>
            <a:r>
              <a:rPr lang="en-US" altLang="ko-KR" sz="1300" b="1" dirty="0" err="1">
                <a:solidFill>
                  <a:schemeClr val="tx1"/>
                </a:solidFill>
                <a:latin typeface="마루 부리 굵은"/>
                <a:ea typeface="마루 부리 굵은"/>
              </a:rPr>
              <a:t>FastAPI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F55C9ED-CA43-48E5-12D1-AD77BB805E74}"/>
              </a:ext>
            </a:extLst>
          </p:cNvPr>
          <p:cNvSpPr/>
          <p:nvPr/>
        </p:nvSpPr>
        <p:spPr>
          <a:xfrm>
            <a:off x="5024724" y="3559813"/>
            <a:ext cx="4416137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MariaDB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3DE63FD-7850-099A-A5B4-45F106EE4810}"/>
              </a:ext>
            </a:extLst>
          </p:cNvPr>
          <p:cNvSpPr/>
          <p:nvPr/>
        </p:nvSpPr>
        <p:spPr>
          <a:xfrm>
            <a:off x="5024724" y="4126139"/>
            <a:ext cx="4416137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Llama 3.1 8b</a:t>
            </a:r>
            <a:endParaRPr lang="en-US" altLang="ko-KR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E02CD43-D7BC-B846-4B64-8538E6569767}"/>
              </a:ext>
            </a:extLst>
          </p:cNvPr>
          <p:cNvSpPr/>
          <p:nvPr/>
        </p:nvSpPr>
        <p:spPr>
          <a:xfrm>
            <a:off x="2735259" y="2991046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Backend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6D79849-F541-2D66-EC70-7D9887F1F496}"/>
              </a:ext>
            </a:extLst>
          </p:cNvPr>
          <p:cNvSpPr/>
          <p:nvPr/>
        </p:nvSpPr>
        <p:spPr>
          <a:xfrm>
            <a:off x="2735259" y="4124522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AI Engine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369335A-E41C-0C51-45B5-E65B40A1BEBF}"/>
              </a:ext>
            </a:extLst>
          </p:cNvPr>
          <p:cNvSpPr/>
          <p:nvPr/>
        </p:nvSpPr>
        <p:spPr>
          <a:xfrm>
            <a:off x="2735259" y="3560609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Main DB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8CA16FD-B442-133B-C268-F06589551F72}"/>
              </a:ext>
            </a:extLst>
          </p:cNvPr>
          <p:cNvSpPr/>
          <p:nvPr/>
        </p:nvSpPr>
        <p:spPr>
          <a:xfrm>
            <a:off x="2735261" y="1863221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카테고리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7A0D453-5A10-CF1E-FA33-EE38A0FC3440}"/>
              </a:ext>
            </a:extLst>
          </p:cNvPr>
          <p:cNvSpPr/>
          <p:nvPr/>
        </p:nvSpPr>
        <p:spPr>
          <a:xfrm>
            <a:off x="5002982" y="1863221"/>
            <a:ext cx="4445819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기술</a:t>
            </a:r>
          </a:p>
        </p:txBody>
      </p:sp>
    </p:spTree>
    <p:extLst>
      <p:ext uri="{BB962C8B-B14F-4D97-AF65-F5344CB8AC3E}">
        <p14:creationId xmlns:p14="http://schemas.microsoft.com/office/powerpoint/2010/main" val="69241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835E3-86C4-6E9C-6933-09829A36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25830EA-749A-B437-29FD-3D0B05662A90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FEEC8162-A47F-025B-2CC2-D940E41B129D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F0DF3-1B5A-CB3C-2871-2A6BF85793C2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C8C29-EEE3-B1F4-4052-A814EC10DF8A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데이터 흐름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3E06B-8750-1C92-C9EB-CEAF12D3BF72}"/>
              </a:ext>
            </a:extLst>
          </p:cNvPr>
          <p:cNvSpPr txBox="1"/>
          <p:nvPr/>
        </p:nvSpPr>
        <p:spPr>
          <a:xfrm>
            <a:off x="2501303" y="1860549"/>
            <a:ext cx="71893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답안 입력 및 제출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Frontend: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서버로 검증 요청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(POST /</a:t>
            </a:r>
            <a:r>
              <a:rPr lang="en-US" altLang="ko-K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/verify)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서비스에 사용자 답안과 정답의 유사도 분석 요청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유사도 점수 및 정답 여부 판별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결과를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DB(Attempt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테이블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에 기록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Frontend: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결과 수신 및 사용자에게 피드백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성공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실패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유사도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표시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7772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EF1DE-EB25-A349-23E8-C23755A0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6682835-A6EF-A64F-B8B0-28E8745DBD7D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AD54CDAD-6097-D058-D49B-4E82DF53AA49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E0317F-0C74-7125-0BE1-7F3B0F149916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64B755-E9C5-AA4E-589C-6477698A04FD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데이터 흐름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Data Flow Diagram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655AD35-DBAA-8976-3A31-6D74121C16A8}"/>
              </a:ext>
            </a:extLst>
          </p:cNvPr>
          <p:cNvSpPr/>
          <p:nvPr/>
        </p:nvSpPr>
        <p:spPr>
          <a:xfrm>
            <a:off x="791789" y="1860549"/>
            <a:ext cx="10608415" cy="40716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8A26AFF-46D3-3840-F568-CF27412F8C02}"/>
              </a:ext>
            </a:extLst>
          </p:cNvPr>
          <p:cNvSpPr/>
          <p:nvPr/>
        </p:nvSpPr>
        <p:spPr>
          <a:xfrm>
            <a:off x="5750688" y="2308813"/>
            <a:ext cx="690623" cy="47456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83122F-1608-888D-49F0-0FA90F753941}"/>
              </a:ext>
            </a:extLst>
          </p:cNvPr>
          <p:cNvSpPr/>
          <p:nvPr/>
        </p:nvSpPr>
        <p:spPr>
          <a:xfrm>
            <a:off x="5666764" y="3133320"/>
            <a:ext cx="858456" cy="53532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3886CC-7555-A40F-EAB5-95A4B336CC8F}"/>
              </a:ext>
            </a:extLst>
          </p:cNvPr>
          <p:cNvSpPr/>
          <p:nvPr/>
        </p:nvSpPr>
        <p:spPr>
          <a:xfrm>
            <a:off x="5582851" y="4022014"/>
            <a:ext cx="1026289" cy="53532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 API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1285A6-8773-23A3-8C27-9C557B3E9C7A}"/>
              </a:ext>
            </a:extLst>
          </p:cNvPr>
          <p:cNvSpPr/>
          <p:nvPr/>
        </p:nvSpPr>
        <p:spPr>
          <a:xfrm>
            <a:off x="7790918" y="4907287"/>
            <a:ext cx="1735044" cy="53532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 Engine / Local Model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4024D390-B38E-5A64-00C8-06EADD9337F9}"/>
              </a:ext>
            </a:extLst>
          </p:cNvPr>
          <p:cNvSpPr/>
          <p:nvPr/>
        </p:nvSpPr>
        <p:spPr>
          <a:xfrm>
            <a:off x="3486673" y="4907287"/>
            <a:ext cx="914400" cy="535329"/>
          </a:xfrm>
          <a:prstGeom prst="can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Database</a:t>
            </a:r>
            <a:endParaRPr lang="ko-KR" altLang="en-US" sz="105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33DCD169-B0B2-4823-AF45-111E52D1D245}"/>
              </a:ext>
            </a:extLst>
          </p:cNvPr>
          <p:cNvCxnSpPr>
            <a:stCxn id="4" idx="1"/>
            <a:endCxn id="5" idx="1"/>
          </p:cNvCxnSpPr>
          <p:nvPr/>
        </p:nvCxnSpPr>
        <p:spPr>
          <a:xfrm rot="10800000" flipV="1">
            <a:off x="5666764" y="2546093"/>
            <a:ext cx="83924" cy="854891"/>
          </a:xfrm>
          <a:prstGeom prst="curvedConnector3">
            <a:avLst>
              <a:gd name="adj1" fmla="val 372389"/>
            </a:avLst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0D1A3C75-368A-3CD2-9C62-7709627CF83D}"/>
              </a:ext>
            </a:extLst>
          </p:cNvPr>
          <p:cNvCxnSpPr>
            <a:cxnSpLocks/>
            <a:stCxn id="5" idx="1"/>
            <a:endCxn id="7" idx="1"/>
          </p:cNvCxnSpPr>
          <p:nvPr/>
        </p:nvCxnSpPr>
        <p:spPr>
          <a:xfrm rot="10800000" flipV="1">
            <a:off x="5582852" y="3400985"/>
            <a:ext cx="83913" cy="888694"/>
          </a:xfrm>
          <a:prstGeom prst="curvedConnector3">
            <a:avLst>
              <a:gd name="adj1" fmla="val 2840142"/>
            </a:avLst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553CE18-34D3-94E0-40C6-0737F426ADE8}"/>
              </a:ext>
            </a:extLst>
          </p:cNvPr>
          <p:cNvCxnSpPr>
            <a:stCxn id="7" idx="2"/>
            <a:endCxn id="10" idx="4"/>
          </p:cNvCxnSpPr>
          <p:nvPr/>
        </p:nvCxnSpPr>
        <p:spPr>
          <a:xfrm flipH="1">
            <a:off x="4401073" y="4557343"/>
            <a:ext cx="1694923" cy="617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70C09DF-1EA2-2701-836F-4FE9E4796F94}"/>
              </a:ext>
            </a:extLst>
          </p:cNvPr>
          <p:cNvCxnSpPr>
            <a:stCxn id="7" idx="2"/>
            <a:endCxn id="8" idx="1"/>
          </p:cNvCxnSpPr>
          <p:nvPr/>
        </p:nvCxnSpPr>
        <p:spPr>
          <a:xfrm>
            <a:off x="6095996" y="4557343"/>
            <a:ext cx="1694922" cy="617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DA16736F-D1CC-861D-BEB3-C0FB626C256B}"/>
              </a:ext>
            </a:extLst>
          </p:cNvPr>
          <p:cNvCxnSpPr>
            <a:stCxn id="8" idx="0"/>
            <a:endCxn id="7" idx="3"/>
          </p:cNvCxnSpPr>
          <p:nvPr/>
        </p:nvCxnSpPr>
        <p:spPr>
          <a:xfrm rot="16200000" flipV="1">
            <a:off x="7324986" y="3573833"/>
            <a:ext cx="617608" cy="2049300"/>
          </a:xfrm>
          <a:prstGeom prst="curvedConnector2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6303BA30-D332-CAF7-8395-E62A3FDCCFD2}"/>
              </a:ext>
            </a:extLst>
          </p:cNvPr>
          <p:cNvCxnSpPr>
            <a:stCxn id="7" idx="3"/>
            <a:endCxn id="5" idx="3"/>
          </p:cNvCxnSpPr>
          <p:nvPr/>
        </p:nvCxnSpPr>
        <p:spPr>
          <a:xfrm flipH="1" flipV="1">
            <a:off x="6525220" y="3400985"/>
            <a:ext cx="83920" cy="888694"/>
          </a:xfrm>
          <a:prstGeom prst="curvedConnector3">
            <a:avLst>
              <a:gd name="adj1" fmla="val -2973725"/>
            </a:avLst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9ED5710E-10F0-991F-CF59-A5F620E6C1CC}"/>
              </a:ext>
            </a:extLst>
          </p:cNvPr>
          <p:cNvCxnSpPr>
            <a:stCxn id="5" idx="3"/>
            <a:endCxn id="4" idx="3"/>
          </p:cNvCxnSpPr>
          <p:nvPr/>
        </p:nvCxnSpPr>
        <p:spPr>
          <a:xfrm flipH="1" flipV="1">
            <a:off x="6441311" y="2546094"/>
            <a:ext cx="83909" cy="854891"/>
          </a:xfrm>
          <a:prstGeom prst="curvedConnector3">
            <a:avLst>
              <a:gd name="adj1" fmla="val -272438"/>
            </a:avLst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51E086-2172-8241-0E83-816655428E7F}"/>
              </a:ext>
            </a:extLst>
          </p:cNvPr>
          <p:cNvSpPr txBox="1"/>
          <p:nvPr/>
        </p:nvSpPr>
        <p:spPr>
          <a:xfrm>
            <a:off x="4663848" y="2816757"/>
            <a:ext cx="1432152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1. Submit Answer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312C2E-D32D-CDF4-F955-3174E9DC3811}"/>
              </a:ext>
            </a:extLst>
          </p:cNvPr>
          <p:cNvSpPr txBox="1"/>
          <p:nvPr/>
        </p:nvSpPr>
        <p:spPr>
          <a:xfrm>
            <a:off x="2635770" y="3725882"/>
            <a:ext cx="1432152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2. POST /</a:t>
            </a:r>
            <a:r>
              <a:rPr lang="en-US" altLang="ko-KR" sz="1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/verify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F70C6D-6275-B5D5-965D-3EFF676910FD}"/>
              </a:ext>
            </a:extLst>
          </p:cNvPr>
          <p:cNvSpPr txBox="1"/>
          <p:nvPr/>
        </p:nvSpPr>
        <p:spPr>
          <a:xfrm>
            <a:off x="6095992" y="4743037"/>
            <a:ext cx="1654233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3. Request Similarity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379324-3F4E-C602-9A46-0EF87AA21FAD}"/>
              </a:ext>
            </a:extLst>
          </p:cNvPr>
          <p:cNvSpPr txBox="1"/>
          <p:nvPr/>
        </p:nvSpPr>
        <p:spPr>
          <a:xfrm>
            <a:off x="4511077" y="4743037"/>
            <a:ext cx="1654233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4. Save Attempt Log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AB9C1E-030B-62AB-ED91-951ED99285A9}"/>
              </a:ext>
            </a:extLst>
          </p:cNvPr>
          <p:cNvSpPr txBox="1"/>
          <p:nvPr/>
        </p:nvSpPr>
        <p:spPr>
          <a:xfrm>
            <a:off x="7476945" y="4434231"/>
            <a:ext cx="1654233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4. Similarity Score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C339DB-7DEF-BECB-171E-DE459267FF44}"/>
              </a:ext>
            </a:extLst>
          </p:cNvPr>
          <p:cNvSpPr txBox="1"/>
          <p:nvPr/>
        </p:nvSpPr>
        <p:spPr>
          <a:xfrm>
            <a:off x="8210155" y="3722221"/>
            <a:ext cx="1654233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5. Result (Correct/Fail)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B88CDD-E6EF-B02B-89D8-B8BE9AAB5A29}"/>
              </a:ext>
            </a:extLst>
          </p:cNvPr>
          <p:cNvSpPr txBox="1"/>
          <p:nvPr/>
        </p:nvSpPr>
        <p:spPr>
          <a:xfrm>
            <a:off x="6162442" y="2816757"/>
            <a:ext cx="1432152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6. Display Feedback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D0E3AD0-6C10-DAD0-46AB-990E3E9A5597}"/>
              </a:ext>
            </a:extLst>
          </p:cNvPr>
          <p:cNvSpPr/>
          <p:nvPr/>
        </p:nvSpPr>
        <p:spPr>
          <a:xfrm>
            <a:off x="2327611" y="3954975"/>
            <a:ext cx="7452857" cy="1552374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FF0EE3-E74E-AF08-B4F7-E8CAE015C709}"/>
              </a:ext>
            </a:extLst>
          </p:cNvPr>
          <p:cNvSpPr txBox="1"/>
          <p:nvPr/>
        </p:nvSpPr>
        <p:spPr>
          <a:xfrm>
            <a:off x="5268875" y="3706699"/>
            <a:ext cx="1654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 Services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63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32454-8AA8-E7E7-3FC4-5B7016D3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D9904B6-F974-9512-8EA3-8D61974F20CC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47801B5F-60E3-7FAE-1636-C8BD2AE06FE7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B5B2A-B909-8B47-EED9-A1835DF3DF1C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DD3B3F-48D3-8C91-8CE8-65D09B431308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주요 모듈 설명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73178AF-3519-052E-BEEE-0E36E0EF5407}"/>
              </a:ext>
            </a:extLst>
          </p:cNvPr>
          <p:cNvSpPr/>
          <p:nvPr/>
        </p:nvSpPr>
        <p:spPr>
          <a:xfrm>
            <a:off x="1243025" y="1860550"/>
            <a:ext cx="2075325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4988744-76A1-4469-2CA6-809C61AAEE59}"/>
              </a:ext>
            </a:extLst>
          </p:cNvPr>
          <p:cNvSpPr/>
          <p:nvPr/>
        </p:nvSpPr>
        <p:spPr>
          <a:xfrm>
            <a:off x="3786568" y="1860550"/>
            <a:ext cx="2075325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08437BA-1060-AFD5-94F5-C68FE452127F}"/>
              </a:ext>
            </a:extLst>
          </p:cNvPr>
          <p:cNvSpPr/>
          <p:nvPr/>
        </p:nvSpPr>
        <p:spPr>
          <a:xfrm>
            <a:off x="6330109" y="1860550"/>
            <a:ext cx="2075325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3EE1161-38A2-1033-2BEC-DD12893E623A}"/>
              </a:ext>
            </a:extLst>
          </p:cNvPr>
          <p:cNvSpPr/>
          <p:nvPr/>
        </p:nvSpPr>
        <p:spPr>
          <a:xfrm>
            <a:off x="8873650" y="1860550"/>
            <a:ext cx="2075325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F04315-6792-367C-3990-CD878791E398}"/>
              </a:ext>
            </a:extLst>
          </p:cNvPr>
          <p:cNvSpPr/>
          <p:nvPr/>
        </p:nvSpPr>
        <p:spPr>
          <a:xfrm>
            <a:off x="3316378" y="3333750"/>
            <a:ext cx="470188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62F646-6E1B-906E-DA36-C7ED00F6BF1D}"/>
              </a:ext>
            </a:extLst>
          </p:cNvPr>
          <p:cNvSpPr/>
          <p:nvPr/>
        </p:nvSpPr>
        <p:spPr>
          <a:xfrm>
            <a:off x="5859923" y="3333750"/>
            <a:ext cx="470186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729C44-3E74-E61D-93F4-92E45DFBB429}"/>
              </a:ext>
            </a:extLst>
          </p:cNvPr>
          <p:cNvSpPr/>
          <p:nvPr/>
        </p:nvSpPr>
        <p:spPr>
          <a:xfrm>
            <a:off x="8405434" y="3333750"/>
            <a:ext cx="468204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98E56-46AB-997E-5142-162E10F6E812}"/>
              </a:ext>
            </a:extLst>
          </p:cNvPr>
          <p:cNvSpPr txBox="1"/>
          <p:nvPr/>
        </p:nvSpPr>
        <p:spPr>
          <a:xfrm>
            <a:off x="8907951" y="2058417"/>
            <a:ext cx="2006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Note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F77B8BD-38BA-02AA-2892-C371F2EEF0EA}"/>
              </a:ext>
            </a:extLst>
          </p:cNvPr>
          <p:cNvSpPr/>
          <p:nvPr/>
        </p:nvSpPr>
        <p:spPr>
          <a:xfrm>
            <a:off x="1472479" y="2531245"/>
            <a:ext cx="1620260" cy="22693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2DFC0F-ED3A-5B28-03EC-EB26C5435BA8}"/>
              </a:ext>
            </a:extLst>
          </p:cNvPr>
          <p:cNvSpPr txBox="1"/>
          <p:nvPr/>
        </p:nvSpPr>
        <p:spPr>
          <a:xfrm>
            <a:off x="1435943" y="2788759"/>
            <a:ext cx="16894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역할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회원가입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로그인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토큰 발급 및 검증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입력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ID/PW</a:t>
            </a:r>
          </a:p>
          <a:p>
            <a:endParaRPr lang="en-US" altLang="ko-KR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출력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JWT Access Token</a:t>
            </a:r>
            <a:endParaRPr lang="ko-KR" altLang="en-US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B18427-CFFE-E853-E342-C427B565D55F}"/>
              </a:ext>
            </a:extLst>
          </p:cNvPr>
          <p:cNvSpPr/>
          <p:nvPr/>
        </p:nvSpPr>
        <p:spPr>
          <a:xfrm>
            <a:off x="4019164" y="2531245"/>
            <a:ext cx="1620260" cy="22693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D00CC19-5308-8BE1-F010-A444C305E0F6}"/>
              </a:ext>
            </a:extLst>
          </p:cNvPr>
          <p:cNvSpPr/>
          <p:nvPr/>
        </p:nvSpPr>
        <p:spPr>
          <a:xfrm>
            <a:off x="6567737" y="2531245"/>
            <a:ext cx="1620260" cy="22693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3DFC131-7221-4255-7085-4FEE598F2B5F}"/>
              </a:ext>
            </a:extLst>
          </p:cNvPr>
          <p:cNvSpPr/>
          <p:nvPr/>
        </p:nvSpPr>
        <p:spPr>
          <a:xfrm>
            <a:off x="9091075" y="2531245"/>
            <a:ext cx="1620260" cy="22693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C1BD0C-516C-416D-2078-93767F14695C}"/>
              </a:ext>
            </a:extLst>
          </p:cNvPr>
          <p:cNvSpPr txBox="1"/>
          <p:nvPr/>
        </p:nvSpPr>
        <p:spPr>
          <a:xfrm>
            <a:off x="3820875" y="2058415"/>
            <a:ext cx="2006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Game Core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DB3940-8D29-5550-6FC6-E4BDB85CB84A}"/>
              </a:ext>
            </a:extLst>
          </p:cNvPr>
          <p:cNvSpPr txBox="1"/>
          <p:nvPr/>
        </p:nvSpPr>
        <p:spPr>
          <a:xfrm>
            <a:off x="6364417" y="2058415"/>
            <a:ext cx="2006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Ranking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53748-A8F8-9A50-828B-39811489835E}"/>
              </a:ext>
            </a:extLst>
          </p:cNvPr>
          <p:cNvSpPr txBox="1"/>
          <p:nvPr/>
        </p:nvSpPr>
        <p:spPr>
          <a:xfrm>
            <a:off x="1277342" y="2058415"/>
            <a:ext cx="2006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Auth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8239A2-6120-BD46-FBBE-D20AB8C56EDB}"/>
              </a:ext>
            </a:extLst>
          </p:cNvPr>
          <p:cNvSpPr txBox="1"/>
          <p:nvPr/>
        </p:nvSpPr>
        <p:spPr>
          <a:xfrm>
            <a:off x="3979484" y="2788759"/>
            <a:ext cx="1689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역할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문제 출제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정답 검증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점수 계산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내부 동작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난이도별 문제 랜덤 추출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AI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기반 유사도 검사 로직 수행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E36996-18AF-770C-AB37-B9706ED97CB2}"/>
              </a:ext>
            </a:extLst>
          </p:cNvPr>
          <p:cNvSpPr txBox="1"/>
          <p:nvPr/>
        </p:nvSpPr>
        <p:spPr>
          <a:xfrm>
            <a:off x="6533123" y="2788759"/>
            <a:ext cx="1689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역할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점수 집계 및 순위 제공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관계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및 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Guestbook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테이블과 연동하여 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Top N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리스트 반환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D5FD4E-BEBD-1C7B-A190-9E99B353317C}"/>
              </a:ext>
            </a:extLst>
          </p:cNvPr>
          <p:cNvSpPr txBox="1"/>
          <p:nvPr/>
        </p:nvSpPr>
        <p:spPr>
          <a:xfrm>
            <a:off x="9056462" y="2788759"/>
            <a:ext cx="16894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역할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틀린 문제 저장 및 조회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관계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와 </a:t>
            </a:r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 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테이블을 연결하여 개인화된 학습 데이터 관리</a:t>
            </a:r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901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B6524-F1A6-A244-8B6E-95D1E36C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F1BF0F1-D459-6569-F4BF-B540EB535984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7CA3A7CD-2D35-8BD6-3E42-62B7A7E71AB1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FF192-D288-2AB2-1369-A519116BE2C4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DECFB2-4C20-4105-1697-099B513CAD42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인터페이스 정의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BC95831-B590-EA70-3EED-2BFDD6A5BFFC}"/>
              </a:ext>
            </a:extLst>
          </p:cNvPr>
          <p:cNvSpPr/>
          <p:nvPr/>
        </p:nvSpPr>
        <p:spPr>
          <a:xfrm>
            <a:off x="1761498" y="1863221"/>
            <a:ext cx="1477000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구분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C3162D-3A2A-C308-1F7A-2A1B47473635}"/>
              </a:ext>
            </a:extLst>
          </p:cNvPr>
          <p:cNvSpPr/>
          <p:nvPr/>
        </p:nvSpPr>
        <p:spPr>
          <a:xfrm>
            <a:off x="6896101" y="1863221"/>
            <a:ext cx="3534403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설명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3BD5E9-A5A4-AB30-4D5F-FD6D0FCE1ED8}"/>
              </a:ext>
            </a:extLst>
          </p:cNvPr>
          <p:cNvSpPr/>
          <p:nvPr/>
        </p:nvSpPr>
        <p:spPr>
          <a:xfrm>
            <a:off x="3371850" y="1860808"/>
            <a:ext cx="1438273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Method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DD2885D-705E-2BD7-FFEB-D67B0C1DDE0D}"/>
              </a:ext>
            </a:extLst>
          </p:cNvPr>
          <p:cNvSpPr/>
          <p:nvPr/>
        </p:nvSpPr>
        <p:spPr>
          <a:xfrm>
            <a:off x="1761497" y="2431990"/>
            <a:ext cx="1476999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Auth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D5252A8-0235-E05E-CA2F-44250F6D4BF7}"/>
              </a:ext>
            </a:extLst>
          </p:cNvPr>
          <p:cNvSpPr/>
          <p:nvPr/>
        </p:nvSpPr>
        <p:spPr>
          <a:xfrm>
            <a:off x="3371849" y="2429576"/>
            <a:ext cx="1438273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F41BD4-7E03-AB79-8ED0-F25B61C0F855}"/>
              </a:ext>
            </a:extLst>
          </p:cNvPr>
          <p:cNvSpPr/>
          <p:nvPr/>
        </p:nvSpPr>
        <p:spPr>
          <a:xfrm>
            <a:off x="3371849" y="2998344"/>
            <a:ext cx="1438273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2E2C0E0-1046-D674-7CFD-C0887989D998}"/>
              </a:ext>
            </a:extLst>
          </p:cNvPr>
          <p:cNvSpPr/>
          <p:nvPr/>
        </p:nvSpPr>
        <p:spPr>
          <a:xfrm>
            <a:off x="3371849" y="3567110"/>
            <a:ext cx="1438273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59926D-521B-5C08-F46E-3F5BA5E347C3}"/>
              </a:ext>
            </a:extLst>
          </p:cNvPr>
          <p:cNvSpPr/>
          <p:nvPr/>
        </p:nvSpPr>
        <p:spPr>
          <a:xfrm>
            <a:off x="6896100" y="2431988"/>
            <a:ext cx="353440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로그인 및 토큰 발급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14B29E-0EA5-D436-7C5E-A662A714B0D1}"/>
              </a:ext>
            </a:extLst>
          </p:cNvPr>
          <p:cNvSpPr/>
          <p:nvPr/>
        </p:nvSpPr>
        <p:spPr>
          <a:xfrm>
            <a:off x="6896100" y="3000756"/>
            <a:ext cx="353440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내 정보 조회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B5E087-A456-85B2-9CB2-4F85E3C7AAD9}"/>
              </a:ext>
            </a:extLst>
          </p:cNvPr>
          <p:cNvSpPr/>
          <p:nvPr/>
        </p:nvSpPr>
        <p:spPr>
          <a:xfrm>
            <a:off x="6896100" y="3569522"/>
            <a:ext cx="353440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문제 목록 조회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BAA8341-FEF6-C846-AEAC-40E2D7AEFD92}"/>
              </a:ext>
            </a:extLst>
          </p:cNvPr>
          <p:cNvSpPr/>
          <p:nvPr/>
        </p:nvSpPr>
        <p:spPr>
          <a:xfrm>
            <a:off x="3371849" y="4133436"/>
            <a:ext cx="1438273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46EB81C-C70F-CC0F-4C00-62E1A8372A19}"/>
              </a:ext>
            </a:extLst>
          </p:cNvPr>
          <p:cNvSpPr/>
          <p:nvPr/>
        </p:nvSpPr>
        <p:spPr>
          <a:xfrm>
            <a:off x="3371849" y="4699762"/>
            <a:ext cx="1438273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6C5A769-6B3B-6D3F-9317-6F3A55609099}"/>
              </a:ext>
            </a:extLst>
          </p:cNvPr>
          <p:cNvSpPr/>
          <p:nvPr/>
        </p:nvSpPr>
        <p:spPr>
          <a:xfrm>
            <a:off x="1761497" y="3566286"/>
            <a:ext cx="147699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Game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6475894-B043-8D22-A26E-3461ABA8AFAA}"/>
              </a:ext>
            </a:extLst>
          </p:cNvPr>
          <p:cNvSpPr/>
          <p:nvPr/>
        </p:nvSpPr>
        <p:spPr>
          <a:xfrm>
            <a:off x="1761497" y="4699762"/>
            <a:ext cx="147699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Note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F7FEE85-9959-5221-7739-84086CBEACCE}"/>
              </a:ext>
            </a:extLst>
          </p:cNvPr>
          <p:cNvSpPr/>
          <p:nvPr/>
        </p:nvSpPr>
        <p:spPr>
          <a:xfrm>
            <a:off x="6896100" y="4135849"/>
            <a:ext cx="353440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정답 검증 요청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40902C9-7B74-B1B9-E61E-0C7A958D58A5}"/>
              </a:ext>
            </a:extLst>
          </p:cNvPr>
          <p:cNvSpPr/>
          <p:nvPr/>
        </p:nvSpPr>
        <p:spPr>
          <a:xfrm>
            <a:off x="6896100" y="4699762"/>
            <a:ext cx="353440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오답 노트 저장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5EE571D-1E69-7434-9DD1-8B82F244BABE}"/>
              </a:ext>
            </a:extLst>
          </p:cNvPr>
          <p:cNvSpPr/>
          <p:nvPr/>
        </p:nvSpPr>
        <p:spPr>
          <a:xfrm>
            <a:off x="1761497" y="4135849"/>
            <a:ext cx="147699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Game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6964552-D11D-18B2-E9F4-B0FBA352EBD8}"/>
              </a:ext>
            </a:extLst>
          </p:cNvPr>
          <p:cNvSpPr/>
          <p:nvPr/>
        </p:nvSpPr>
        <p:spPr>
          <a:xfrm>
            <a:off x="1761496" y="2995902"/>
            <a:ext cx="1476999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5F3F767-94F9-EB93-EFFE-A186D1DEDB5F}"/>
              </a:ext>
            </a:extLst>
          </p:cNvPr>
          <p:cNvSpPr/>
          <p:nvPr/>
        </p:nvSpPr>
        <p:spPr>
          <a:xfrm>
            <a:off x="4943476" y="1860808"/>
            <a:ext cx="1819275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Endpoint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717E6D5-BE27-C674-AD8A-F5F785BD19AD}"/>
              </a:ext>
            </a:extLst>
          </p:cNvPr>
          <p:cNvSpPr/>
          <p:nvPr/>
        </p:nvSpPr>
        <p:spPr>
          <a:xfrm>
            <a:off x="4943475" y="2429576"/>
            <a:ext cx="18192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/auth/login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91BA182-CA9F-BEEA-B145-FC15B883986B}"/>
              </a:ext>
            </a:extLst>
          </p:cNvPr>
          <p:cNvSpPr/>
          <p:nvPr/>
        </p:nvSpPr>
        <p:spPr>
          <a:xfrm>
            <a:off x="4943475" y="2998344"/>
            <a:ext cx="18192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/users/me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4CBF275-955C-F766-3A07-00CAB218BBE0}"/>
              </a:ext>
            </a:extLst>
          </p:cNvPr>
          <p:cNvSpPr/>
          <p:nvPr/>
        </p:nvSpPr>
        <p:spPr>
          <a:xfrm>
            <a:off x="4943475" y="3567110"/>
            <a:ext cx="18192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/api/questions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6BDA565-4D00-FA0B-362D-0AA4ECEA5028}"/>
              </a:ext>
            </a:extLst>
          </p:cNvPr>
          <p:cNvSpPr/>
          <p:nvPr/>
        </p:nvSpPr>
        <p:spPr>
          <a:xfrm>
            <a:off x="4943475" y="4133436"/>
            <a:ext cx="18192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/api/verify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8E94D20-8807-F736-7EEB-D8F79B585434}"/>
              </a:ext>
            </a:extLst>
          </p:cNvPr>
          <p:cNvSpPr/>
          <p:nvPr/>
        </p:nvSpPr>
        <p:spPr>
          <a:xfrm>
            <a:off x="4943475" y="4699762"/>
            <a:ext cx="18192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/api/notes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881CB2A-BD3A-43CF-32CA-2D8E3FC14AFD}"/>
              </a:ext>
            </a:extLst>
          </p:cNvPr>
          <p:cNvSpPr/>
          <p:nvPr/>
        </p:nvSpPr>
        <p:spPr>
          <a:xfrm>
            <a:off x="3371848" y="5263675"/>
            <a:ext cx="1438273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11CA9D1-6247-9653-7E03-BD47A50718A3}"/>
              </a:ext>
            </a:extLst>
          </p:cNvPr>
          <p:cNvSpPr/>
          <p:nvPr/>
        </p:nvSpPr>
        <p:spPr>
          <a:xfrm>
            <a:off x="1761496" y="5263675"/>
            <a:ext cx="147699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Rank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F572D87-69EC-BF04-9031-A60D0F7F41E0}"/>
              </a:ext>
            </a:extLst>
          </p:cNvPr>
          <p:cNvSpPr/>
          <p:nvPr/>
        </p:nvSpPr>
        <p:spPr>
          <a:xfrm>
            <a:off x="6896099" y="5263675"/>
            <a:ext cx="353440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랭킹 목록 조회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3EF1DE1-49C4-FC00-1814-C0A3CEF6E960}"/>
              </a:ext>
            </a:extLst>
          </p:cNvPr>
          <p:cNvSpPr/>
          <p:nvPr/>
        </p:nvSpPr>
        <p:spPr>
          <a:xfrm>
            <a:off x="4943474" y="5263675"/>
            <a:ext cx="18192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/api/rankings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036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43D04-5102-2393-A6D4-8D6C4309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F7FD9BE-AF71-4471-F531-EC953564FA34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A00468C4-AB95-6D69-D88A-5CAF6EE956D6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D16B5-9FD1-6B0E-3C52-D429337291FF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1601C5-55F6-3A74-4A6D-84FEE041F0B3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성능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확장성 고려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EE19AA9-8BFA-5DA0-F186-59B50EDB79F8}"/>
              </a:ext>
            </a:extLst>
          </p:cNvPr>
          <p:cNvSpPr/>
          <p:nvPr/>
        </p:nvSpPr>
        <p:spPr>
          <a:xfrm>
            <a:off x="1243025" y="1860550"/>
            <a:ext cx="2971796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B84F4AD-40DA-D13F-2DAB-BC4371A15719}"/>
              </a:ext>
            </a:extLst>
          </p:cNvPr>
          <p:cNvSpPr>
            <a:spLocks/>
          </p:cNvSpPr>
          <p:nvPr/>
        </p:nvSpPr>
        <p:spPr>
          <a:xfrm>
            <a:off x="4610097" y="1860549"/>
            <a:ext cx="2971796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AF78677-E5B0-D46C-67D1-387DDA1E8469}"/>
              </a:ext>
            </a:extLst>
          </p:cNvPr>
          <p:cNvSpPr>
            <a:spLocks/>
          </p:cNvSpPr>
          <p:nvPr/>
        </p:nvSpPr>
        <p:spPr>
          <a:xfrm>
            <a:off x="7977179" y="1860549"/>
            <a:ext cx="2971796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3E8B9A2-DCDA-E9A1-430E-C330043B22AE}"/>
              </a:ext>
            </a:extLst>
          </p:cNvPr>
          <p:cNvSpPr/>
          <p:nvPr/>
        </p:nvSpPr>
        <p:spPr>
          <a:xfrm>
            <a:off x="4873887" y="2531240"/>
            <a:ext cx="2444220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68FFA3-9B58-7A31-DB33-34E6F239D33A}"/>
              </a:ext>
            </a:extLst>
          </p:cNvPr>
          <p:cNvSpPr/>
          <p:nvPr/>
        </p:nvSpPr>
        <p:spPr>
          <a:xfrm>
            <a:off x="8240964" y="2531240"/>
            <a:ext cx="2444220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CD991D-F823-201F-172C-D88274AE86B4}"/>
              </a:ext>
            </a:extLst>
          </p:cNvPr>
          <p:cNvSpPr/>
          <p:nvPr/>
        </p:nvSpPr>
        <p:spPr>
          <a:xfrm>
            <a:off x="1506811" y="2531240"/>
            <a:ext cx="2444220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7506C-3C83-5C6D-A545-C93F5A6AEF79}"/>
              </a:ext>
            </a:extLst>
          </p:cNvPr>
          <p:cNvSpPr txBox="1"/>
          <p:nvPr/>
        </p:nvSpPr>
        <p:spPr>
          <a:xfrm>
            <a:off x="1395425" y="2057397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확장성 전략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29833-232C-C014-B143-8E68302F55DB}"/>
              </a:ext>
            </a:extLst>
          </p:cNvPr>
          <p:cNvSpPr txBox="1"/>
          <p:nvPr/>
        </p:nvSpPr>
        <p:spPr>
          <a:xfrm>
            <a:off x="4762500" y="2057396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 모델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24BE6-23DD-B452-E78A-F872A68A917E}"/>
              </a:ext>
            </a:extLst>
          </p:cNvPr>
          <p:cNvSpPr txBox="1"/>
          <p:nvPr/>
        </p:nvSpPr>
        <p:spPr>
          <a:xfrm>
            <a:off x="8129574" y="2057396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예상 성능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85C46-7329-3E92-E940-5F84EEFCA033}"/>
              </a:ext>
            </a:extLst>
          </p:cNvPr>
          <p:cNvSpPr txBox="1"/>
          <p:nvPr/>
        </p:nvSpPr>
        <p:spPr>
          <a:xfrm>
            <a:off x="1541137" y="2788759"/>
            <a:ext cx="2375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분리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Nginx</a:t>
            </a:r>
            <a:r>
              <a:rPr lang="ko-KR" altLang="en-US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를 통한 정적 리소스 서빙 및 </a:t>
            </a:r>
            <a:r>
              <a:rPr lang="ko-KR" altLang="en-US" sz="12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캐싱</a:t>
            </a:r>
            <a:r>
              <a:rPr lang="ko-KR" altLang="en-US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최적화</a:t>
            </a:r>
            <a:endParaRPr lang="ko-KR" altLang="en-US" sz="1200" b="1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E84515-5C10-184C-5ECC-B23C117B3E1D}"/>
              </a:ext>
            </a:extLst>
          </p:cNvPr>
          <p:cNvSpPr txBox="1"/>
          <p:nvPr/>
        </p:nvSpPr>
        <p:spPr>
          <a:xfrm>
            <a:off x="4908217" y="2793096"/>
            <a:ext cx="23755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인증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JWT(JSON Web Token) </a:t>
            </a:r>
            <a:r>
              <a:rPr lang="ko-KR" altLang="en-US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기반의 </a:t>
            </a:r>
            <a:r>
              <a:rPr lang="en-US" altLang="ko-KR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Stateless </a:t>
            </a:r>
            <a:r>
              <a:rPr lang="ko-KR" altLang="en-US" sz="1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인증</a:t>
            </a:r>
            <a:endParaRPr lang="en-US" altLang="ko-KR" sz="12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비밀번호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Pbkdf2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를</a:t>
            </a:r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이용한 단방향 해시 저</a:t>
            </a:r>
            <a:r>
              <a:rPr lang="ko-KR" altLang="en-US" sz="12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장</a:t>
            </a:r>
            <a:endParaRPr lang="en-US" altLang="ko-KR" sz="12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38139F-CB06-FC93-A470-F1D0F32BA5B1}"/>
              </a:ext>
            </a:extLst>
          </p:cNvPr>
          <p:cNvSpPr txBox="1"/>
          <p:nvPr/>
        </p:nvSpPr>
        <p:spPr>
          <a:xfrm>
            <a:off x="8275308" y="2788759"/>
            <a:ext cx="23755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목표 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TPS: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초기 단계에서는 동시 </a:t>
            </a:r>
            <a:r>
              <a:rPr lang="ko-KR" altLang="en-US" sz="1200" b="1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접속자</a:t>
            </a:r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수 </a:t>
            </a:r>
            <a:r>
              <a:rPr lang="en-US" altLang="ko-KR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100</a:t>
            </a:r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명 수준 처리 목표</a:t>
            </a:r>
            <a:endParaRPr lang="en-US" altLang="ko-KR" sz="12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2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응답 속도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r>
              <a:rPr lang="en-US" altLang="ko-KR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분석을 제외한 일반 </a:t>
            </a:r>
            <a:r>
              <a:rPr lang="en-US" altLang="ko-KR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응답 </a:t>
            </a:r>
            <a:r>
              <a:rPr lang="en-US" altLang="ko-KR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200ms </a:t>
            </a:r>
            <a:r>
              <a:rPr lang="ko-KR" altLang="en-US" sz="1200" b="1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이내 목표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2B17CF-AC9D-E46D-134B-E39FE33B885F}"/>
              </a:ext>
            </a:extLst>
          </p:cNvPr>
          <p:cNvSpPr/>
          <p:nvPr/>
        </p:nvSpPr>
        <p:spPr>
          <a:xfrm>
            <a:off x="4214811" y="3333750"/>
            <a:ext cx="395285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FB4183-0B60-6958-6987-F36E85BE6367}"/>
              </a:ext>
            </a:extLst>
          </p:cNvPr>
          <p:cNvSpPr/>
          <p:nvPr/>
        </p:nvSpPr>
        <p:spPr>
          <a:xfrm>
            <a:off x="7581892" y="3327448"/>
            <a:ext cx="395278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528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85249-35A9-C1E8-856A-125D97A1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63894C9-D4C0-C943-FFF9-29CA84B4FB9A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EF87C58B-BFBE-14D8-17A5-A8AB16EFAF33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AA7AE-5983-5CDC-13EF-76CF924AF723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HLD(High-Level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48A4E-A291-4A0B-16FF-CBE561246620}"/>
              </a:ext>
            </a:extLst>
          </p:cNvPr>
          <p:cNvSpPr txBox="1"/>
          <p:nvPr/>
        </p:nvSpPr>
        <p:spPr>
          <a:xfrm>
            <a:off x="3887929" y="925829"/>
            <a:ext cx="44161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/>
                <a:ea typeface="마루 부리 굵은"/>
              </a:rPr>
              <a:t>제한사항 및 가정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A4992E-8EAB-C1E8-4C7D-4F159EDA369D}"/>
              </a:ext>
            </a:extLst>
          </p:cNvPr>
          <p:cNvSpPr/>
          <p:nvPr/>
        </p:nvSpPr>
        <p:spPr>
          <a:xfrm>
            <a:off x="2743199" y="2431990"/>
            <a:ext cx="2134371" cy="43230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AI 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비용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/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자원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2DA9384-2A74-FA14-C868-9C8753CCE252}"/>
              </a:ext>
            </a:extLst>
          </p:cNvPr>
          <p:cNvSpPr/>
          <p:nvPr/>
        </p:nvSpPr>
        <p:spPr>
          <a:xfrm>
            <a:off x="5002982" y="3000759"/>
            <a:ext cx="443788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AI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분석을 위해 인터넷 연결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6D232C3-D8CE-93A4-F986-526578359CEB}"/>
              </a:ext>
            </a:extLst>
          </p:cNvPr>
          <p:cNvSpPr/>
          <p:nvPr/>
        </p:nvSpPr>
        <p:spPr>
          <a:xfrm>
            <a:off x="5002982" y="3569525"/>
            <a:ext cx="443788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최신 모던 브라우저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(ES6+ </a:t>
            </a: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지원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) </a:t>
            </a: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환경 가정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1CC44A2-3A29-098E-E49F-98CBCFCF2B82}"/>
              </a:ext>
            </a:extLst>
          </p:cNvPr>
          <p:cNvSpPr/>
          <p:nvPr/>
        </p:nvSpPr>
        <p:spPr>
          <a:xfrm>
            <a:off x="2735261" y="3000758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네트워크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95904B1-0F1B-6299-7CCC-A00038E4FD51}"/>
              </a:ext>
            </a:extLst>
          </p:cNvPr>
          <p:cNvSpPr/>
          <p:nvPr/>
        </p:nvSpPr>
        <p:spPr>
          <a:xfrm>
            <a:off x="2735261" y="3570321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브라우저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344F2DD-BA97-6288-34EF-1424972ADE97}"/>
              </a:ext>
            </a:extLst>
          </p:cNvPr>
          <p:cNvSpPr/>
          <p:nvPr/>
        </p:nvSpPr>
        <p:spPr>
          <a:xfrm>
            <a:off x="2735261" y="1863221"/>
            <a:ext cx="2134371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카테고리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80C2CC7-8EE9-0C3B-2B4A-E2CEEAD081BB}"/>
              </a:ext>
            </a:extLst>
          </p:cNvPr>
          <p:cNvSpPr/>
          <p:nvPr/>
        </p:nvSpPr>
        <p:spPr>
          <a:xfrm>
            <a:off x="5002982" y="1863221"/>
            <a:ext cx="4445819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요구사항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E5646B-4706-18AD-304A-24C61CBAEEE8}"/>
              </a:ext>
            </a:extLst>
          </p:cNvPr>
          <p:cNvSpPr/>
          <p:nvPr/>
        </p:nvSpPr>
        <p:spPr>
          <a:xfrm>
            <a:off x="5002983" y="2431989"/>
            <a:ext cx="4445820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로컬 서버 메모리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약 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1GB)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및 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CPU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자원 소모</a:t>
            </a:r>
            <a:endParaRPr lang="en-US" altLang="ko-KR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</p:spTree>
    <p:extLst>
      <p:ext uri="{BB962C8B-B14F-4D97-AF65-F5344CB8AC3E}">
        <p14:creationId xmlns:p14="http://schemas.microsoft.com/office/powerpoint/2010/main" val="57003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9842E9E-799A-310D-D12C-7E6CF9F0986D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A6676DBF-846E-9FF1-7BC7-F973F168DA05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9A0F4-7E11-FD98-4C9C-0C5D2F087B5D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E72FFF8-7BF5-7F7A-02A2-3FA4F52461DA}"/>
              </a:ext>
            </a:extLst>
          </p:cNvPr>
          <p:cNvSpPr/>
          <p:nvPr/>
        </p:nvSpPr>
        <p:spPr>
          <a:xfrm>
            <a:off x="791789" y="1860549"/>
            <a:ext cx="10608415" cy="40716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1EFCB-20FD-AC82-0FEF-3A8F86FE4E36}"/>
              </a:ext>
            </a:extLst>
          </p:cNvPr>
          <p:cNvSpPr txBox="1"/>
          <p:nvPr/>
        </p:nvSpPr>
        <p:spPr>
          <a:xfrm>
            <a:off x="3201261" y="925828"/>
            <a:ext cx="57894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클래스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모듈 상세 디자인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 Class Diagram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2825C7-C7B6-3999-AF0E-0F8A5D31234C}"/>
              </a:ext>
            </a:extLst>
          </p:cNvPr>
          <p:cNvSpPr/>
          <p:nvPr/>
        </p:nvSpPr>
        <p:spPr>
          <a:xfrm>
            <a:off x="5855503" y="1927143"/>
            <a:ext cx="3105818" cy="2074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9D6A40-6205-4622-6AA0-4D2A4E6D8B09}"/>
              </a:ext>
            </a:extLst>
          </p:cNvPr>
          <p:cNvSpPr/>
          <p:nvPr/>
        </p:nvSpPr>
        <p:spPr>
          <a:xfrm>
            <a:off x="5855503" y="2133991"/>
            <a:ext cx="3105818" cy="14407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+string id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+text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encoded_text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+text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original_text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+text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correct_meaning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difficulty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correct_count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total_attempts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+float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success_rate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F555E4-85AD-2ABB-4833-22BE0BF7CABC}"/>
              </a:ext>
            </a:extLst>
          </p:cNvPr>
          <p:cNvSpPr/>
          <p:nvPr/>
        </p:nvSpPr>
        <p:spPr>
          <a:xfrm>
            <a:off x="5855499" y="3574718"/>
            <a:ext cx="3105818" cy="469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get_random_question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(difficulty) : Question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5D4405-56B4-7033-FE3E-734ADB1E72D4}"/>
              </a:ext>
            </a:extLst>
          </p:cNvPr>
          <p:cNvSpPr/>
          <p:nvPr/>
        </p:nvSpPr>
        <p:spPr>
          <a:xfrm>
            <a:off x="1739546" y="2020172"/>
            <a:ext cx="3105818" cy="2074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8F8FFD-7BF6-2BFC-029E-FCF9F9BF7D7C}"/>
              </a:ext>
            </a:extLst>
          </p:cNvPr>
          <p:cNvSpPr/>
          <p:nvPr/>
        </p:nvSpPr>
        <p:spPr>
          <a:xfrm>
            <a:off x="1739548" y="2227618"/>
            <a:ext cx="3105818" cy="930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id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+string username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+string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hashed_password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boolean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is_guest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+datetime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created_at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973D0CE-D643-DCC7-C133-A09651479B16}"/>
              </a:ext>
            </a:extLst>
          </p:cNvPr>
          <p:cNvSpPr/>
          <p:nvPr/>
        </p:nvSpPr>
        <p:spPr>
          <a:xfrm>
            <a:off x="1739546" y="3157695"/>
            <a:ext cx="3105818" cy="6475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verify_password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plain_pw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 : bool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create_guest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() : User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update_ranking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(nickname, score)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0B1FF1-D06A-6E76-4B65-CAD2E0F99CAF}"/>
              </a:ext>
            </a:extLst>
          </p:cNvPr>
          <p:cNvSpPr/>
          <p:nvPr/>
        </p:nvSpPr>
        <p:spPr>
          <a:xfrm>
            <a:off x="3002431" y="4253190"/>
            <a:ext cx="3105818" cy="2074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WrongAnswerNote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5F132B-FFF2-DE84-CDF0-E919D3661314}"/>
              </a:ext>
            </a:extLst>
          </p:cNvPr>
          <p:cNvSpPr/>
          <p:nvPr/>
        </p:nvSpPr>
        <p:spPr>
          <a:xfrm>
            <a:off x="3002433" y="4460636"/>
            <a:ext cx="3105818" cy="930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id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user_id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+string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question_id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+text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user_answer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+datetime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created_at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71028C-B258-24C0-432C-6B3FBCB2E108}"/>
              </a:ext>
            </a:extLst>
          </p:cNvPr>
          <p:cNvSpPr/>
          <p:nvPr/>
        </p:nvSpPr>
        <p:spPr>
          <a:xfrm>
            <a:off x="3002432" y="5390713"/>
            <a:ext cx="3105818" cy="469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create_note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user_id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question_id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answer)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C0E2AC-4300-A88D-3638-87A8C6A79DD6}"/>
              </a:ext>
            </a:extLst>
          </p:cNvPr>
          <p:cNvSpPr/>
          <p:nvPr/>
        </p:nvSpPr>
        <p:spPr>
          <a:xfrm>
            <a:off x="7867036" y="4071151"/>
            <a:ext cx="3105818" cy="2074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Attempt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34A637A-BEC0-DDE9-511C-8D6344C1388E}"/>
              </a:ext>
            </a:extLst>
          </p:cNvPr>
          <p:cNvSpPr/>
          <p:nvPr/>
        </p:nvSpPr>
        <p:spPr>
          <a:xfrm>
            <a:off x="7867038" y="4278597"/>
            <a:ext cx="3105818" cy="1100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+int id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+string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question_id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+text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user_answer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+float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similarity_score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boolean</a:t>
            </a:r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is_correct</a:t>
            </a:r>
            <a:endParaRPr lang="en-US" altLang="ko-KR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+datetime timestamp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3269B3C-2DAE-18CB-BA92-2BD2CA2F9F09}"/>
              </a:ext>
            </a:extLst>
          </p:cNvPr>
          <p:cNvSpPr/>
          <p:nvPr/>
        </p:nvSpPr>
        <p:spPr>
          <a:xfrm>
            <a:off x="7867036" y="5379316"/>
            <a:ext cx="3105818" cy="469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+log_attempt(question_id, answer, score)</a:t>
            </a:r>
            <a:endParaRPr lang="ko-KR" altLang="en-US" sz="11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8A72D1D-F574-C083-4AF1-A00B147068F6}"/>
              </a:ext>
            </a:extLst>
          </p:cNvPr>
          <p:cNvCxnSpPr>
            <a:cxnSpLocks/>
          </p:cNvCxnSpPr>
          <p:nvPr/>
        </p:nvCxnSpPr>
        <p:spPr>
          <a:xfrm>
            <a:off x="1932056" y="3814700"/>
            <a:ext cx="1070373" cy="934836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CF6AE1A-525F-7A1E-93D8-0C56C6FA2551}"/>
              </a:ext>
            </a:extLst>
          </p:cNvPr>
          <p:cNvCxnSpPr/>
          <p:nvPr/>
        </p:nvCxnSpPr>
        <p:spPr>
          <a:xfrm flipH="1">
            <a:off x="6108244" y="4044078"/>
            <a:ext cx="505911" cy="784838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C9F2D7E-D492-5772-C64C-379C141FD46A}"/>
              </a:ext>
            </a:extLst>
          </p:cNvPr>
          <p:cNvCxnSpPr>
            <a:cxnSpLocks/>
          </p:cNvCxnSpPr>
          <p:nvPr/>
        </p:nvCxnSpPr>
        <p:spPr>
          <a:xfrm>
            <a:off x="8961317" y="3237123"/>
            <a:ext cx="1090733" cy="83260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7C832C-C087-8EF1-8E01-B132311E780A}"/>
              </a:ext>
            </a:extLst>
          </p:cNvPr>
          <p:cNvSpPr txBox="1"/>
          <p:nvPr/>
        </p:nvSpPr>
        <p:spPr>
          <a:xfrm>
            <a:off x="2370498" y="4057700"/>
            <a:ext cx="44034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has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F4705C-1B63-0DA0-8F12-D71D118FAF4D}"/>
              </a:ext>
            </a:extLst>
          </p:cNvPr>
          <p:cNvSpPr txBox="1"/>
          <p:nvPr/>
        </p:nvSpPr>
        <p:spPr>
          <a:xfrm>
            <a:off x="6343296" y="4380475"/>
            <a:ext cx="104720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referenced_by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939B2A-A649-1BC4-20AD-06B8C84B16E6}"/>
              </a:ext>
            </a:extLst>
          </p:cNvPr>
          <p:cNvSpPr txBox="1"/>
          <p:nvPr/>
        </p:nvSpPr>
        <p:spPr>
          <a:xfrm>
            <a:off x="9346700" y="3399508"/>
            <a:ext cx="70535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has_logs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673FFA-10EF-64B3-E047-E76B365ECFDC}"/>
              </a:ext>
            </a:extLst>
          </p:cNvPr>
          <p:cNvSpPr txBox="1"/>
          <p:nvPr/>
        </p:nvSpPr>
        <p:spPr>
          <a:xfrm>
            <a:off x="6587255" y="4035480"/>
            <a:ext cx="18488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27970-4DEC-8BE5-EFE8-9F4BD6AE1B3E}"/>
              </a:ext>
            </a:extLst>
          </p:cNvPr>
          <p:cNvSpPr txBox="1"/>
          <p:nvPr/>
        </p:nvSpPr>
        <p:spPr>
          <a:xfrm>
            <a:off x="6176321" y="4674865"/>
            <a:ext cx="18488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A9C5F4-9AA9-B87A-F7E0-26E5C27933A5}"/>
              </a:ext>
            </a:extLst>
          </p:cNvPr>
          <p:cNvSpPr txBox="1"/>
          <p:nvPr/>
        </p:nvSpPr>
        <p:spPr>
          <a:xfrm>
            <a:off x="1818781" y="3814700"/>
            <a:ext cx="18488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7F4CDA-BD79-E152-C405-CE8FCD45BEBA}"/>
              </a:ext>
            </a:extLst>
          </p:cNvPr>
          <p:cNvSpPr txBox="1"/>
          <p:nvPr/>
        </p:nvSpPr>
        <p:spPr>
          <a:xfrm>
            <a:off x="2800534" y="4722274"/>
            <a:ext cx="18488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1CB948-6AE1-8269-47D7-1E29CA788735}"/>
              </a:ext>
            </a:extLst>
          </p:cNvPr>
          <p:cNvSpPr txBox="1"/>
          <p:nvPr/>
        </p:nvSpPr>
        <p:spPr>
          <a:xfrm>
            <a:off x="8961317" y="3036589"/>
            <a:ext cx="18488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C922EA-6E98-9EF3-A1B8-9CE07F4DD54D}"/>
              </a:ext>
            </a:extLst>
          </p:cNvPr>
          <p:cNvSpPr txBox="1"/>
          <p:nvPr/>
        </p:nvSpPr>
        <p:spPr>
          <a:xfrm>
            <a:off x="10000235" y="3840828"/>
            <a:ext cx="18488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566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65903-D7C3-E207-FC0A-18BDB2C8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AADB127-3BA1-A2AB-F7BD-4BF147C5B6E9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8FEB1FBB-6FD8-35FA-0234-07403C1B984E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20843-9F50-0563-91D6-2709BA60CA73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292209-BD8C-B36B-FA01-E22BAE1834A2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Auth API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D8DFBE-CC5C-9297-A224-93188FBD310E}"/>
              </a:ext>
            </a:extLst>
          </p:cNvPr>
          <p:cNvSpPr/>
          <p:nvPr/>
        </p:nvSpPr>
        <p:spPr>
          <a:xfrm>
            <a:off x="791789" y="1860808"/>
            <a:ext cx="103945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Method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2A0F8C6-854D-D1F0-CE05-9126A6701096}"/>
              </a:ext>
            </a:extLst>
          </p:cNvPr>
          <p:cNvSpPr/>
          <p:nvPr/>
        </p:nvSpPr>
        <p:spPr>
          <a:xfrm>
            <a:off x="10094451" y="1860808"/>
            <a:ext cx="1305753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설명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48D233E-3F2C-C196-8077-E7811C1FB386}"/>
              </a:ext>
            </a:extLst>
          </p:cNvPr>
          <p:cNvSpPr/>
          <p:nvPr/>
        </p:nvSpPr>
        <p:spPr>
          <a:xfrm>
            <a:off x="1965993" y="1860808"/>
            <a:ext cx="1713297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Endpoint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18DE15-5E77-FCAE-FA70-54CE2487FC04}"/>
              </a:ext>
            </a:extLst>
          </p:cNvPr>
          <p:cNvSpPr/>
          <p:nvPr/>
        </p:nvSpPr>
        <p:spPr>
          <a:xfrm>
            <a:off x="791789" y="2429577"/>
            <a:ext cx="1039450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B4E949-DA0D-C434-1B3D-6AE02DB10E36}"/>
              </a:ext>
            </a:extLst>
          </p:cNvPr>
          <p:cNvSpPr/>
          <p:nvPr/>
        </p:nvSpPr>
        <p:spPr>
          <a:xfrm>
            <a:off x="1965993" y="2429576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/auth/register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BCED531-85CC-3A49-661A-A32414C73698}"/>
              </a:ext>
            </a:extLst>
          </p:cNvPr>
          <p:cNvSpPr/>
          <p:nvPr/>
        </p:nvSpPr>
        <p:spPr>
          <a:xfrm>
            <a:off x="1965993" y="2998344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/auth/login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0245663-1645-7C43-9AAD-881F4B1D320E}"/>
              </a:ext>
            </a:extLst>
          </p:cNvPr>
          <p:cNvSpPr/>
          <p:nvPr/>
        </p:nvSpPr>
        <p:spPr>
          <a:xfrm>
            <a:off x="1965993" y="3567110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/auth/guest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8866252-2F8B-20A8-1889-CC1FFB0337D5}"/>
              </a:ext>
            </a:extLst>
          </p:cNvPr>
          <p:cNvSpPr/>
          <p:nvPr/>
        </p:nvSpPr>
        <p:spPr>
          <a:xfrm>
            <a:off x="10094450" y="2429575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회원가입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8FE158-BC9B-5BCE-FE5C-FB5224E08F4E}"/>
              </a:ext>
            </a:extLst>
          </p:cNvPr>
          <p:cNvSpPr/>
          <p:nvPr/>
        </p:nvSpPr>
        <p:spPr>
          <a:xfrm>
            <a:off x="10094450" y="2998343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로그인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021FE39-A896-400A-F57A-200DF31D5CDC}"/>
              </a:ext>
            </a:extLst>
          </p:cNvPr>
          <p:cNvSpPr/>
          <p:nvPr/>
        </p:nvSpPr>
        <p:spPr>
          <a:xfrm>
            <a:off x="10094450" y="3567109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게스트 로그인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2050C9F-6E17-B709-3413-E850D28F2994}"/>
              </a:ext>
            </a:extLst>
          </p:cNvPr>
          <p:cNvSpPr/>
          <p:nvPr/>
        </p:nvSpPr>
        <p:spPr>
          <a:xfrm>
            <a:off x="1965993" y="4133436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/users/me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8F35888-40ED-2B85-B3AB-804096ADF6A9}"/>
              </a:ext>
            </a:extLst>
          </p:cNvPr>
          <p:cNvSpPr/>
          <p:nvPr/>
        </p:nvSpPr>
        <p:spPr>
          <a:xfrm>
            <a:off x="791789" y="3563873"/>
            <a:ext cx="103945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15CC8A2-B0E2-E7F4-B0E5-C775F397CF06}"/>
              </a:ext>
            </a:extLst>
          </p:cNvPr>
          <p:cNvSpPr/>
          <p:nvPr/>
        </p:nvSpPr>
        <p:spPr>
          <a:xfrm>
            <a:off x="10094450" y="4133436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내 정보 조회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F362DB0-B8E9-616C-01E6-1E44D14F81BC}"/>
              </a:ext>
            </a:extLst>
          </p:cNvPr>
          <p:cNvSpPr/>
          <p:nvPr/>
        </p:nvSpPr>
        <p:spPr>
          <a:xfrm>
            <a:off x="791789" y="4133436"/>
            <a:ext cx="103945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806D1CA-FE99-4DE9-2F4E-87D357426D72}"/>
              </a:ext>
            </a:extLst>
          </p:cNvPr>
          <p:cNvSpPr/>
          <p:nvPr/>
        </p:nvSpPr>
        <p:spPr>
          <a:xfrm>
            <a:off x="791788" y="2993489"/>
            <a:ext cx="1039450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A274393-6AB3-F58C-6F7D-5435219C78BF}"/>
              </a:ext>
            </a:extLst>
          </p:cNvPr>
          <p:cNvSpPr/>
          <p:nvPr/>
        </p:nvSpPr>
        <p:spPr>
          <a:xfrm>
            <a:off x="3814042" y="1860808"/>
            <a:ext cx="289467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Request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EA8A7A0-EA0B-BB39-2C51-DAF7F640621D}"/>
              </a:ext>
            </a:extLst>
          </p:cNvPr>
          <p:cNvSpPr/>
          <p:nvPr/>
        </p:nvSpPr>
        <p:spPr>
          <a:xfrm>
            <a:off x="3814041" y="2429576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{username, password}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D5F24A8-DC2E-90C7-B872-157368AD7890}"/>
              </a:ext>
            </a:extLst>
          </p:cNvPr>
          <p:cNvSpPr/>
          <p:nvPr/>
        </p:nvSpPr>
        <p:spPr>
          <a:xfrm>
            <a:off x="3814041" y="2998344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OAuth2PasswordRequestForm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2A5592D-4F11-B244-B195-823D0FF75DC8}"/>
              </a:ext>
            </a:extLst>
          </p:cNvPr>
          <p:cNvSpPr/>
          <p:nvPr/>
        </p:nvSpPr>
        <p:spPr>
          <a:xfrm>
            <a:off x="3814041" y="3567110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87E8DB0-85CD-EB1A-ECCB-B121DF0013BE}"/>
              </a:ext>
            </a:extLst>
          </p:cNvPr>
          <p:cNvSpPr/>
          <p:nvPr/>
        </p:nvSpPr>
        <p:spPr>
          <a:xfrm>
            <a:off x="3814041" y="4133436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999F9C6-F5AA-61C7-5E90-C14D364CA6AF}"/>
              </a:ext>
            </a:extLst>
          </p:cNvPr>
          <p:cNvSpPr/>
          <p:nvPr/>
        </p:nvSpPr>
        <p:spPr>
          <a:xfrm>
            <a:off x="6843562" y="1860808"/>
            <a:ext cx="311604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Response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F4BD016-C45D-C070-F6CC-26AF827F3901}"/>
              </a:ext>
            </a:extLst>
          </p:cNvPr>
          <p:cNvSpPr/>
          <p:nvPr/>
        </p:nvSpPr>
        <p:spPr>
          <a:xfrm>
            <a:off x="6843561" y="2429576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UserResponse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B2EC943-9770-3B05-A867-617D246FF3E5}"/>
              </a:ext>
            </a:extLst>
          </p:cNvPr>
          <p:cNvSpPr/>
          <p:nvPr/>
        </p:nvSpPr>
        <p:spPr>
          <a:xfrm>
            <a:off x="6843561" y="2998344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access_token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token_type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1FBA496-F5EC-23A6-20DA-3D8D3D0AC0C1}"/>
              </a:ext>
            </a:extLst>
          </p:cNvPr>
          <p:cNvSpPr/>
          <p:nvPr/>
        </p:nvSpPr>
        <p:spPr>
          <a:xfrm>
            <a:off x="6843561" y="3567110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access_token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token_type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8F29791-06E4-DA65-23FA-8FCE34F893AA}"/>
              </a:ext>
            </a:extLst>
          </p:cNvPr>
          <p:cNvSpPr/>
          <p:nvPr/>
        </p:nvSpPr>
        <p:spPr>
          <a:xfrm>
            <a:off x="6843561" y="4133436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UserResponse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592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50C25-57AF-37C4-A556-63D9875F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AE60A03-04C5-03A8-9259-39661ADB87EF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581E9CF8-7DB2-D650-B9AB-885160FFC5AC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267CF-2148-485A-3086-6ABECE4D7BCC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BFC5A-CEB2-57F3-E531-057E25D3E683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Game API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EC8605D-ED02-2E69-934A-6ACE1A4148D9}"/>
              </a:ext>
            </a:extLst>
          </p:cNvPr>
          <p:cNvSpPr/>
          <p:nvPr/>
        </p:nvSpPr>
        <p:spPr>
          <a:xfrm>
            <a:off x="791790" y="1860808"/>
            <a:ext cx="1039356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Method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AD9F053-66B7-0026-9853-4ADAD8395022}"/>
              </a:ext>
            </a:extLst>
          </p:cNvPr>
          <p:cNvSpPr/>
          <p:nvPr/>
        </p:nvSpPr>
        <p:spPr>
          <a:xfrm>
            <a:off x="9945599" y="1860808"/>
            <a:ext cx="1454606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설명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DF916C4-00DB-D1C3-CD76-D6A777A51CE6}"/>
              </a:ext>
            </a:extLst>
          </p:cNvPr>
          <p:cNvSpPr/>
          <p:nvPr/>
        </p:nvSpPr>
        <p:spPr>
          <a:xfrm>
            <a:off x="1965994" y="1860808"/>
            <a:ext cx="1436290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Endpoint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595135-ED42-2484-E0BB-0B1ADC20E436}"/>
              </a:ext>
            </a:extLst>
          </p:cNvPr>
          <p:cNvSpPr/>
          <p:nvPr/>
        </p:nvSpPr>
        <p:spPr>
          <a:xfrm>
            <a:off x="791789" y="2429577"/>
            <a:ext cx="1039355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9E49221-12E9-16AB-7C61-E5333180C75B}"/>
              </a:ext>
            </a:extLst>
          </p:cNvPr>
          <p:cNvSpPr/>
          <p:nvPr/>
        </p:nvSpPr>
        <p:spPr>
          <a:xfrm>
            <a:off x="1965994" y="2429576"/>
            <a:ext cx="143629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/questions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B5CA0B4-BDBB-AAA8-59ED-E2633C84FC50}"/>
              </a:ext>
            </a:extLst>
          </p:cNvPr>
          <p:cNvSpPr/>
          <p:nvPr/>
        </p:nvSpPr>
        <p:spPr>
          <a:xfrm>
            <a:off x="1965994" y="2998344"/>
            <a:ext cx="143629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/verify	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B8A973-0359-EDD0-FCEC-2BBE64A9A142}"/>
              </a:ext>
            </a:extLst>
          </p:cNvPr>
          <p:cNvSpPr/>
          <p:nvPr/>
        </p:nvSpPr>
        <p:spPr>
          <a:xfrm>
            <a:off x="9945598" y="2429575"/>
            <a:ext cx="1454606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문제 목록 조회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53543CC-2CBE-F546-79EE-5822D523DF97}"/>
              </a:ext>
            </a:extLst>
          </p:cNvPr>
          <p:cNvSpPr/>
          <p:nvPr/>
        </p:nvSpPr>
        <p:spPr>
          <a:xfrm>
            <a:off x="9945598" y="2998343"/>
            <a:ext cx="1454606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정답 검증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C09A9AF-FB39-7C1F-2BA5-5F5C98074786}"/>
              </a:ext>
            </a:extLst>
          </p:cNvPr>
          <p:cNvSpPr/>
          <p:nvPr/>
        </p:nvSpPr>
        <p:spPr>
          <a:xfrm>
            <a:off x="791788" y="2993489"/>
            <a:ext cx="1039355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FC3F32D-55B2-3C46-4380-2C35359B971F}"/>
              </a:ext>
            </a:extLst>
          </p:cNvPr>
          <p:cNvSpPr/>
          <p:nvPr/>
        </p:nvSpPr>
        <p:spPr>
          <a:xfrm>
            <a:off x="3539984" y="1860808"/>
            <a:ext cx="1615208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Query Params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33EE9BB-26BB-21FF-3AB8-1B6BA58CCB4D}"/>
              </a:ext>
            </a:extLst>
          </p:cNvPr>
          <p:cNvSpPr/>
          <p:nvPr/>
        </p:nvSpPr>
        <p:spPr>
          <a:xfrm>
            <a:off x="3539983" y="2429576"/>
            <a:ext cx="161520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difficulty (int)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9691D41-B1E8-6744-2CDE-51EBCBBFA39D}"/>
              </a:ext>
            </a:extLst>
          </p:cNvPr>
          <p:cNvSpPr/>
          <p:nvPr/>
        </p:nvSpPr>
        <p:spPr>
          <a:xfrm>
            <a:off x="3539983" y="2998344"/>
            <a:ext cx="161520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96733AC-B69F-80CA-ACED-F68931E81845}"/>
              </a:ext>
            </a:extLst>
          </p:cNvPr>
          <p:cNvSpPr/>
          <p:nvPr/>
        </p:nvSpPr>
        <p:spPr>
          <a:xfrm>
            <a:off x="7572375" y="1860808"/>
            <a:ext cx="2238375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Response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FCBC89C-8E6E-F016-BF92-E4A67D0A1EDC}"/>
              </a:ext>
            </a:extLst>
          </p:cNvPr>
          <p:cNvSpPr/>
          <p:nvPr/>
        </p:nvSpPr>
        <p:spPr>
          <a:xfrm>
            <a:off x="7572374" y="2429576"/>
            <a:ext cx="22383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{questions: List[Question]}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FE3FF3A-E98E-41DB-A1F6-FFFA556A83E5}"/>
              </a:ext>
            </a:extLst>
          </p:cNvPr>
          <p:cNvSpPr/>
          <p:nvPr/>
        </p:nvSpPr>
        <p:spPr>
          <a:xfrm>
            <a:off x="7572374" y="2998344"/>
            <a:ext cx="2238375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VerifyAnswerResponse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AE17987-0165-7F6E-B72F-BDDA7B1ABB8C}"/>
              </a:ext>
            </a:extLst>
          </p:cNvPr>
          <p:cNvSpPr/>
          <p:nvPr/>
        </p:nvSpPr>
        <p:spPr>
          <a:xfrm>
            <a:off x="5290039" y="1860808"/>
            <a:ext cx="2147488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Request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AF7DA91-1B68-7B11-791B-DD26F416B3B9}"/>
              </a:ext>
            </a:extLst>
          </p:cNvPr>
          <p:cNvSpPr/>
          <p:nvPr/>
        </p:nvSpPr>
        <p:spPr>
          <a:xfrm>
            <a:off x="5290038" y="2429576"/>
            <a:ext cx="214748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5C3AEF-C75B-FFCA-9A3A-B0CE771CFDFA}"/>
              </a:ext>
            </a:extLst>
          </p:cNvPr>
          <p:cNvSpPr/>
          <p:nvPr/>
        </p:nvSpPr>
        <p:spPr>
          <a:xfrm>
            <a:off x="5290038" y="2998344"/>
            <a:ext cx="214748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{questionId, userAnswer}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880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43FBF-43D0-3561-02C5-F99AF0AE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4D84E63-3E41-FABB-A0AE-E8805DA6140C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BAC8631F-EA0A-0EF3-ABD5-A98DC5A044ED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9214-1CF1-A324-B2AA-2A91185B76CC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CEF39A-05F5-5B34-2A32-9C7CEF7F40B5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Note API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D37C13C-0E6E-DEC1-E4CC-E3A6A7C300B7}"/>
              </a:ext>
            </a:extLst>
          </p:cNvPr>
          <p:cNvSpPr/>
          <p:nvPr/>
        </p:nvSpPr>
        <p:spPr>
          <a:xfrm>
            <a:off x="791789" y="1860808"/>
            <a:ext cx="103945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Method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FDEBC7A-3F8E-B079-5B57-D4A61B5B0764}"/>
              </a:ext>
            </a:extLst>
          </p:cNvPr>
          <p:cNvSpPr/>
          <p:nvPr/>
        </p:nvSpPr>
        <p:spPr>
          <a:xfrm>
            <a:off x="10094451" y="1860808"/>
            <a:ext cx="1305753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설명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D4DAF7A-F0E7-47CD-6CBF-56906648F194}"/>
              </a:ext>
            </a:extLst>
          </p:cNvPr>
          <p:cNvSpPr/>
          <p:nvPr/>
        </p:nvSpPr>
        <p:spPr>
          <a:xfrm>
            <a:off x="1965993" y="1860808"/>
            <a:ext cx="1713297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Endpoint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6B3E92-EE0E-0E32-2C85-659205EFC716}"/>
              </a:ext>
            </a:extLst>
          </p:cNvPr>
          <p:cNvSpPr/>
          <p:nvPr/>
        </p:nvSpPr>
        <p:spPr>
          <a:xfrm>
            <a:off x="791789" y="2429577"/>
            <a:ext cx="1039450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03F9B27-2858-3C17-A62C-E8603473EF90}"/>
              </a:ext>
            </a:extLst>
          </p:cNvPr>
          <p:cNvSpPr/>
          <p:nvPr/>
        </p:nvSpPr>
        <p:spPr>
          <a:xfrm>
            <a:off x="1965993" y="2429576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/notes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54C3610-3144-13AE-4DDD-EB2458A9D195}"/>
              </a:ext>
            </a:extLst>
          </p:cNvPr>
          <p:cNvSpPr/>
          <p:nvPr/>
        </p:nvSpPr>
        <p:spPr>
          <a:xfrm>
            <a:off x="1965993" y="2998344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/notes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427A1E-C531-F17A-F52F-D8FF0910733A}"/>
              </a:ext>
            </a:extLst>
          </p:cNvPr>
          <p:cNvSpPr/>
          <p:nvPr/>
        </p:nvSpPr>
        <p:spPr>
          <a:xfrm>
            <a:off x="1965995" y="4722237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/rankings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7E132A6-C0D2-014F-50BE-70FC061C8B0D}"/>
              </a:ext>
            </a:extLst>
          </p:cNvPr>
          <p:cNvSpPr/>
          <p:nvPr/>
        </p:nvSpPr>
        <p:spPr>
          <a:xfrm>
            <a:off x="10094450" y="2429575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오답 노트 생성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FC326E-994F-77D1-A105-F3E9836F06E2}"/>
              </a:ext>
            </a:extLst>
          </p:cNvPr>
          <p:cNvSpPr/>
          <p:nvPr/>
        </p:nvSpPr>
        <p:spPr>
          <a:xfrm>
            <a:off x="10094450" y="2998343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오답 노트 조회</a:t>
            </a:r>
            <a:endParaRPr lang="ko-KR" altLang="en-US" sz="1300" b="1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7CC1985-DF36-E621-2801-9E5F515FD2A4}"/>
              </a:ext>
            </a:extLst>
          </p:cNvPr>
          <p:cNvSpPr/>
          <p:nvPr/>
        </p:nvSpPr>
        <p:spPr>
          <a:xfrm>
            <a:off x="10094452" y="4722236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랭킹 조회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A0D6420-1574-B411-133D-9E0797D3BA8B}"/>
              </a:ext>
            </a:extLst>
          </p:cNvPr>
          <p:cNvSpPr/>
          <p:nvPr/>
        </p:nvSpPr>
        <p:spPr>
          <a:xfrm>
            <a:off x="1965995" y="5288563"/>
            <a:ext cx="171329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300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/guestbook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46A993-413D-E073-4C4F-6B33B0D395C9}"/>
              </a:ext>
            </a:extLst>
          </p:cNvPr>
          <p:cNvSpPr/>
          <p:nvPr/>
        </p:nvSpPr>
        <p:spPr>
          <a:xfrm>
            <a:off x="791791" y="4719000"/>
            <a:ext cx="103945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1A0BFCC-5EEA-E4AC-6B72-5800A74E36F7}"/>
              </a:ext>
            </a:extLst>
          </p:cNvPr>
          <p:cNvSpPr/>
          <p:nvPr/>
        </p:nvSpPr>
        <p:spPr>
          <a:xfrm>
            <a:off x="10094452" y="5288563"/>
            <a:ext cx="1305753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랭킹</a:t>
            </a:r>
            <a:r>
              <a:rPr lang="en-US" altLang="ko-KR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저장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9B859CB-E9D4-DBE5-672A-5DAFDD7F2440}"/>
              </a:ext>
            </a:extLst>
          </p:cNvPr>
          <p:cNvSpPr/>
          <p:nvPr/>
        </p:nvSpPr>
        <p:spPr>
          <a:xfrm>
            <a:off x="791791" y="5288563"/>
            <a:ext cx="103945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827C7B5-86CF-BBC4-4EC5-FEC7C413A0C0}"/>
              </a:ext>
            </a:extLst>
          </p:cNvPr>
          <p:cNvSpPr/>
          <p:nvPr/>
        </p:nvSpPr>
        <p:spPr>
          <a:xfrm>
            <a:off x="791788" y="2993489"/>
            <a:ext cx="1039450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AD1E766-AC46-C6DD-F2FE-F85231F43CE5}"/>
              </a:ext>
            </a:extLst>
          </p:cNvPr>
          <p:cNvSpPr/>
          <p:nvPr/>
        </p:nvSpPr>
        <p:spPr>
          <a:xfrm>
            <a:off x="3814042" y="1860808"/>
            <a:ext cx="289467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Request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2D24654-B0EB-8A67-F4AB-971465E08D20}"/>
              </a:ext>
            </a:extLst>
          </p:cNvPr>
          <p:cNvSpPr/>
          <p:nvPr/>
        </p:nvSpPr>
        <p:spPr>
          <a:xfrm>
            <a:off x="3814041" y="2429576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question_id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user_answer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061B5F7-D1E3-DF09-6519-5363BB8C5653}"/>
              </a:ext>
            </a:extLst>
          </p:cNvPr>
          <p:cNvSpPr/>
          <p:nvPr/>
        </p:nvSpPr>
        <p:spPr>
          <a:xfrm>
            <a:off x="3814041" y="2998344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BE6F6CF-B8CE-1988-B2D8-32EE358794D8}"/>
              </a:ext>
            </a:extLst>
          </p:cNvPr>
          <p:cNvSpPr/>
          <p:nvPr/>
        </p:nvSpPr>
        <p:spPr>
          <a:xfrm>
            <a:off x="3814043" y="4722237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B50D91F-0BAE-FD0D-E937-2E06FA0C04BB}"/>
              </a:ext>
            </a:extLst>
          </p:cNvPr>
          <p:cNvSpPr/>
          <p:nvPr/>
        </p:nvSpPr>
        <p:spPr>
          <a:xfrm>
            <a:off x="3814043" y="5288563"/>
            <a:ext cx="289467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{nickname, score, ...}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F3C7AFC-397B-59D6-D9DE-2F28A799B67C}"/>
              </a:ext>
            </a:extLst>
          </p:cNvPr>
          <p:cNvSpPr/>
          <p:nvPr/>
        </p:nvSpPr>
        <p:spPr>
          <a:xfrm>
            <a:off x="6843562" y="1860808"/>
            <a:ext cx="311604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Response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A03E34B-329D-DDBC-6786-D9109409CF78}"/>
              </a:ext>
            </a:extLst>
          </p:cNvPr>
          <p:cNvSpPr/>
          <p:nvPr/>
        </p:nvSpPr>
        <p:spPr>
          <a:xfrm>
            <a:off x="6843561" y="2429576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WrongAnswerNoteResponse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35FA05E-1A8B-23BF-3AD7-35CA8A707140}"/>
              </a:ext>
            </a:extLst>
          </p:cNvPr>
          <p:cNvSpPr/>
          <p:nvPr/>
        </p:nvSpPr>
        <p:spPr>
          <a:xfrm>
            <a:off x="6843561" y="2998344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List[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WrongAnswerNoteResponse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]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2BC4AC6-E26F-B41B-F0E3-222B734233F8}"/>
              </a:ext>
            </a:extLst>
          </p:cNvPr>
          <p:cNvSpPr/>
          <p:nvPr/>
        </p:nvSpPr>
        <p:spPr>
          <a:xfrm>
            <a:off x="6843563" y="4722237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List[</a:t>
            </a:r>
            <a:r>
              <a:rPr lang="en-US" altLang="ko-KR" sz="1300" b="1" dirty="0" err="1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RankingEntry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]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BA1E11B-9D29-442C-F7CC-E8140194FF1D}"/>
              </a:ext>
            </a:extLst>
          </p:cNvPr>
          <p:cNvSpPr/>
          <p:nvPr/>
        </p:nvSpPr>
        <p:spPr>
          <a:xfrm>
            <a:off x="6843563" y="5288563"/>
            <a:ext cx="3116041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D8D6B35-7BD0-EF95-3B66-3F1576B55CF2}"/>
              </a:ext>
            </a:extLst>
          </p:cNvPr>
          <p:cNvSpPr/>
          <p:nvPr/>
        </p:nvSpPr>
        <p:spPr>
          <a:xfrm>
            <a:off x="791790" y="4153468"/>
            <a:ext cx="103945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Method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4BA1D77-758C-94D6-D8EC-C416054D0BC0}"/>
              </a:ext>
            </a:extLst>
          </p:cNvPr>
          <p:cNvSpPr/>
          <p:nvPr/>
        </p:nvSpPr>
        <p:spPr>
          <a:xfrm>
            <a:off x="10094452" y="4153468"/>
            <a:ext cx="1305753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F136511-0A40-48F1-15A3-3B537B2EE32A}"/>
              </a:ext>
            </a:extLst>
          </p:cNvPr>
          <p:cNvSpPr/>
          <p:nvPr/>
        </p:nvSpPr>
        <p:spPr>
          <a:xfrm>
            <a:off x="1965994" y="4153468"/>
            <a:ext cx="1713297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Endpoint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2E857D8-1995-5933-A731-35A72510930E}"/>
              </a:ext>
            </a:extLst>
          </p:cNvPr>
          <p:cNvSpPr/>
          <p:nvPr/>
        </p:nvSpPr>
        <p:spPr>
          <a:xfrm>
            <a:off x="3814043" y="4153468"/>
            <a:ext cx="289467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Request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2EACCF8-503C-03F6-0304-C6B586F62CCF}"/>
              </a:ext>
            </a:extLst>
          </p:cNvPr>
          <p:cNvSpPr/>
          <p:nvPr/>
        </p:nvSpPr>
        <p:spPr>
          <a:xfrm>
            <a:off x="6843563" y="4153468"/>
            <a:ext cx="311604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Response Body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F9620F-CFA7-3D00-83DF-B41A713DB794}"/>
              </a:ext>
            </a:extLst>
          </p:cNvPr>
          <p:cNvSpPr txBox="1"/>
          <p:nvPr/>
        </p:nvSpPr>
        <p:spPr>
          <a:xfrm>
            <a:off x="4922314" y="3694210"/>
            <a:ext cx="234737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0E2841">
                    <a:lumMod val="90000"/>
                    <a:lumOff val="10000"/>
                  </a:srgb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Ranking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 API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106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CC21B-07C0-FCBA-B3F8-E130E079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AE3F614-C3EE-03C4-ACBA-40A88BF09237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5BBCF2E6-4C50-2C21-01F4-E42F8DB5A8B8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F777E1-0784-8FC7-8E03-0583CFF2CB59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7ADDA6-C7FD-13CB-CD0B-3E958DC981A7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Error Codes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2948B4-974C-6A1C-457F-D52F5217F462}"/>
              </a:ext>
            </a:extLst>
          </p:cNvPr>
          <p:cNvSpPr/>
          <p:nvPr/>
        </p:nvSpPr>
        <p:spPr>
          <a:xfrm>
            <a:off x="1761497" y="1863221"/>
            <a:ext cx="3167530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Code</a:t>
            </a:r>
            <a:endParaRPr lang="ko-KR" altLang="en-US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129F03-6988-DD9D-04A5-292FDC61B930}"/>
              </a:ext>
            </a:extLst>
          </p:cNvPr>
          <p:cNvSpPr/>
          <p:nvPr/>
        </p:nvSpPr>
        <p:spPr>
          <a:xfrm>
            <a:off x="6232148" y="1863221"/>
            <a:ext cx="4198355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Description</a:t>
            </a:r>
            <a:endParaRPr lang="ko-KR" altLang="en-US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523B2DE-6AFB-2873-4D30-5D8CDF7F209E}"/>
              </a:ext>
            </a:extLst>
          </p:cNvPr>
          <p:cNvSpPr/>
          <p:nvPr/>
        </p:nvSpPr>
        <p:spPr>
          <a:xfrm>
            <a:off x="1761496" y="2431989"/>
            <a:ext cx="3167528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ERR_USER_DUPLICATE</a:t>
            </a:r>
            <a:endParaRPr lang="ko-KR" altLang="en-US" sz="16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D1F17F2-14BC-53FF-BE60-52069F03AA03}"/>
              </a:ext>
            </a:extLst>
          </p:cNvPr>
          <p:cNvSpPr/>
          <p:nvPr/>
        </p:nvSpPr>
        <p:spPr>
          <a:xfrm>
            <a:off x="6232147" y="2431988"/>
            <a:ext cx="4198355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이미 존재하는 사용자명입니다</a:t>
            </a:r>
            <a:r>
              <a:rPr lang="en-US" altLang="ko-KR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4AFB34A-7E6B-41CF-F4F0-D1A992D41832}"/>
              </a:ext>
            </a:extLst>
          </p:cNvPr>
          <p:cNvSpPr/>
          <p:nvPr/>
        </p:nvSpPr>
        <p:spPr>
          <a:xfrm>
            <a:off x="6232147" y="3000756"/>
            <a:ext cx="4198355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아이디 또는 비밀번호가 일치하지 않습니다</a:t>
            </a:r>
            <a:r>
              <a:rPr lang="en-US" altLang="ko-KR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BA001A3-6084-A51E-AAB1-D2E9003237B5}"/>
              </a:ext>
            </a:extLst>
          </p:cNvPr>
          <p:cNvSpPr/>
          <p:nvPr/>
        </p:nvSpPr>
        <p:spPr>
          <a:xfrm>
            <a:off x="6232147" y="3571414"/>
            <a:ext cx="4198355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요청한 문제를 찾을 수 없습니다</a:t>
            </a:r>
            <a:r>
              <a:rPr lang="en-US" altLang="ko-KR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5697E33-B6AF-1D2A-F6DF-05837928F2B3}"/>
              </a:ext>
            </a:extLst>
          </p:cNvPr>
          <p:cNvSpPr/>
          <p:nvPr/>
        </p:nvSpPr>
        <p:spPr>
          <a:xfrm>
            <a:off x="6232147" y="4133409"/>
            <a:ext cx="4198355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 </a:t>
            </a:r>
            <a:r>
              <a:rPr lang="ko-KR" altLang="en-US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서비스 응답이 지연되고 있습니다</a:t>
            </a:r>
            <a:r>
              <a:rPr lang="en-US" altLang="ko-KR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잠시 후 시도해주세요</a:t>
            </a:r>
            <a:r>
              <a:rPr lang="en-US" altLang="ko-KR" sz="12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7C4CE4D-0B64-A25A-D3FF-18FDEB9D2AC0}"/>
              </a:ext>
            </a:extLst>
          </p:cNvPr>
          <p:cNvSpPr/>
          <p:nvPr/>
        </p:nvSpPr>
        <p:spPr>
          <a:xfrm>
            <a:off x="1761496" y="2996698"/>
            <a:ext cx="3167528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ERR_AUTH_FAILED</a:t>
            </a:r>
            <a:endParaRPr lang="ko-KR" altLang="en-US" sz="16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8D174E9-3F58-A787-6EF5-B38CEBC0C71F}"/>
              </a:ext>
            </a:extLst>
          </p:cNvPr>
          <p:cNvSpPr/>
          <p:nvPr/>
        </p:nvSpPr>
        <p:spPr>
          <a:xfrm>
            <a:off x="1761496" y="3567084"/>
            <a:ext cx="3167528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ERR_QUESTION_NOT_FOUND</a:t>
            </a:r>
            <a:endParaRPr lang="ko-KR" altLang="en-US" sz="16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D46B033-7A0A-6BA0-2CBF-4B198CD880D9}"/>
              </a:ext>
            </a:extLst>
          </p:cNvPr>
          <p:cNvSpPr/>
          <p:nvPr/>
        </p:nvSpPr>
        <p:spPr>
          <a:xfrm>
            <a:off x="1761496" y="4133409"/>
            <a:ext cx="3167528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ERR_AI_SERVICE_TIMEOUT</a:t>
            </a:r>
            <a:endParaRPr lang="ko-KR" altLang="en-US" sz="16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BBF4D94-83A0-6735-9E46-EF9CD40F8161}"/>
              </a:ext>
            </a:extLst>
          </p:cNvPr>
          <p:cNvSpPr/>
          <p:nvPr/>
        </p:nvSpPr>
        <p:spPr>
          <a:xfrm>
            <a:off x="5063778" y="1863221"/>
            <a:ext cx="1033619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Status</a:t>
            </a:r>
            <a:endParaRPr lang="ko-KR" altLang="en-US" sz="16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2E13FFC-73AE-9B44-DEA4-14D12CA5FA63}"/>
              </a:ext>
            </a:extLst>
          </p:cNvPr>
          <p:cNvSpPr/>
          <p:nvPr/>
        </p:nvSpPr>
        <p:spPr>
          <a:xfrm>
            <a:off x="5063777" y="2431989"/>
            <a:ext cx="103361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400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09C9882-DD3C-F452-C7F9-8F5445B1F448}"/>
              </a:ext>
            </a:extLst>
          </p:cNvPr>
          <p:cNvSpPr/>
          <p:nvPr/>
        </p:nvSpPr>
        <p:spPr>
          <a:xfrm>
            <a:off x="5063777" y="3000757"/>
            <a:ext cx="103361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401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59732D2-4C9D-52A8-98F4-C20101F1987C}"/>
              </a:ext>
            </a:extLst>
          </p:cNvPr>
          <p:cNvSpPr/>
          <p:nvPr/>
        </p:nvSpPr>
        <p:spPr>
          <a:xfrm>
            <a:off x="5063777" y="3567084"/>
            <a:ext cx="103361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404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824184A-D4F9-ECD6-7339-ECCCEBD544F8}"/>
              </a:ext>
            </a:extLst>
          </p:cNvPr>
          <p:cNvSpPr/>
          <p:nvPr/>
        </p:nvSpPr>
        <p:spPr>
          <a:xfrm>
            <a:off x="5063777" y="4133410"/>
            <a:ext cx="1033619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503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337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92DB9-6E84-75E8-C0E4-BDCC46FD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F866A91-4285-00FB-17FF-6A4204E14B9F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40E7C174-534C-E86C-44F2-7C5BF23BEE2A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D8695-09E1-5635-8E2A-2B177AC8ACA1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B382ED-99AD-A9A5-E117-C126F3154EA5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Sequence Diagram</a:t>
            </a:r>
            <a:endParaRPr lang="ko-KR" altLang="en-US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8082AFD-36F1-F8D8-0FD0-9A41E6E43A15}"/>
              </a:ext>
            </a:extLst>
          </p:cNvPr>
          <p:cNvSpPr/>
          <p:nvPr/>
        </p:nvSpPr>
        <p:spPr>
          <a:xfrm>
            <a:off x="3575053" y="3323696"/>
            <a:ext cx="7358377" cy="13716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EC8FBD-652F-19B5-1E52-36716BD4887E}"/>
              </a:ext>
            </a:extLst>
          </p:cNvPr>
          <p:cNvSpPr/>
          <p:nvPr/>
        </p:nvSpPr>
        <p:spPr>
          <a:xfrm>
            <a:off x="791789" y="1860808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58B268-F194-C5AC-FFC3-BC9D2E874143}"/>
              </a:ext>
            </a:extLst>
          </p:cNvPr>
          <p:cNvSpPr/>
          <p:nvPr/>
        </p:nvSpPr>
        <p:spPr>
          <a:xfrm>
            <a:off x="3124805" y="1860808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D2C84A-F07C-2BCA-7D49-A942DE23A625}"/>
              </a:ext>
            </a:extLst>
          </p:cNvPr>
          <p:cNvSpPr/>
          <p:nvPr/>
        </p:nvSpPr>
        <p:spPr>
          <a:xfrm>
            <a:off x="5457822" y="1860808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A699AA-60F4-4E06-7AFD-BB66DA0149D1}"/>
              </a:ext>
            </a:extLst>
          </p:cNvPr>
          <p:cNvSpPr/>
          <p:nvPr/>
        </p:nvSpPr>
        <p:spPr>
          <a:xfrm>
            <a:off x="10123861" y="1860808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AI_Service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FCD874-80AB-A17C-D877-246A0C7050BF}"/>
              </a:ext>
            </a:extLst>
          </p:cNvPr>
          <p:cNvSpPr/>
          <p:nvPr/>
        </p:nvSpPr>
        <p:spPr>
          <a:xfrm>
            <a:off x="7790839" y="1860808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9B7555-737B-5903-B896-F9D18FFF8C0F}"/>
              </a:ext>
            </a:extLst>
          </p:cNvPr>
          <p:cNvSpPr/>
          <p:nvPr/>
        </p:nvSpPr>
        <p:spPr>
          <a:xfrm>
            <a:off x="791789" y="5513071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F8F8A9-F4CB-0566-4DD6-23B1F8B48C35}"/>
              </a:ext>
            </a:extLst>
          </p:cNvPr>
          <p:cNvSpPr/>
          <p:nvPr/>
        </p:nvSpPr>
        <p:spPr>
          <a:xfrm>
            <a:off x="3124805" y="5513071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E7B73E-58AC-0834-11CA-2B12606FE76C}"/>
              </a:ext>
            </a:extLst>
          </p:cNvPr>
          <p:cNvSpPr/>
          <p:nvPr/>
        </p:nvSpPr>
        <p:spPr>
          <a:xfrm>
            <a:off x="5457822" y="5513071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59EFE2-8AF6-1911-EA58-120AEA6BA6E3}"/>
              </a:ext>
            </a:extLst>
          </p:cNvPr>
          <p:cNvSpPr/>
          <p:nvPr/>
        </p:nvSpPr>
        <p:spPr>
          <a:xfrm>
            <a:off x="10123861" y="5513071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AI_Service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AB199A-CFD0-DE6B-C7DE-9FA220D89CE7}"/>
              </a:ext>
            </a:extLst>
          </p:cNvPr>
          <p:cNvSpPr/>
          <p:nvPr/>
        </p:nvSpPr>
        <p:spPr>
          <a:xfrm>
            <a:off x="7790839" y="5513071"/>
            <a:ext cx="1276350" cy="4191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B993220-FAB2-A746-B079-4763640C2C9B}"/>
              </a:ext>
            </a:extLst>
          </p:cNvPr>
          <p:cNvCxnSpPr>
            <a:stCxn id="2" idx="2"/>
            <a:endCxn id="9" idx="0"/>
          </p:cNvCxnSpPr>
          <p:nvPr/>
        </p:nvCxnSpPr>
        <p:spPr>
          <a:xfrm>
            <a:off x="1429964" y="2279908"/>
            <a:ext cx="0" cy="3233163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3369AA6-7518-7537-0585-608F927391EE}"/>
              </a:ext>
            </a:extLst>
          </p:cNvPr>
          <p:cNvCxnSpPr>
            <a:stCxn id="3" idx="2"/>
            <a:endCxn id="10" idx="0"/>
          </p:cNvCxnSpPr>
          <p:nvPr/>
        </p:nvCxnSpPr>
        <p:spPr>
          <a:xfrm>
            <a:off x="3762980" y="2279908"/>
            <a:ext cx="0" cy="3233163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FE5F7A7-F283-9170-A925-41D092F58736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6095997" y="2279908"/>
            <a:ext cx="0" cy="3233163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4CAF4F7-9A3C-0786-B0A7-B378427E59F8}"/>
              </a:ext>
            </a:extLst>
          </p:cNvPr>
          <p:cNvCxnSpPr>
            <a:stCxn id="8" idx="2"/>
            <a:endCxn id="16" idx="0"/>
          </p:cNvCxnSpPr>
          <p:nvPr/>
        </p:nvCxnSpPr>
        <p:spPr>
          <a:xfrm>
            <a:off x="8429014" y="2279908"/>
            <a:ext cx="0" cy="3233163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5AAC8A-5D81-E568-87EF-1BD8EA6A420C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10762036" y="2279908"/>
            <a:ext cx="0" cy="3233163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B9046FC-7E2C-16DE-6F56-70A843236B18}"/>
              </a:ext>
            </a:extLst>
          </p:cNvPr>
          <p:cNvCxnSpPr/>
          <p:nvPr/>
        </p:nvCxnSpPr>
        <p:spPr>
          <a:xfrm>
            <a:off x="1429964" y="2552700"/>
            <a:ext cx="2333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C61204-089D-7BEF-7274-E4C3747CAEDE}"/>
              </a:ext>
            </a:extLst>
          </p:cNvPr>
          <p:cNvSpPr/>
          <p:nvPr/>
        </p:nvSpPr>
        <p:spPr>
          <a:xfrm>
            <a:off x="10727108" y="3384645"/>
            <a:ext cx="69846" cy="12349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3D5CD9D-EF99-D624-CA4C-EF136AB50241}"/>
              </a:ext>
            </a:extLst>
          </p:cNvPr>
          <p:cNvCxnSpPr/>
          <p:nvPr/>
        </p:nvCxnSpPr>
        <p:spPr>
          <a:xfrm>
            <a:off x="6095983" y="3384645"/>
            <a:ext cx="46660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88D251F-3178-6388-53C6-B8B67D118053}"/>
              </a:ext>
            </a:extLst>
          </p:cNvPr>
          <p:cNvCxnSpPr/>
          <p:nvPr/>
        </p:nvCxnSpPr>
        <p:spPr>
          <a:xfrm>
            <a:off x="6095993" y="5013960"/>
            <a:ext cx="23330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644260-C8BA-7202-76C0-946577E20DB9}"/>
              </a:ext>
            </a:extLst>
          </p:cNvPr>
          <p:cNvSpPr/>
          <p:nvPr/>
        </p:nvSpPr>
        <p:spPr>
          <a:xfrm>
            <a:off x="6061070" y="2857499"/>
            <a:ext cx="69846" cy="24217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2BA0E3D-11B2-F5A2-BB64-5C7E0188E751}"/>
              </a:ext>
            </a:extLst>
          </p:cNvPr>
          <p:cNvCxnSpPr/>
          <p:nvPr/>
        </p:nvCxnSpPr>
        <p:spPr>
          <a:xfrm>
            <a:off x="3762980" y="2857500"/>
            <a:ext cx="23330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구부러짐 45">
            <a:extLst>
              <a:ext uri="{FF2B5EF4-FFF2-40B4-BE49-F238E27FC236}">
                <a16:creationId xmlns:a16="http://schemas.microsoft.com/office/drawing/2014/main" id="{33DED0FC-EB6B-B97E-4F6D-B061CE046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5993" y="3157131"/>
            <a:ext cx="69848" cy="68689"/>
          </a:xfrm>
          <a:prstGeom prst="curvedConnector3">
            <a:avLst>
              <a:gd name="adj1" fmla="val -5727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B54BC46-7721-65A4-955A-C255E4A9718B}"/>
              </a:ext>
            </a:extLst>
          </p:cNvPr>
          <p:cNvCxnSpPr>
            <a:stCxn id="35" idx="2"/>
          </p:cNvCxnSpPr>
          <p:nvPr/>
        </p:nvCxnSpPr>
        <p:spPr>
          <a:xfrm flipH="1">
            <a:off x="3762980" y="5279231"/>
            <a:ext cx="2333013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6A1171C-3FE6-EABF-702B-37D3C0E87A42}"/>
              </a:ext>
            </a:extLst>
          </p:cNvPr>
          <p:cNvCxnSpPr/>
          <p:nvPr/>
        </p:nvCxnSpPr>
        <p:spPr>
          <a:xfrm flipH="1">
            <a:off x="1429964" y="5391150"/>
            <a:ext cx="2333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DA756BF-EB3E-CEBC-6DEA-6BCA5A98FECD}"/>
              </a:ext>
            </a:extLst>
          </p:cNvPr>
          <p:cNvSpPr txBox="1"/>
          <p:nvPr/>
        </p:nvSpPr>
        <p:spPr>
          <a:xfrm>
            <a:off x="1782082" y="2323058"/>
            <a:ext cx="1628775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Input Answer &amp; Submit</a:t>
            </a:r>
            <a:endParaRPr lang="ko-KR" altLang="en-US" sz="8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1A9F8B-363E-C1C0-4075-8EF00C1C388E}"/>
              </a:ext>
            </a:extLst>
          </p:cNvPr>
          <p:cNvSpPr txBox="1"/>
          <p:nvPr/>
        </p:nvSpPr>
        <p:spPr>
          <a:xfrm>
            <a:off x="3807768" y="2642055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POST /</a:t>
            </a:r>
            <a:r>
              <a:rPr lang="en-US" altLang="ko-KR" sz="8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/verify (questionId, userAnswer)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7D0741C-C9BD-843B-3C8F-B3DAD92A0B9C}"/>
              </a:ext>
            </a:extLst>
          </p:cNvPr>
          <p:cNvSpPr txBox="1"/>
          <p:nvPr/>
        </p:nvSpPr>
        <p:spPr>
          <a:xfrm>
            <a:off x="5009198" y="2933679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Preprocess Answer (trim, lower)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6F6F5B-E401-7C53-770E-9B5F8D444CEE}"/>
              </a:ext>
            </a:extLst>
          </p:cNvPr>
          <p:cNvSpPr txBox="1"/>
          <p:nvPr/>
        </p:nvSpPr>
        <p:spPr>
          <a:xfrm>
            <a:off x="7307277" y="3122097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Request Verification (Llama 3.1)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C134E7-262A-1E06-430F-DC69705F0040}"/>
              </a:ext>
            </a:extLst>
          </p:cNvPr>
          <p:cNvSpPr txBox="1"/>
          <p:nvPr/>
        </p:nvSpPr>
        <p:spPr>
          <a:xfrm>
            <a:off x="7307277" y="4399509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JSON {</a:t>
            </a:r>
            <a:r>
              <a:rPr lang="en-US" altLang="ko-KR" sz="8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is_correct</a:t>
            </a:r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score, feedback}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6BEAC65-536B-F47E-8FEF-8975F7ED9979}"/>
              </a:ext>
            </a:extLst>
          </p:cNvPr>
          <p:cNvSpPr txBox="1"/>
          <p:nvPr/>
        </p:nvSpPr>
        <p:spPr>
          <a:xfrm>
            <a:off x="6147421" y="4807307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Save Attempt Log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D4AF320-7AFE-9D01-4961-60885C79C569}"/>
              </a:ext>
            </a:extLst>
          </p:cNvPr>
          <p:cNvSpPr txBox="1"/>
          <p:nvPr/>
        </p:nvSpPr>
        <p:spPr>
          <a:xfrm>
            <a:off x="3795236" y="5059591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Response (isCorrect, similarity, feedback)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D8D3A8F-28BF-E269-26DB-05BA9F257CDC}"/>
              </a:ext>
            </a:extLst>
          </p:cNvPr>
          <p:cNvSpPr txBox="1"/>
          <p:nvPr/>
        </p:nvSpPr>
        <p:spPr>
          <a:xfrm>
            <a:off x="1474751" y="5175706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Show Result &amp; Feedback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EDBE367-E4D3-BFF4-6C00-40F80EE80A2A}"/>
              </a:ext>
            </a:extLst>
          </p:cNvPr>
          <p:cNvCxnSpPr>
            <a:stCxn id="36" idx="2"/>
          </p:cNvCxnSpPr>
          <p:nvPr/>
        </p:nvCxnSpPr>
        <p:spPr>
          <a:xfrm flipH="1">
            <a:off x="6095983" y="4619625"/>
            <a:ext cx="4666048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6D0C9E3-7A66-84E9-4424-6F40EFF2D255}"/>
              </a:ext>
            </a:extLst>
          </p:cNvPr>
          <p:cNvCxnSpPr/>
          <p:nvPr/>
        </p:nvCxnSpPr>
        <p:spPr>
          <a:xfrm flipH="1">
            <a:off x="6092436" y="3717995"/>
            <a:ext cx="4666048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FE7E003-DF6B-532D-C599-1A707D855DC8}"/>
              </a:ext>
            </a:extLst>
          </p:cNvPr>
          <p:cNvSpPr txBox="1"/>
          <p:nvPr/>
        </p:nvSpPr>
        <p:spPr>
          <a:xfrm>
            <a:off x="7303742" y="3518137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Error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A95D01-8607-FB6C-812B-63F4B61AF08B}"/>
              </a:ext>
            </a:extLst>
          </p:cNvPr>
          <p:cNvSpPr txBox="1"/>
          <p:nvPr/>
        </p:nvSpPr>
        <p:spPr>
          <a:xfrm>
            <a:off x="5743872" y="3391127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[AI Service Error / Timeout]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DE4766-2216-92F3-E6C1-E2D8F7D71A58}"/>
              </a:ext>
            </a:extLst>
          </p:cNvPr>
          <p:cNvCxnSpPr>
            <a:cxnSpLocks/>
          </p:cNvCxnSpPr>
          <p:nvPr/>
        </p:nvCxnSpPr>
        <p:spPr>
          <a:xfrm flipH="1">
            <a:off x="3764141" y="3931318"/>
            <a:ext cx="2332998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96D5D60-9434-04A5-5395-610D87A8B032}"/>
              </a:ext>
            </a:extLst>
          </p:cNvPr>
          <p:cNvSpPr txBox="1"/>
          <p:nvPr/>
        </p:nvSpPr>
        <p:spPr>
          <a:xfrm>
            <a:off x="5926130" y="4073152"/>
            <a:ext cx="953560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[Success]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AEDFB5-B0E7-CBE4-D9A0-7990E949376B}"/>
              </a:ext>
            </a:extLst>
          </p:cNvPr>
          <p:cNvSpPr txBox="1"/>
          <p:nvPr/>
        </p:nvSpPr>
        <p:spPr>
          <a:xfrm>
            <a:off x="3853704" y="3721698"/>
            <a:ext cx="2243436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503 Service Unavailable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F65DC21-C1C5-B9FB-E324-FDECC2082008}"/>
              </a:ext>
            </a:extLst>
          </p:cNvPr>
          <p:cNvCxnSpPr>
            <a:cxnSpLocks/>
          </p:cNvCxnSpPr>
          <p:nvPr/>
        </p:nvCxnSpPr>
        <p:spPr>
          <a:xfrm>
            <a:off x="3575053" y="4062413"/>
            <a:ext cx="7358377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C197124-2567-34B9-4DA2-A1F142AA0206}"/>
              </a:ext>
            </a:extLst>
          </p:cNvPr>
          <p:cNvSpPr txBox="1"/>
          <p:nvPr/>
        </p:nvSpPr>
        <p:spPr>
          <a:xfrm flipV="1">
            <a:off x="3570535" y="3314445"/>
            <a:ext cx="381713" cy="234196"/>
          </a:xfrm>
          <a:prstGeom prst="snip1Rect">
            <a:avLst>
              <a:gd name="adj" fmla="val 45137"/>
            </a:avLst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altLang="ko-KR" sz="800" dirty="0">
              <a:solidFill>
                <a:schemeClr val="bg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FE3B2F-D3AB-F7FD-F2AB-FB536A416535}"/>
              </a:ext>
            </a:extLst>
          </p:cNvPr>
          <p:cNvSpPr txBox="1"/>
          <p:nvPr/>
        </p:nvSpPr>
        <p:spPr>
          <a:xfrm>
            <a:off x="3572767" y="3349400"/>
            <a:ext cx="341269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alt</a:t>
            </a:r>
          </a:p>
        </p:txBody>
      </p:sp>
    </p:spTree>
    <p:extLst>
      <p:ext uri="{BB962C8B-B14F-4D97-AF65-F5344CB8AC3E}">
        <p14:creationId xmlns:p14="http://schemas.microsoft.com/office/powerpoint/2010/main" val="4053258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EBCF1-630E-416F-C4C6-860A947A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64AA9A3-A53F-8F1A-93D6-143D3BC87C85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8AFFADD1-C6D1-EC47-F2D7-57FF416EBCEC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5B6BA-3969-80BC-DC7E-6852E567DFCE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CD96D-19DC-4A7C-4C5D-EB67063D4B22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상세 설계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Tables</a:t>
            </a:r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&amp;</a:t>
            </a:r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ERD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1C5333E-E276-781A-D1E4-6420F3C01C26}"/>
              </a:ext>
            </a:extLst>
          </p:cNvPr>
          <p:cNvSpPr/>
          <p:nvPr/>
        </p:nvSpPr>
        <p:spPr>
          <a:xfrm>
            <a:off x="791789" y="1860549"/>
            <a:ext cx="10608415" cy="40716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25085D7-8CEB-FD9C-2A30-A8005CA06BDB}"/>
              </a:ext>
            </a:extLst>
          </p:cNvPr>
          <p:cNvCxnSpPr>
            <a:stCxn id="3" idx="4"/>
            <a:endCxn id="6" idx="2"/>
          </p:cNvCxnSpPr>
          <p:nvPr/>
        </p:nvCxnSpPr>
        <p:spPr>
          <a:xfrm flipV="1">
            <a:off x="2386657" y="4569939"/>
            <a:ext cx="1249595" cy="5678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46B39C-64E9-FAC1-CD5D-67CB3E369686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483052" y="4569939"/>
            <a:ext cx="1266710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DEAC424-2138-09CC-75B4-980F22DD9922}"/>
              </a:ext>
            </a:extLst>
          </p:cNvPr>
          <p:cNvGrpSpPr/>
          <p:nvPr/>
        </p:nvGrpSpPr>
        <p:grpSpPr>
          <a:xfrm>
            <a:off x="791789" y="2094763"/>
            <a:ext cx="10436782" cy="3488280"/>
            <a:chOff x="751643" y="1939587"/>
            <a:chExt cx="10436782" cy="3488280"/>
          </a:xfrm>
        </p:grpSpPr>
        <p:sp>
          <p:nvSpPr>
            <p:cNvPr id="3" name="원통형 2">
              <a:extLst>
                <a:ext uri="{FF2B5EF4-FFF2-40B4-BE49-F238E27FC236}">
                  <a16:creationId xmlns:a16="http://schemas.microsoft.com/office/drawing/2014/main" id="{2F46931D-D29C-8DC5-ED66-D767316DCB2E}"/>
                </a:ext>
              </a:extLst>
            </p:cNvPr>
            <p:cNvSpPr/>
            <p:nvPr/>
          </p:nvSpPr>
          <p:spPr>
            <a:xfrm>
              <a:off x="1003575" y="3877585"/>
              <a:ext cx="1342936" cy="1085711"/>
            </a:xfrm>
            <a:prstGeom prst="can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id (PK)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username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hashed_password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Is_guest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created_at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5" name="원통형 4">
              <a:extLst>
                <a:ext uri="{FF2B5EF4-FFF2-40B4-BE49-F238E27FC236}">
                  <a16:creationId xmlns:a16="http://schemas.microsoft.com/office/drawing/2014/main" id="{D4C1666E-48FA-F955-90FA-D8BABFBA71AE}"/>
                </a:ext>
              </a:extLst>
            </p:cNvPr>
            <p:cNvSpPr/>
            <p:nvPr/>
          </p:nvSpPr>
          <p:spPr>
            <a:xfrm>
              <a:off x="6709616" y="3871907"/>
              <a:ext cx="1847851" cy="1555960"/>
            </a:xfrm>
            <a:prstGeom prst="can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id (PK)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encoded_text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original_text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correct_meaning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difficulty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correct_count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total_attempts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6" name="원통형 5">
              <a:extLst>
                <a:ext uri="{FF2B5EF4-FFF2-40B4-BE49-F238E27FC236}">
                  <a16:creationId xmlns:a16="http://schemas.microsoft.com/office/drawing/2014/main" id="{9310171D-C661-3DE2-7D05-5ADAB01D2CB9}"/>
                </a:ext>
              </a:extLst>
            </p:cNvPr>
            <p:cNvSpPr/>
            <p:nvPr/>
          </p:nvSpPr>
          <p:spPr>
            <a:xfrm>
              <a:off x="3596106" y="3871907"/>
              <a:ext cx="1846800" cy="1085711"/>
            </a:xfrm>
            <a:prstGeom prst="can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id (PK)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user_id</a:t>
              </a:r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 (FK)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question_id</a:t>
              </a:r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 (FK)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user_answer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created_at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7" name="원통형 6">
              <a:extLst>
                <a:ext uri="{FF2B5EF4-FFF2-40B4-BE49-F238E27FC236}">
                  <a16:creationId xmlns:a16="http://schemas.microsoft.com/office/drawing/2014/main" id="{A0321FC3-038D-0909-83BA-C21E14156F6A}"/>
                </a:ext>
              </a:extLst>
            </p:cNvPr>
            <p:cNvSpPr/>
            <p:nvPr/>
          </p:nvSpPr>
          <p:spPr>
            <a:xfrm>
              <a:off x="9811211" y="3871907"/>
              <a:ext cx="1342936" cy="1335293"/>
            </a:xfrm>
            <a:prstGeom prst="can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id (PK)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question_id</a:t>
              </a:r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 (FK)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user_answer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similarity_score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is_correct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timestamp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1B4321-06D1-1352-4E0C-B52636D0281C}"/>
                </a:ext>
              </a:extLst>
            </p:cNvPr>
            <p:cNvSpPr txBox="1"/>
            <p:nvPr/>
          </p:nvSpPr>
          <p:spPr>
            <a:xfrm>
              <a:off x="751643" y="3871907"/>
              <a:ext cx="1846800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users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6772B66-5033-8B1F-7C3E-20FF50F90B1D}"/>
                </a:ext>
              </a:extLst>
            </p:cNvPr>
            <p:cNvSpPr txBox="1"/>
            <p:nvPr/>
          </p:nvSpPr>
          <p:spPr>
            <a:xfrm>
              <a:off x="6705404" y="3915932"/>
              <a:ext cx="1847851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questions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CC5A51A-08F1-FF51-4412-FB13C13544DF}"/>
                </a:ext>
              </a:extLst>
            </p:cNvPr>
            <p:cNvSpPr txBox="1"/>
            <p:nvPr/>
          </p:nvSpPr>
          <p:spPr>
            <a:xfrm>
              <a:off x="3603746" y="3876452"/>
              <a:ext cx="1847851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wrong_answer_notes</a:t>
              </a:r>
              <a:endParaRPr lang="en-US" altLang="ko-KR" sz="1200" dirty="0">
                <a:solidFill>
                  <a:schemeClr val="bg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8B52ABD-690C-C601-CCD7-6444D5AC51E3}"/>
                </a:ext>
              </a:extLst>
            </p:cNvPr>
            <p:cNvSpPr txBox="1"/>
            <p:nvPr/>
          </p:nvSpPr>
          <p:spPr>
            <a:xfrm>
              <a:off x="9844725" y="3905422"/>
              <a:ext cx="1343700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attempts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42EB11B-7B6A-588C-A9B8-7AF8FCD3FE17}"/>
                </a:ext>
              </a:extLst>
            </p:cNvPr>
            <p:cNvSpPr txBox="1"/>
            <p:nvPr/>
          </p:nvSpPr>
          <p:spPr>
            <a:xfrm>
              <a:off x="2754598" y="4192931"/>
              <a:ext cx="44034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has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9C6712-6558-AF5B-27DC-D3C22D99376B}"/>
                </a:ext>
              </a:extLst>
            </p:cNvPr>
            <p:cNvSpPr txBox="1"/>
            <p:nvPr/>
          </p:nvSpPr>
          <p:spPr>
            <a:xfrm>
              <a:off x="5572392" y="4168541"/>
              <a:ext cx="104720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referenced_by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1EF6C14-3F20-2A5A-4660-10D6ADF56CE2}"/>
                </a:ext>
              </a:extLst>
            </p:cNvPr>
            <p:cNvSpPr txBox="1"/>
            <p:nvPr/>
          </p:nvSpPr>
          <p:spPr>
            <a:xfrm>
              <a:off x="8829558" y="4159160"/>
              <a:ext cx="7053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has_logs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D878D573-676F-DF2C-62BC-69B38EA6815D}"/>
                </a:ext>
              </a:extLst>
            </p:cNvPr>
            <p:cNvCxnSpPr>
              <a:cxnSpLocks/>
            </p:cNvCxnSpPr>
            <p:nvPr/>
          </p:nvCxnSpPr>
          <p:spPr>
            <a:xfrm>
              <a:off x="8553255" y="4414763"/>
              <a:ext cx="1257956" cy="0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225CC4D4-D40A-8023-9901-73C200AC386C}"/>
                </a:ext>
              </a:extLst>
            </p:cNvPr>
            <p:cNvSpPr/>
            <p:nvPr/>
          </p:nvSpPr>
          <p:spPr>
            <a:xfrm>
              <a:off x="3398090" y="4357652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6A918D2-D7FC-0386-37B1-09AE01C907AB}"/>
                </a:ext>
              </a:extLst>
            </p:cNvPr>
            <p:cNvSpPr/>
            <p:nvPr/>
          </p:nvSpPr>
          <p:spPr>
            <a:xfrm>
              <a:off x="6511600" y="4353149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ACC4ACDB-755F-3E17-9B7C-0F06F039C052}"/>
                </a:ext>
              </a:extLst>
            </p:cNvPr>
            <p:cNvSpPr/>
            <p:nvPr/>
          </p:nvSpPr>
          <p:spPr>
            <a:xfrm>
              <a:off x="9619059" y="4360762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C490034B-71D6-5C19-CDC9-8919A42F5A9A}"/>
                </a:ext>
              </a:extLst>
            </p:cNvPr>
            <p:cNvCxnSpPr/>
            <p:nvPr/>
          </p:nvCxnSpPr>
          <p:spPr>
            <a:xfrm>
              <a:off x="2419350" y="4362634"/>
              <a:ext cx="0" cy="11561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4EA629D-E48B-4D33-E1CE-1C9739663C4E}"/>
                </a:ext>
              </a:extLst>
            </p:cNvPr>
            <p:cNvCxnSpPr/>
            <p:nvPr/>
          </p:nvCxnSpPr>
          <p:spPr>
            <a:xfrm>
              <a:off x="2460625" y="4362634"/>
              <a:ext cx="0" cy="11561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0A5E527-DE1A-8B76-435F-872E271E9C12}"/>
                </a:ext>
              </a:extLst>
            </p:cNvPr>
            <p:cNvCxnSpPr/>
            <p:nvPr/>
          </p:nvCxnSpPr>
          <p:spPr>
            <a:xfrm>
              <a:off x="5531117" y="4356110"/>
              <a:ext cx="0" cy="11561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FE50D81-CE7D-77D0-7DFC-B0763E6A62B7}"/>
                </a:ext>
              </a:extLst>
            </p:cNvPr>
            <p:cNvCxnSpPr/>
            <p:nvPr/>
          </p:nvCxnSpPr>
          <p:spPr>
            <a:xfrm>
              <a:off x="5572392" y="4356110"/>
              <a:ext cx="0" cy="11561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CAD2EF6-9094-2A2A-E627-58017BA9CEC2}"/>
                </a:ext>
              </a:extLst>
            </p:cNvPr>
            <p:cNvCxnSpPr/>
            <p:nvPr/>
          </p:nvCxnSpPr>
          <p:spPr>
            <a:xfrm>
              <a:off x="8632825" y="4360762"/>
              <a:ext cx="0" cy="11561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8C61BCD1-0ECF-BBC4-692D-546BC576F7C4}"/>
                </a:ext>
              </a:extLst>
            </p:cNvPr>
            <p:cNvCxnSpPr/>
            <p:nvPr/>
          </p:nvCxnSpPr>
          <p:spPr>
            <a:xfrm>
              <a:off x="8674100" y="4360762"/>
              <a:ext cx="0" cy="11561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1D496D29-8BE2-E9F9-EDAA-E44E1CB05BC4}"/>
                </a:ext>
              </a:extLst>
            </p:cNvPr>
            <p:cNvCxnSpPr>
              <a:stCxn id="83" idx="6"/>
            </p:cNvCxnSpPr>
            <p:nvPr/>
          </p:nvCxnSpPr>
          <p:spPr>
            <a:xfrm flipV="1">
              <a:off x="3506090" y="4353149"/>
              <a:ext cx="90016" cy="5850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C86FB09-889A-13E2-1599-E0E749723099}"/>
                </a:ext>
              </a:extLst>
            </p:cNvPr>
            <p:cNvCxnSpPr>
              <a:stCxn id="83" idx="6"/>
            </p:cNvCxnSpPr>
            <p:nvPr/>
          </p:nvCxnSpPr>
          <p:spPr>
            <a:xfrm>
              <a:off x="3506090" y="4411652"/>
              <a:ext cx="90016" cy="6472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8DEFC31-2B15-8764-7419-3EDB1786F334}"/>
                </a:ext>
              </a:extLst>
            </p:cNvPr>
            <p:cNvCxnSpPr/>
            <p:nvPr/>
          </p:nvCxnSpPr>
          <p:spPr>
            <a:xfrm flipV="1">
              <a:off x="6623220" y="4353149"/>
              <a:ext cx="90016" cy="5850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983D42C5-EDF1-9C1D-7767-C811B1A564E7}"/>
                </a:ext>
              </a:extLst>
            </p:cNvPr>
            <p:cNvCxnSpPr/>
            <p:nvPr/>
          </p:nvCxnSpPr>
          <p:spPr>
            <a:xfrm>
              <a:off x="6623220" y="4411652"/>
              <a:ext cx="90016" cy="6472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669AD458-D7F4-2AC7-4B86-BBE160A9664C}"/>
                </a:ext>
              </a:extLst>
            </p:cNvPr>
            <p:cNvCxnSpPr/>
            <p:nvPr/>
          </p:nvCxnSpPr>
          <p:spPr>
            <a:xfrm flipV="1">
              <a:off x="9722197" y="4353149"/>
              <a:ext cx="90016" cy="5850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A594ACBC-FEF2-BC13-A8AE-07E339F1C846}"/>
                </a:ext>
              </a:extLst>
            </p:cNvPr>
            <p:cNvCxnSpPr/>
            <p:nvPr/>
          </p:nvCxnSpPr>
          <p:spPr>
            <a:xfrm>
              <a:off x="9722197" y="4411652"/>
              <a:ext cx="90016" cy="64723"/>
            </a:xfrm>
            <a:prstGeom prst="line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원통형 46">
              <a:extLst>
                <a:ext uri="{FF2B5EF4-FFF2-40B4-BE49-F238E27FC236}">
                  <a16:creationId xmlns:a16="http://schemas.microsoft.com/office/drawing/2014/main" id="{79E9097E-0C24-728B-DED0-99868B77207D}"/>
                </a:ext>
              </a:extLst>
            </p:cNvPr>
            <p:cNvSpPr/>
            <p:nvPr/>
          </p:nvSpPr>
          <p:spPr>
            <a:xfrm>
              <a:off x="6034461" y="2174713"/>
              <a:ext cx="1342936" cy="1236159"/>
            </a:xfrm>
            <a:prstGeom prst="can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word (PK)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meaning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category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synonym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difficulty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example</a:t>
              </a:r>
              <a:endParaRPr lang="ko-KR" altLang="en-US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F992FD-FD88-E6A9-6795-7FAE5253B9FE}"/>
                </a:ext>
              </a:extLst>
            </p:cNvPr>
            <p:cNvSpPr txBox="1"/>
            <p:nvPr/>
          </p:nvSpPr>
          <p:spPr>
            <a:xfrm>
              <a:off x="5782529" y="2205114"/>
              <a:ext cx="1846800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words</a:t>
              </a:r>
            </a:p>
          </p:txBody>
        </p:sp>
        <p:sp>
          <p:nvSpPr>
            <p:cNvPr id="51" name="원통형 50">
              <a:extLst>
                <a:ext uri="{FF2B5EF4-FFF2-40B4-BE49-F238E27FC236}">
                  <a16:creationId xmlns:a16="http://schemas.microsoft.com/office/drawing/2014/main" id="{219067A1-0DA3-8125-7876-695B913E9CBA}"/>
                </a:ext>
              </a:extLst>
            </p:cNvPr>
            <p:cNvSpPr/>
            <p:nvPr/>
          </p:nvSpPr>
          <p:spPr>
            <a:xfrm>
              <a:off x="7827420" y="2166767"/>
              <a:ext cx="1342936" cy="1236159"/>
            </a:xfrm>
            <a:prstGeom prst="can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text (PK)</a:t>
              </a:r>
            </a:p>
            <a:p>
              <a:pPr algn="ctr"/>
              <a:r>
                <a:rPr lang="en-US" altLang="ko-KR" sz="1000" dirty="0" err="1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structure_type</a:t>
              </a:r>
              <a:endPara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endParaRP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source</a:t>
              </a:r>
            </a:p>
            <a:p>
              <a:pPr algn="ctr"/>
              <a:r>
                <a:rPr lang="en-US" altLang="ko-KR" sz="1000" dirty="0"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complexity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3E2FFD-EC02-E0E7-3A9C-27895EC8405D}"/>
                </a:ext>
              </a:extLst>
            </p:cNvPr>
            <p:cNvSpPr txBox="1"/>
            <p:nvPr/>
          </p:nvSpPr>
          <p:spPr>
            <a:xfrm>
              <a:off x="7575488" y="2191702"/>
              <a:ext cx="1846800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마루 부리 굵은" panose="020B0600000101010101" pitchFamily="50" charset="-127"/>
                  <a:ea typeface="마루 부리 굵은" panose="020B0600000101010101" pitchFamily="50" charset="-127"/>
                </a:rPr>
                <a:t>sentences</a:t>
              </a: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9F71BBF9-69F5-5AF1-EA32-8FC456B7C15A}"/>
                </a:ext>
              </a:extLst>
            </p:cNvPr>
            <p:cNvSpPr/>
            <p:nvPr/>
          </p:nvSpPr>
          <p:spPr>
            <a:xfrm>
              <a:off x="5809451" y="1939587"/>
              <a:ext cx="3639756" cy="1663505"/>
            </a:xfrm>
            <a:prstGeom prst="roundRect">
              <a:avLst/>
            </a:prstGeom>
            <a:no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0ABD9CD-BD5F-7CA1-C8CA-6547CE28EF78}"/>
              </a:ext>
            </a:extLst>
          </p:cNvPr>
          <p:cNvSpPr txBox="1"/>
          <p:nvPr/>
        </p:nvSpPr>
        <p:spPr>
          <a:xfrm>
            <a:off x="8193751" y="3735241"/>
            <a:ext cx="7993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generates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C6623FB-4DBA-2ABD-C47A-4831C4F932A1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6746075" y="3566048"/>
            <a:ext cx="619341" cy="471139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C119520-3C8B-50D3-1637-B59D68B0CD40}"/>
              </a:ext>
            </a:extLst>
          </p:cNvPr>
          <p:cNvCxnSpPr>
            <a:cxnSpLocks/>
            <a:stCxn id="51" idx="3"/>
          </p:cNvCxnSpPr>
          <p:nvPr/>
        </p:nvCxnSpPr>
        <p:spPr>
          <a:xfrm flipH="1">
            <a:off x="7987840" y="3558102"/>
            <a:ext cx="551194" cy="479085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F0EE7CB-C252-1CED-2FEA-6E327D52F617}"/>
              </a:ext>
            </a:extLst>
          </p:cNvPr>
          <p:cNvSpPr txBox="1"/>
          <p:nvPr/>
        </p:nvSpPr>
        <p:spPr>
          <a:xfrm>
            <a:off x="6315843" y="3729286"/>
            <a:ext cx="7993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generates</a:t>
            </a:r>
            <a:endParaRPr lang="ko-KR" altLang="en-US" sz="10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7A71588A-761E-3EB5-1905-7CD459317EBA}"/>
              </a:ext>
            </a:extLst>
          </p:cNvPr>
          <p:cNvSpPr/>
          <p:nvPr/>
        </p:nvSpPr>
        <p:spPr>
          <a:xfrm>
            <a:off x="8053465" y="3878832"/>
            <a:ext cx="108000" cy="10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233A6D1-7FB1-352F-2F7F-44DCF4C2F973}"/>
              </a:ext>
            </a:extLst>
          </p:cNvPr>
          <p:cNvSpPr/>
          <p:nvPr/>
        </p:nvSpPr>
        <p:spPr>
          <a:xfrm>
            <a:off x="7193105" y="3882020"/>
            <a:ext cx="108000" cy="10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1F548E0-9A28-36F4-F636-CF1287A39F73}"/>
              </a:ext>
            </a:extLst>
          </p:cNvPr>
          <p:cNvCxnSpPr>
            <a:stCxn id="76" idx="5"/>
          </p:cNvCxnSpPr>
          <p:nvPr/>
        </p:nvCxnSpPr>
        <p:spPr>
          <a:xfrm flipH="1">
            <a:off x="7284244" y="3974204"/>
            <a:ext cx="1045" cy="62983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460AE48-2B75-3CF2-A807-48A5A411650A}"/>
              </a:ext>
            </a:extLst>
          </p:cNvPr>
          <p:cNvCxnSpPr>
            <a:stCxn id="76" idx="5"/>
          </p:cNvCxnSpPr>
          <p:nvPr/>
        </p:nvCxnSpPr>
        <p:spPr>
          <a:xfrm>
            <a:off x="7285289" y="3974204"/>
            <a:ext cx="177005" cy="52879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B9FFAFC-A95D-2A6A-2445-B1F00ABC7946}"/>
              </a:ext>
            </a:extLst>
          </p:cNvPr>
          <p:cNvCxnSpPr>
            <a:stCxn id="74" idx="3"/>
          </p:cNvCxnSpPr>
          <p:nvPr/>
        </p:nvCxnSpPr>
        <p:spPr>
          <a:xfrm flipH="1">
            <a:off x="8053465" y="3971016"/>
            <a:ext cx="15816" cy="66171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AF030A9-2B02-8FA5-B326-C1AC5BAD6EDD}"/>
              </a:ext>
            </a:extLst>
          </p:cNvPr>
          <p:cNvCxnSpPr>
            <a:stCxn id="74" idx="3"/>
          </p:cNvCxnSpPr>
          <p:nvPr/>
        </p:nvCxnSpPr>
        <p:spPr>
          <a:xfrm flipH="1">
            <a:off x="7915275" y="3971016"/>
            <a:ext cx="154006" cy="56067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4D9E8B8-4EEC-EB57-DB86-8A145E7A71A9}"/>
              </a:ext>
            </a:extLst>
          </p:cNvPr>
          <p:cNvCxnSpPr/>
          <p:nvPr/>
        </p:nvCxnSpPr>
        <p:spPr>
          <a:xfrm flipH="1">
            <a:off x="6819900" y="3612356"/>
            <a:ext cx="52388" cy="66675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F9E56BC-34DB-DE34-B754-6CCB185A88F7}"/>
              </a:ext>
            </a:extLst>
          </p:cNvPr>
          <p:cNvCxnSpPr/>
          <p:nvPr/>
        </p:nvCxnSpPr>
        <p:spPr>
          <a:xfrm flipH="1">
            <a:off x="6842145" y="3628820"/>
            <a:ext cx="52388" cy="66675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88BA2CB-0C00-16E2-4A2E-3EE997222704}"/>
              </a:ext>
            </a:extLst>
          </p:cNvPr>
          <p:cNvCxnSpPr/>
          <p:nvPr/>
        </p:nvCxnSpPr>
        <p:spPr>
          <a:xfrm>
            <a:off x="8431345" y="3594403"/>
            <a:ext cx="54769" cy="66675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17AC6EF-5E58-8887-F048-80F95D7ED524}"/>
              </a:ext>
            </a:extLst>
          </p:cNvPr>
          <p:cNvCxnSpPr/>
          <p:nvPr/>
        </p:nvCxnSpPr>
        <p:spPr>
          <a:xfrm>
            <a:off x="8409383" y="3611280"/>
            <a:ext cx="54769" cy="66675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278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F07B1-5BF4-8AF8-FAC2-DCB8C7E1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BB1E47-FAD1-A66F-2240-7F14C50B4DEC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8CE46695-AFF1-7ACB-E82F-FA9CE9DCB7E6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F83810-F511-F08F-AA16-27E7C6CF8D3F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7C29B-325C-ADDD-F748-761C6A872699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알고리즘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로직 상세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문제 생성 로직</a:t>
            </a:r>
            <a:endParaRPr lang="en-US" altLang="ko-KR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05F70-BACC-A7F9-DB87-12472363A422}"/>
              </a:ext>
            </a:extLst>
          </p:cNvPr>
          <p:cNvSpPr txBox="1"/>
          <p:nvPr/>
        </p:nvSpPr>
        <p:spPr>
          <a:xfrm>
            <a:off x="5172439" y="1863723"/>
            <a:ext cx="6057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Input: 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vocabulary_dataset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structure_dataset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integer N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재료 선정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주어진 두 데이터셋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임의로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List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 가정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에서 무작위로 추출한 단어와 문장을 제공</a:t>
            </a:r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프롬프트 구성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LLM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에 전달할 프롬프트를 구성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이때 지시사항과 재료를 전달하여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In-Context, Few Shot Learning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하도록 함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생성 및 파싱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받아온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Response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를 </a:t>
            </a:r>
            <a:r>
              <a:rPr lang="ko-KR" altLang="en-US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파싱해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JSON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구조로 형성</a:t>
            </a:r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결과 저장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(Mapping) : </a:t>
            </a:r>
            <a:r>
              <a:rPr lang="ko-KR" altLang="en-US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파싱한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데이터를 기반으로 문제를 구축</a:t>
            </a:r>
            <a:endParaRPr lang="en-US" altLang="ko-KR" sz="1600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Output: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8BDCF7-F04A-6023-60F0-73EF24F7A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1863723"/>
            <a:ext cx="3495909" cy="43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26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6F330-1AE2-FCD9-B0D0-CA063B2D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595F087-4F8E-3815-3792-F0C08B6B29A4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E2B9C28F-2D53-67A4-44A8-4FA70E53A4C1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B8DABF-E536-D35D-2D34-6448C405C274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A1A22-AC78-931B-3A69-7FF2E704894D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알고리즘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로직 상세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정답 검증 로직</a:t>
            </a:r>
            <a:endParaRPr lang="en-US" altLang="ko-KR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DDE13-E5AB-7078-5442-63EFFE6CE166}"/>
              </a:ext>
            </a:extLst>
          </p:cNvPr>
          <p:cNvSpPr txBox="1"/>
          <p:nvPr/>
        </p:nvSpPr>
        <p:spPr>
          <a:xfrm>
            <a:off x="5172439" y="1863723"/>
            <a:ext cx="605753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Input: 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user_input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 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question_id</a:t>
            </a:r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정답 데이터 조회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저장된 문제의 데이터셋에서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id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 조회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원래 목표하는 의도를 가져옴</a:t>
            </a:r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전처리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공백 제거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비속어 필터링 등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프롬프트 구성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LLM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에 전달할 프롬프트를 구성하고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이때 정답 의도를 제공하여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In-Context, Few-Shot Learning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하도록 함</a:t>
            </a:r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AI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판정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프롬프트와 </a:t>
            </a:r>
            <a:r>
              <a:rPr lang="ko-KR" altLang="en-US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하이퍼파라미터를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전달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(Temperature= 0.0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으로 설정해 답변이 과하게 창의적으로 설정될 가능성을 차단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결과 파싱 및 변환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 AI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답변을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JSON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으로 파싱</a:t>
            </a:r>
            <a:endParaRPr lang="en-US" altLang="ko-KR" sz="1600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solidFill>
                <a:schemeClr val="tx2">
                  <a:lumMod val="75000"/>
                  <a:lumOff val="25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Output: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JSON Result (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is_correct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score, feedback)</a:t>
            </a:r>
          </a:p>
        </p:txBody>
      </p:sp>
      <p:pic>
        <p:nvPicPr>
          <p:cNvPr id="2" name="그림 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11E8D-666D-5A8C-95D0-234E320AA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1863723"/>
            <a:ext cx="3495909" cy="43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37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FB5BA-A44F-6AD1-002E-148A6D08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CC6C82-70AE-E571-D9B2-C2BCEDE91EC1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730A71BA-BDED-7079-2358-2D66E42B7E66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40C3D5-5A37-EB37-4FB6-6628C2A3F381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546206-2F06-FA90-E41A-8B15D3E96D53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 정의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 머신</a:t>
            </a:r>
            <a:endParaRPr lang="en-US" altLang="ko-KR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36863CF-01F6-03EB-D580-911E07516B27}"/>
              </a:ext>
            </a:extLst>
          </p:cNvPr>
          <p:cNvSpPr/>
          <p:nvPr/>
        </p:nvSpPr>
        <p:spPr>
          <a:xfrm>
            <a:off x="3468283" y="2431990"/>
            <a:ext cx="1511144" cy="43230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main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9F06E2-84E9-1AF9-E27C-43C38AA158DB}"/>
              </a:ext>
            </a:extLst>
          </p:cNvPr>
          <p:cNvSpPr/>
          <p:nvPr/>
        </p:nvSpPr>
        <p:spPr>
          <a:xfrm>
            <a:off x="5114180" y="3000759"/>
            <a:ext cx="3684655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난이도 선택 화면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.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45609F-2C72-0BF7-F5C8-5620984BC6D7}"/>
              </a:ext>
            </a:extLst>
          </p:cNvPr>
          <p:cNvSpPr/>
          <p:nvPr/>
        </p:nvSpPr>
        <p:spPr>
          <a:xfrm>
            <a:off x="5114180" y="3569525"/>
            <a:ext cx="3684655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게임 진행 중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. </a:t>
            </a: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문제 풀이 및 피드백 표시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.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903479C-32D2-EB44-58E1-925A30B38B68}"/>
              </a:ext>
            </a:extLst>
          </p:cNvPr>
          <p:cNvSpPr/>
          <p:nvPr/>
        </p:nvSpPr>
        <p:spPr>
          <a:xfrm>
            <a:off x="3460345" y="3000758"/>
            <a:ext cx="151114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difficulty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07CDC9-13F0-6428-8EE0-2A832D4A08EF}"/>
              </a:ext>
            </a:extLst>
          </p:cNvPr>
          <p:cNvSpPr/>
          <p:nvPr/>
        </p:nvSpPr>
        <p:spPr>
          <a:xfrm>
            <a:off x="3460345" y="3570321"/>
            <a:ext cx="151114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playing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6362E1-7A2D-DE95-736F-E4FE1B5B91BC}"/>
              </a:ext>
            </a:extLst>
          </p:cNvPr>
          <p:cNvSpPr/>
          <p:nvPr/>
        </p:nvSpPr>
        <p:spPr>
          <a:xfrm>
            <a:off x="3460345" y="1863221"/>
            <a:ext cx="1511144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 err="1">
                <a:latin typeface="마루 부리 굵은"/>
                <a:ea typeface="마루 부리 굵은"/>
              </a:rPr>
              <a:t>상태명</a:t>
            </a:r>
            <a:endParaRPr lang="ko-KR" altLang="en-US" sz="1600" b="1" dirty="0">
              <a:latin typeface="마루 부리 굵은"/>
              <a:ea typeface="마루 부리 굵은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024E4A1-2E29-56EF-EA20-4BDBBE1B51A6}"/>
              </a:ext>
            </a:extLst>
          </p:cNvPr>
          <p:cNvSpPr/>
          <p:nvPr/>
        </p:nvSpPr>
        <p:spPr>
          <a:xfrm>
            <a:off x="5114180" y="1863221"/>
            <a:ext cx="3691247" cy="432303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 dirty="0">
                <a:latin typeface="마루 부리 굵은"/>
                <a:ea typeface="마루 부리 굵은"/>
              </a:rPr>
              <a:t>설명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49A82E2-9B1A-F1D1-C153-A11F4A552544}"/>
              </a:ext>
            </a:extLst>
          </p:cNvPr>
          <p:cNvSpPr/>
          <p:nvPr/>
        </p:nvSpPr>
        <p:spPr>
          <a:xfrm>
            <a:off x="5114181" y="2431989"/>
            <a:ext cx="3691247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초기 화면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. </a:t>
            </a: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게임 모드 선택 및 메뉴 접근 가능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CD671D1-6F78-9E4F-4318-F76FC2F26C80}"/>
              </a:ext>
            </a:extLst>
          </p:cNvPr>
          <p:cNvSpPr/>
          <p:nvPr/>
        </p:nvSpPr>
        <p:spPr>
          <a:xfrm>
            <a:off x="5122118" y="4135001"/>
            <a:ext cx="3684655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게임 종료 후 결과 화면</a:t>
            </a:r>
            <a:r>
              <a:rPr lang="en-US" altLang="ko-KR" sz="1300" b="1" dirty="0">
                <a:solidFill>
                  <a:schemeClr val="tx1"/>
                </a:solidFill>
                <a:latin typeface="마루 부리 굵은"/>
                <a:ea typeface="마루 부리 굵은"/>
              </a:rPr>
              <a:t>.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557CC8E-DC9E-D1AB-93E8-00938B0A3FA3}"/>
              </a:ext>
            </a:extLst>
          </p:cNvPr>
          <p:cNvSpPr/>
          <p:nvPr/>
        </p:nvSpPr>
        <p:spPr>
          <a:xfrm>
            <a:off x="5122118" y="4703767"/>
            <a:ext cx="3684655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오답 노트 확인 화면</a:t>
            </a:r>
            <a:r>
              <a:rPr lang="en-US" altLang="ko-KR" sz="1300" dirty="0">
                <a:solidFill>
                  <a:schemeClr val="tx1"/>
                </a:solidFill>
                <a:latin typeface="마루 부리 굵은"/>
                <a:ea typeface="마루 부리 굵은"/>
              </a:rPr>
              <a:t>.</a:t>
            </a:r>
            <a:endParaRPr lang="ko-KR" altLang="en-US" sz="1300" b="1" dirty="0">
              <a:solidFill>
                <a:schemeClr val="tx1"/>
              </a:solidFill>
              <a:latin typeface="마루 부리 굵은"/>
              <a:ea typeface="마루 부리 굵은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A4A7E5F-772B-9EAD-3ECD-28CEB81CBAC0}"/>
              </a:ext>
            </a:extLst>
          </p:cNvPr>
          <p:cNvSpPr/>
          <p:nvPr/>
        </p:nvSpPr>
        <p:spPr>
          <a:xfrm>
            <a:off x="3468283" y="4135000"/>
            <a:ext cx="151114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result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577F940-F428-8C80-E2CC-8DB32C7A393C}"/>
              </a:ext>
            </a:extLst>
          </p:cNvPr>
          <p:cNvSpPr/>
          <p:nvPr/>
        </p:nvSpPr>
        <p:spPr>
          <a:xfrm>
            <a:off x="3468283" y="4704563"/>
            <a:ext cx="1511144" cy="432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/>
                <a:ea typeface="마루 부리 굵은"/>
              </a:rPr>
              <a:t>notes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/>
              <a:ea typeface="마루 부리 굵은"/>
            </a:endParaRPr>
          </a:p>
        </p:txBody>
      </p:sp>
    </p:spTree>
    <p:extLst>
      <p:ext uri="{BB962C8B-B14F-4D97-AF65-F5344CB8AC3E}">
        <p14:creationId xmlns:p14="http://schemas.microsoft.com/office/powerpoint/2010/main" val="1497679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28303-F835-EDFF-582E-85E543D7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1A5D0CA-3F48-28F2-338B-BB18B24ECE7E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6507A2C-F7FE-DA98-B626-7E1DC662040E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4FBC5-5209-EF43-50CF-76B6048C468E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72A40B-7264-A3A4-5E9C-643EA1A26788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 정의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 전이 조건 및 규칙</a:t>
            </a:r>
            <a:endParaRPr lang="en-US" altLang="ko-KR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AE75B-E359-90E6-99FE-0CF31FC4D635}"/>
              </a:ext>
            </a:extLst>
          </p:cNvPr>
          <p:cNvSpPr txBox="1"/>
          <p:nvPr/>
        </p:nvSpPr>
        <p:spPr>
          <a:xfrm>
            <a:off x="1314061" y="1863221"/>
            <a:ext cx="95638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Game Start (main -&gt; difficulty -&gt; playing):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사용자가 모드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(Daily/Challenge)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를 선택하면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difficulty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상태로 진입합니다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난이도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(1~3)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를 선택하면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playing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상태로 진입하며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이때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results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배열과 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maxStreak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가 초기화됩니다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Game Over (playing -&gt; result):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Daily Mode: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총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10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라운드가 종료되면 즉시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result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상태로 전이합니다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Challenge Mode: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 생명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(lives)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0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이 되면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초 딜레이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(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애니메이션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후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result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상태로 전이합니다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Reset (result -&gt; main):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사용자가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"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홈으로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"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버튼을 누르면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main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상태로 돌아가며 모든 게임 진행 데이터가 초기화됩니다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8303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7A793-2EBA-9AA3-7D98-60BF083C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24F9FD-3CA2-0C76-7498-8F2E5AA72391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D4C58038-CB5D-D1A1-F98B-2C18C607F097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B0C85F-204A-A619-33CE-276118703928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CB4E6-08DC-5D0E-AA3E-31DBA07840A0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 및 설정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서비스 포트 및 연결 정보</a:t>
            </a:r>
            <a:endParaRPr lang="en-US" altLang="ko-KR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2ADE4FF-25CE-1637-510D-F70253584B63}"/>
              </a:ext>
            </a:extLst>
          </p:cNvPr>
          <p:cNvSpPr/>
          <p:nvPr/>
        </p:nvSpPr>
        <p:spPr>
          <a:xfrm>
            <a:off x="1556899" y="1862005"/>
            <a:ext cx="103945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서비스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6FF9EC5-EAD2-B1DC-C6BA-608FFDDACB3B}"/>
              </a:ext>
            </a:extLst>
          </p:cNvPr>
          <p:cNvSpPr/>
          <p:nvPr/>
        </p:nvSpPr>
        <p:spPr>
          <a:xfrm>
            <a:off x="7717164" y="1862003"/>
            <a:ext cx="2983991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용도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23479B-0C8D-C2E4-E1E8-A3D21631E971}"/>
              </a:ext>
            </a:extLst>
          </p:cNvPr>
          <p:cNvSpPr/>
          <p:nvPr/>
        </p:nvSpPr>
        <p:spPr>
          <a:xfrm>
            <a:off x="2731104" y="1862003"/>
            <a:ext cx="1710268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내부 포트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1E18F96-4C5F-5413-65BE-ED5B74826BB8}"/>
              </a:ext>
            </a:extLst>
          </p:cNvPr>
          <p:cNvSpPr/>
          <p:nvPr/>
        </p:nvSpPr>
        <p:spPr>
          <a:xfrm>
            <a:off x="1556899" y="2405259"/>
            <a:ext cx="1039450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Nginx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85F3E8-873E-3F3A-4446-EE78C1B1D6D0}"/>
              </a:ext>
            </a:extLst>
          </p:cNvPr>
          <p:cNvSpPr/>
          <p:nvPr/>
        </p:nvSpPr>
        <p:spPr>
          <a:xfrm>
            <a:off x="2731103" y="2405258"/>
            <a:ext cx="171026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3C5EDD0-F782-F7D0-6F95-6377DF4F7377}"/>
              </a:ext>
            </a:extLst>
          </p:cNvPr>
          <p:cNvSpPr/>
          <p:nvPr/>
        </p:nvSpPr>
        <p:spPr>
          <a:xfrm>
            <a:off x="2731103" y="2974026"/>
            <a:ext cx="171026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8000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F1DC365-9BF8-2311-65C8-33A09363CA92}"/>
              </a:ext>
            </a:extLst>
          </p:cNvPr>
          <p:cNvSpPr/>
          <p:nvPr/>
        </p:nvSpPr>
        <p:spPr>
          <a:xfrm>
            <a:off x="2731103" y="3542792"/>
            <a:ext cx="1710268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3306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22125D7-6B34-F0B0-FA28-6A36B781316A}"/>
              </a:ext>
            </a:extLst>
          </p:cNvPr>
          <p:cNvSpPr/>
          <p:nvPr/>
        </p:nvSpPr>
        <p:spPr>
          <a:xfrm>
            <a:off x="7717162" y="2405257"/>
            <a:ext cx="2983991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웹 브라우저 접속용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7D718D8-3238-1B81-BA0A-A533BFE09445}"/>
              </a:ext>
            </a:extLst>
          </p:cNvPr>
          <p:cNvSpPr/>
          <p:nvPr/>
        </p:nvSpPr>
        <p:spPr>
          <a:xfrm>
            <a:off x="7717162" y="2974025"/>
            <a:ext cx="2983991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API, ai </a:t>
            </a:r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로직 처리</a:t>
            </a:r>
            <a:endParaRPr lang="en-US" altLang="ko-KR" sz="13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B2ADB35-2947-68C8-FE4C-DC44176A208D}"/>
              </a:ext>
            </a:extLst>
          </p:cNvPr>
          <p:cNvSpPr/>
          <p:nvPr/>
        </p:nvSpPr>
        <p:spPr>
          <a:xfrm>
            <a:off x="7717162" y="3542791"/>
            <a:ext cx="2983991" cy="43230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UI</a:t>
            </a:r>
            <a:r>
              <a:rPr lang="ko-KR" altLang="en-US" sz="1300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제공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9C464C0-2328-4F19-4F29-0930CAB8DE9B}"/>
              </a:ext>
            </a:extLst>
          </p:cNvPr>
          <p:cNvSpPr/>
          <p:nvPr/>
        </p:nvSpPr>
        <p:spPr>
          <a:xfrm>
            <a:off x="1556899" y="3539555"/>
            <a:ext cx="1039450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447374-3F1A-022A-29CD-4E9D775E023D}"/>
              </a:ext>
            </a:extLst>
          </p:cNvPr>
          <p:cNvSpPr/>
          <p:nvPr/>
        </p:nvSpPr>
        <p:spPr>
          <a:xfrm>
            <a:off x="1556898" y="2969171"/>
            <a:ext cx="1039450" cy="4323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987BDC4-ACCB-BBD7-AA8A-DE5965ADF5AF}"/>
              </a:ext>
            </a:extLst>
          </p:cNvPr>
          <p:cNvSpPr/>
          <p:nvPr/>
        </p:nvSpPr>
        <p:spPr>
          <a:xfrm>
            <a:off x="4579153" y="1862003"/>
            <a:ext cx="1812317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외부 포트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860B8C0-2425-E7B6-8616-0D1DD4BCA315}"/>
              </a:ext>
            </a:extLst>
          </p:cNvPr>
          <p:cNvSpPr/>
          <p:nvPr/>
        </p:nvSpPr>
        <p:spPr>
          <a:xfrm>
            <a:off x="4579151" y="2405258"/>
            <a:ext cx="181231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65039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20AFD03-79D2-B7C5-13A6-AC44D8CC1B82}"/>
              </a:ext>
            </a:extLst>
          </p:cNvPr>
          <p:cNvSpPr/>
          <p:nvPr/>
        </p:nvSpPr>
        <p:spPr>
          <a:xfrm>
            <a:off x="4579151" y="2974026"/>
            <a:ext cx="181231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 (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내부 통신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1E20D59-53B7-815B-B94B-798025AE1957}"/>
              </a:ext>
            </a:extLst>
          </p:cNvPr>
          <p:cNvSpPr/>
          <p:nvPr/>
        </p:nvSpPr>
        <p:spPr>
          <a:xfrm>
            <a:off x="4579151" y="3542792"/>
            <a:ext cx="1812317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- (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내부 통신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)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9CB2851-F0CD-C01A-F43B-B0C7C95DA72A}"/>
              </a:ext>
            </a:extLst>
          </p:cNvPr>
          <p:cNvSpPr/>
          <p:nvPr/>
        </p:nvSpPr>
        <p:spPr>
          <a:xfrm>
            <a:off x="6529249" y="1862003"/>
            <a:ext cx="1050136" cy="4323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프로토콜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731469-81F9-FFBA-790C-652CDBC832CE}"/>
              </a:ext>
            </a:extLst>
          </p:cNvPr>
          <p:cNvSpPr/>
          <p:nvPr/>
        </p:nvSpPr>
        <p:spPr>
          <a:xfrm>
            <a:off x="6529247" y="2405258"/>
            <a:ext cx="1050136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HTTP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64603AB-39B6-11FB-18A3-A454954C7EA5}"/>
              </a:ext>
            </a:extLst>
          </p:cNvPr>
          <p:cNvSpPr/>
          <p:nvPr/>
        </p:nvSpPr>
        <p:spPr>
          <a:xfrm>
            <a:off x="6529247" y="2974026"/>
            <a:ext cx="1050136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HTTP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CA4C7D2-0357-A13A-913B-BAC5841EFE9C}"/>
              </a:ext>
            </a:extLst>
          </p:cNvPr>
          <p:cNvSpPr/>
          <p:nvPr/>
        </p:nvSpPr>
        <p:spPr>
          <a:xfrm>
            <a:off x="6529247" y="3542792"/>
            <a:ext cx="1050136" cy="4323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HTTP</a:t>
            </a:r>
            <a:endParaRPr lang="ko-KR" altLang="en-US" sz="1300" b="1" dirty="0">
              <a:solidFill>
                <a:schemeClr val="accent4">
                  <a:lumMod val="5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A39EE1-F438-E75D-8A04-FFBE4F70D444}"/>
              </a:ext>
            </a:extLst>
          </p:cNvPr>
          <p:cNvSpPr txBox="1"/>
          <p:nvPr/>
        </p:nvSpPr>
        <p:spPr>
          <a:xfrm>
            <a:off x="1556899" y="4246587"/>
            <a:ext cx="91442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연결 문자열 </a:t>
            </a:r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: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Backend -&gt; DB:</a:t>
            </a:r>
          </a:p>
          <a:p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mysql+pymysql://dbid253:dbpass253@host.docker.internal:3306/db25339 (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는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docker service name)</a:t>
            </a:r>
          </a:p>
          <a:p>
            <a:endParaRPr lang="en-US" altLang="ko-KR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Frontend -&gt; Backend:</a:t>
            </a:r>
          </a:p>
          <a:p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Nginx Reverse Proxy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설정을 통해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/</a:t>
            </a:r>
            <a:r>
              <a:rPr lang="en-US" altLang="ko-KR" sz="16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api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요청을 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http://backend:8000</a:t>
            </a:r>
            <a:r>
              <a:rPr lang="ko-KR" altLang="en-US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으로 전달</a:t>
            </a:r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0094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8AC76-23C1-64EF-29AF-6536E9ED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F80B095-B2E6-C24B-41B8-E3A4191FAABF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D8238543-C2F0-D2DC-7107-DE80FBAD4C18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826A9-FDE1-71E1-0825-001F816129CE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B36650-A50C-DFBD-7216-C347F60A879C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 및 설정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 구현</a:t>
            </a:r>
            <a:endParaRPr lang="en-US" altLang="ko-KR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97082-318A-5C6C-4A6C-C178CBAA57BF}"/>
              </a:ext>
            </a:extLst>
          </p:cNvPr>
          <p:cNvSpPr txBox="1"/>
          <p:nvPr/>
        </p:nvSpPr>
        <p:spPr>
          <a:xfrm>
            <a:off x="2501303" y="1860549"/>
            <a:ext cx="71893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Password Hashing:</a:t>
            </a:r>
          </a:p>
          <a:p>
            <a:r>
              <a:rPr lang="en-US" altLang="ko-KR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Pbkdf2(sha256) 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사용하여 </a:t>
            </a:r>
            <a:r>
              <a:rPr lang="en-US" altLang="ko-KR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pw</a:t>
            </a:r>
            <a:r>
              <a:rPr lang="ko-KR" altLang="en-US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평문이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아닌 </a:t>
            </a:r>
            <a:r>
              <a:rPr lang="ko-KR" altLang="en-US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해시값을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en-US" altLang="ko-KR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db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에 저장 </a:t>
            </a:r>
            <a:endParaRPr lang="en-US" altLang="ko-KR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ko-KR" altLang="en-US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JWT:</a:t>
            </a:r>
          </a:p>
          <a:p>
            <a:r>
              <a:rPr lang="en-US" altLang="ko-KR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Sha-256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을 이용한 </a:t>
            </a:r>
            <a:r>
              <a:rPr lang="en-US" altLang="ko-KR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Hmac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을 사용하여 </a:t>
            </a:r>
            <a:r>
              <a:rPr lang="en-US" altLang="ko-KR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json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토큰 인증</a:t>
            </a:r>
            <a:endParaRPr lang="en-US" altLang="ko-KR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CORS:</a:t>
            </a:r>
          </a:p>
          <a:p>
            <a:r>
              <a:rPr lang="en-US" altLang="ko-KR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CORS </a:t>
            </a:r>
            <a:r>
              <a:rPr lang="ko-KR" altLang="en-US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사용하여 허가된 서버에서 온 응답만 처리</a:t>
            </a:r>
            <a:endParaRPr lang="en-US" altLang="ko-KR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7805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A31FA-EDE1-65DE-603B-528CF504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B432857-9160-2E97-8F67-F1F73C7CFAB0}"/>
              </a:ext>
            </a:extLst>
          </p:cNvPr>
          <p:cNvSpPr/>
          <p:nvPr/>
        </p:nvSpPr>
        <p:spPr>
          <a:xfrm>
            <a:off x="380035" y="308175"/>
            <a:ext cx="11431929" cy="62450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5F0DDF5B-F158-0E1B-6620-D6652CC8134E}"/>
              </a:ext>
            </a:extLst>
          </p:cNvPr>
          <p:cNvSpPr/>
          <p:nvPr/>
        </p:nvSpPr>
        <p:spPr>
          <a:xfrm rot="10800000">
            <a:off x="4729704" y="0"/>
            <a:ext cx="2732590" cy="648182"/>
          </a:xfrm>
          <a:prstGeom prst="round2Same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6B6CF-9503-F601-EC97-292A1EF6F00A}"/>
              </a:ext>
            </a:extLst>
          </p:cNvPr>
          <p:cNvSpPr txBox="1"/>
          <p:nvPr/>
        </p:nvSpPr>
        <p:spPr>
          <a:xfrm>
            <a:off x="4845366" y="304800"/>
            <a:ext cx="250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LLD(Low-Level Design)</a:t>
            </a:r>
            <a:endParaRPr lang="ko-KR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C99A4-C5C7-125D-E94E-80D87D7F05F6}"/>
              </a:ext>
            </a:extLst>
          </p:cNvPr>
          <p:cNvSpPr txBox="1"/>
          <p:nvPr/>
        </p:nvSpPr>
        <p:spPr>
          <a:xfrm>
            <a:off x="3887929" y="925829"/>
            <a:ext cx="4416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보안 및 설정</a:t>
            </a:r>
            <a:endParaRPr lang="en-US" altLang="ko-KR" sz="32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Logging Policy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6E5343-A4D5-6127-5115-A5EF51928E77}"/>
              </a:ext>
            </a:extLst>
          </p:cNvPr>
          <p:cNvSpPr/>
          <p:nvPr/>
        </p:nvSpPr>
        <p:spPr>
          <a:xfrm>
            <a:off x="2209800" y="1867344"/>
            <a:ext cx="3690785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3B8311F-FFD5-E801-9FA5-D4A8E39BE77E}"/>
              </a:ext>
            </a:extLst>
          </p:cNvPr>
          <p:cNvSpPr>
            <a:spLocks/>
          </p:cNvSpPr>
          <p:nvPr/>
        </p:nvSpPr>
        <p:spPr>
          <a:xfrm>
            <a:off x="6291417" y="1867344"/>
            <a:ext cx="3607523" cy="3136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9FCF43-E8DC-4126-5D49-52892DF2711C}"/>
              </a:ext>
            </a:extLst>
          </p:cNvPr>
          <p:cNvSpPr txBox="1"/>
          <p:nvPr/>
        </p:nvSpPr>
        <p:spPr>
          <a:xfrm>
            <a:off x="6761678" y="2064192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Application Log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BE186-55D2-E464-38C4-BCE565503235}"/>
              </a:ext>
            </a:extLst>
          </p:cNvPr>
          <p:cNvSpPr txBox="1"/>
          <p:nvPr/>
        </p:nvSpPr>
        <p:spPr>
          <a:xfrm>
            <a:off x="2721692" y="2064192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Access Log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DEDEFC6-129A-6267-2935-D1C30FBC577D}"/>
              </a:ext>
            </a:extLst>
          </p:cNvPr>
          <p:cNvSpPr/>
          <p:nvPr/>
        </p:nvSpPr>
        <p:spPr>
          <a:xfrm>
            <a:off x="2463289" y="2538039"/>
            <a:ext cx="3183806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A14D40-5560-D844-E262-F8CDA6C1390A}"/>
              </a:ext>
            </a:extLst>
          </p:cNvPr>
          <p:cNvSpPr txBox="1"/>
          <p:nvPr/>
        </p:nvSpPr>
        <p:spPr>
          <a:xfrm>
            <a:off x="2867414" y="2693567"/>
            <a:ext cx="23755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API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요청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응답 시간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상태 코드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클라이언트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IP (Nginx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레벨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FB598C-36E1-7C04-4E3B-852632CC89C2}"/>
              </a:ext>
            </a:extLst>
          </p:cNvPr>
          <p:cNvSpPr/>
          <p:nvPr/>
        </p:nvSpPr>
        <p:spPr>
          <a:xfrm>
            <a:off x="6503275" y="2538039"/>
            <a:ext cx="3183806" cy="22693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ED2A20-4298-4455-4609-FDCF77AD4F09}"/>
              </a:ext>
            </a:extLst>
          </p:cNvPr>
          <p:cNvSpPr txBox="1"/>
          <p:nvPr/>
        </p:nvSpPr>
        <p:spPr>
          <a:xfrm>
            <a:off x="6907400" y="2693567"/>
            <a:ext cx="237555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INFO: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주요 사용자 액션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게임 시작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,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랭킹 등록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WARNING: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AI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서비스 지연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ERROR: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500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에러 발생 시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Stack Trace, DB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마루 부리 굵은" panose="020B0600000101010101" pitchFamily="50" charset="-127"/>
                <a:ea typeface="마루 부리 굵은" panose="020B0600000101010101" pitchFamily="50" charset="-127"/>
                <a:cs typeface="+mn-cs"/>
              </a:rPr>
              <a:t>연결 실패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마루 부리 굵은" panose="020B0600000101010101" pitchFamily="50" charset="-127"/>
              <a:ea typeface="마루 부리 굵은" panose="020B0600000101010101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1C92BD-3196-D20C-FC25-4959AFD2C8D7}"/>
              </a:ext>
            </a:extLst>
          </p:cNvPr>
          <p:cNvSpPr/>
          <p:nvPr/>
        </p:nvSpPr>
        <p:spPr>
          <a:xfrm>
            <a:off x="5897270" y="3333750"/>
            <a:ext cx="395285" cy="1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785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1FE15-17E2-3537-4B7B-443840C9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E9AC08B-C402-8919-FB89-41DB0E416889}"/>
              </a:ext>
            </a:extLst>
          </p:cNvPr>
          <p:cNvSpPr/>
          <p:nvPr/>
        </p:nvSpPr>
        <p:spPr>
          <a:xfrm>
            <a:off x="380035" y="308176"/>
            <a:ext cx="11431929" cy="619679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1C15A-1FC7-0C3C-B9F3-FBEF6D3947ED}"/>
              </a:ext>
            </a:extLst>
          </p:cNvPr>
          <p:cNvSpPr txBox="1"/>
          <p:nvPr/>
        </p:nvSpPr>
        <p:spPr>
          <a:xfrm>
            <a:off x="3221354" y="3013501"/>
            <a:ext cx="5749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감사합니다</a:t>
            </a:r>
            <a:r>
              <a:rPr lang="en-US" altLang="ko-KR" sz="4800" b="1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  <a:endParaRPr lang="ko-KR" altLang="en-US" sz="4800" b="1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345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2114</Words>
  <Application>Microsoft Office PowerPoint</Application>
  <PresentationFormat>와이드스크린</PresentationFormat>
  <Paragraphs>567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Arial</vt:lpstr>
      <vt:lpstr>마루 부리 굵은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준표 홍</dc:creator>
  <cp:lastModifiedBy>user</cp:lastModifiedBy>
  <cp:revision>273</cp:revision>
  <dcterms:created xsi:type="dcterms:W3CDTF">2025-11-25T05:33:24Z</dcterms:created>
  <dcterms:modified xsi:type="dcterms:W3CDTF">2025-12-03T23:31:49Z</dcterms:modified>
  <cp:version/>
</cp:coreProperties>
</file>